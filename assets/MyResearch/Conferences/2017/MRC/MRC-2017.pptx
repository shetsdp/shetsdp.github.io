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media/image24.jpg" ContentType="image/png"/>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 id="2147483660" r:id="rId2"/>
  </p:sldMasterIdLst>
  <p:notesMasterIdLst>
    <p:notesMasterId r:id="rId69"/>
  </p:notesMasterIdLst>
  <p:sldIdLst>
    <p:sldId id="256" r:id="rId3"/>
    <p:sldId id="257" r:id="rId4"/>
    <p:sldId id="258" r:id="rId5"/>
    <p:sldId id="315" r:id="rId6"/>
    <p:sldId id="313" r:id="rId7"/>
    <p:sldId id="327" r:id="rId8"/>
    <p:sldId id="332" r:id="rId9"/>
    <p:sldId id="263" r:id="rId10"/>
    <p:sldId id="317" r:id="rId11"/>
    <p:sldId id="270" r:id="rId12"/>
    <p:sldId id="275" r:id="rId13"/>
    <p:sldId id="323" r:id="rId14"/>
    <p:sldId id="328" r:id="rId15"/>
    <p:sldId id="329" r:id="rId16"/>
    <p:sldId id="330" r:id="rId17"/>
    <p:sldId id="331" r:id="rId18"/>
    <p:sldId id="304" r:id="rId19"/>
    <p:sldId id="306" r:id="rId20"/>
    <p:sldId id="307" r:id="rId21"/>
    <p:sldId id="308" r:id="rId22"/>
    <p:sldId id="300" r:id="rId23"/>
    <p:sldId id="298" r:id="rId24"/>
    <p:sldId id="333" r:id="rId25"/>
    <p:sldId id="299" r:id="rId26"/>
    <p:sldId id="326" r:id="rId27"/>
    <p:sldId id="334" r:id="rId28"/>
    <p:sldId id="335" r:id="rId29"/>
    <p:sldId id="336" r:id="rId30"/>
    <p:sldId id="259" r:id="rId31"/>
    <p:sldId id="260" r:id="rId32"/>
    <p:sldId id="309" r:id="rId33"/>
    <p:sldId id="337" r:id="rId34"/>
    <p:sldId id="290" r:id="rId35"/>
    <p:sldId id="291" r:id="rId36"/>
    <p:sldId id="264" r:id="rId37"/>
    <p:sldId id="295" r:id="rId38"/>
    <p:sldId id="293" r:id="rId39"/>
    <p:sldId id="338" r:id="rId40"/>
    <p:sldId id="267" r:id="rId41"/>
    <p:sldId id="269" r:id="rId42"/>
    <p:sldId id="339" r:id="rId43"/>
    <p:sldId id="271" r:id="rId44"/>
    <p:sldId id="340" r:id="rId45"/>
    <p:sldId id="341" r:id="rId46"/>
    <p:sldId id="273" r:id="rId47"/>
    <p:sldId id="274" r:id="rId48"/>
    <p:sldId id="301" r:id="rId49"/>
    <p:sldId id="302" r:id="rId50"/>
    <p:sldId id="342" r:id="rId51"/>
    <p:sldId id="276" r:id="rId52"/>
    <p:sldId id="277" r:id="rId53"/>
    <p:sldId id="343" r:id="rId54"/>
    <p:sldId id="312" r:id="rId55"/>
    <p:sldId id="344" r:id="rId56"/>
    <p:sldId id="345" r:id="rId57"/>
    <p:sldId id="310" r:id="rId58"/>
    <p:sldId id="311" r:id="rId59"/>
    <p:sldId id="346" r:id="rId60"/>
    <p:sldId id="347" r:id="rId61"/>
    <p:sldId id="305" r:id="rId62"/>
    <p:sldId id="303" r:id="rId63"/>
    <p:sldId id="292" r:id="rId64"/>
    <p:sldId id="294" r:id="rId65"/>
    <p:sldId id="268" r:id="rId66"/>
    <p:sldId id="289" r:id="rId67"/>
    <p:sldId id="262" r:id="rId6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C58683F-D6CC-48D5-B575-776DFC666BB2}">
          <p14:sldIdLst>
            <p14:sldId id="256"/>
            <p14:sldId id="257"/>
            <p14:sldId id="258"/>
            <p14:sldId id="315"/>
            <p14:sldId id="313"/>
            <p14:sldId id="327"/>
            <p14:sldId id="332"/>
            <p14:sldId id="263"/>
            <p14:sldId id="317"/>
            <p14:sldId id="270"/>
            <p14:sldId id="275"/>
            <p14:sldId id="323"/>
            <p14:sldId id="328"/>
            <p14:sldId id="329"/>
            <p14:sldId id="330"/>
            <p14:sldId id="331"/>
            <p14:sldId id="304"/>
            <p14:sldId id="306"/>
            <p14:sldId id="307"/>
            <p14:sldId id="308"/>
            <p14:sldId id="300"/>
            <p14:sldId id="298"/>
            <p14:sldId id="333"/>
            <p14:sldId id="299"/>
            <p14:sldId id="326"/>
          </p14:sldIdLst>
        </p14:section>
        <p14:section name="Default Section" id="{3E4F2EAC-B62A-42B0-81FC-2DEB6A44AE32}">
          <p14:sldIdLst>
            <p14:sldId id="334"/>
          </p14:sldIdLst>
        </p14:section>
        <p14:section name="Untitled Section" id="{E03F5CEF-C4F1-4C5C-9FFB-1E05D7D40A42}">
          <p14:sldIdLst>
            <p14:sldId id="335"/>
            <p14:sldId id="336"/>
            <p14:sldId id="259"/>
            <p14:sldId id="260"/>
            <p14:sldId id="309"/>
          </p14:sldIdLst>
        </p14:section>
        <p14:section name="Untitled Section" id="{223022C3-2058-4454-BFC8-7AFB71261C0C}">
          <p14:sldIdLst>
            <p14:sldId id="337"/>
            <p14:sldId id="290"/>
            <p14:sldId id="291"/>
            <p14:sldId id="264"/>
            <p14:sldId id="295"/>
            <p14:sldId id="293"/>
            <p14:sldId id="338"/>
            <p14:sldId id="267"/>
            <p14:sldId id="269"/>
            <p14:sldId id="339"/>
            <p14:sldId id="271"/>
            <p14:sldId id="340"/>
            <p14:sldId id="341"/>
            <p14:sldId id="273"/>
            <p14:sldId id="274"/>
            <p14:sldId id="301"/>
            <p14:sldId id="302"/>
            <p14:sldId id="342"/>
            <p14:sldId id="276"/>
            <p14:sldId id="277"/>
            <p14:sldId id="343"/>
            <p14:sldId id="312"/>
            <p14:sldId id="344"/>
            <p14:sldId id="345"/>
            <p14:sldId id="310"/>
            <p14:sldId id="311"/>
            <p14:sldId id="346"/>
            <p14:sldId id="347"/>
            <p14:sldId id="305"/>
            <p14:sldId id="303"/>
            <p14:sldId id="292"/>
            <p14:sldId id="294"/>
            <p14:sldId id="268"/>
            <p14:sldId id="289"/>
            <p14:sldId id="262"/>
          </p14:sldIdLst>
        </p14:section>
        <p14:section name="Untitled Section" id="{0A5EF623-5701-4739-9D1C-CA3AA76B06B8}">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EAD5"/>
    <a:srgbClr val="FF4747"/>
    <a:srgbClr val="FEF8E8"/>
    <a:srgbClr val="FFFEE8"/>
    <a:srgbClr val="FFE61F"/>
    <a:srgbClr val="FF9B9B"/>
    <a:srgbClr val="69A4D9"/>
    <a:srgbClr val="6B98C1"/>
    <a:srgbClr val="79ADDD"/>
    <a:srgbClr val="FF5757"/>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9779" autoAdjust="0"/>
    <p:restoredTop sz="94434" autoAdjust="0"/>
  </p:normalViewPr>
  <p:slideViewPr>
    <p:cSldViewPr snapToGrid="0">
      <p:cViewPr varScale="1">
        <p:scale>
          <a:sx n="65" d="100"/>
          <a:sy n="65" d="100"/>
        </p:scale>
        <p:origin x="1544" y="60"/>
      </p:cViewPr>
      <p:guideLst/>
    </p:cSldViewPr>
  </p:slideViewPr>
  <p:notesTextViewPr>
    <p:cViewPr>
      <p:scale>
        <a:sx n="1" d="1"/>
        <a:sy n="1" d="1"/>
      </p:scale>
      <p:origin x="0" y="0"/>
    </p:cViewPr>
  </p:notesTextViewPr>
  <p:sorterViewPr>
    <p:cViewPr varScale="1">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4.xml"/><Relationship Id="rId21" Type="http://schemas.openxmlformats.org/officeDocument/2006/relationships/slide" Target="slides/slide19.xml"/><Relationship Id="rId42" Type="http://schemas.openxmlformats.org/officeDocument/2006/relationships/slide" Target="slides/slide40.xml"/><Relationship Id="rId47" Type="http://schemas.openxmlformats.org/officeDocument/2006/relationships/slide" Target="slides/slide45.xml"/><Relationship Id="rId63" Type="http://schemas.openxmlformats.org/officeDocument/2006/relationships/slide" Target="slides/slide61.xml"/><Relationship Id="rId68" Type="http://schemas.openxmlformats.org/officeDocument/2006/relationships/slide" Target="slides/slide66.xml"/><Relationship Id="rId2" Type="http://schemas.openxmlformats.org/officeDocument/2006/relationships/slideMaster" Target="slideMasters/slideMaster2.xml"/><Relationship Id="rId16" Type="http://schemas.openxmlformats.org/officeDocument/2006/relationships/slide" Target="slides/slide14.xml"/><Relationship Id="rId29" Type="http://schemas.openxmlformats.org/officeDocument/2006/relationships/slide" Target="slides/slide27.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slide" Target="slides/slide30.xml"/><Relationship Id="rId37" Type="http://schemas.openxmlformats.org/officeDocument/2006/relationships/slide" Target="slides/slide35.xml"/><Relationship Id="rId40" Type="http://schemas.openxmlformats.org/officeDocument/2006/relationships/slide" Target="slides/slide38.xml"/><Relationship Id="rId45" Type="http://schemas.openxmlformats.org/officeDocument/2006/relationships/slide" Target="slides/slide43.xml"/><Relationship Id="rId53" Type="http://schemas.openxmlformats.org/officeDocument/2006/relationships/slide" Target="slides/slide51.xml"/><Relationship Id="rId58" Type="http://schemas.openxmlformats.org/officeDocument/2006/relationships/slide" Target="slides/slide56.xml"/><Relationship Id="rId66" Type="http://schemas.openxmlformats.org/officeDocument/2006/relationships/slide" Target="slides/slide64.xml"/><Relationship Id="rId5" Type="http://schemas.openxmlformats.org/officeDocument/2006/relationships/slide" Target="slides/slide3.xml"/><Relationship Id="rId61" Type="http://schemas.openxmlformats.org/officeDocument/2006/relationships/slide" Target="slides/slide59.xml"/><Relationship Id="rId19" Type="http://schemas.openxmlformats.org/officeDocument/2006/relationships/slide" Target="slides/slide1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slide" Target="slides/slide33.xml"/><Relationship Id="rId43" Type="http://schemas.openxmlformats.org/officeDocument/2006/relationships/slide" Target="slides/slide41.xml"/><Relationship Id="rId48" Type="http://schemas.openxmlformats.org/officeDocument/2006/relationships/slide" Target="slides/slide46.xml"/><Relationship Id="rId56" Type="http://schemas.openxmlformats.org/officeDocument/2006/relationships/slide" Target="slides/slide54.xml"/><Relationship Id="rId64" Type="http://schemas.openxmlformats.org/officeDocument/2006/relationships/slide" Target="slides/slide62.xml"/><Relationship Id="rId69" Type="http://schemas.openxmlformats.org/officeDocument/2006/relationships/notesMaster" Target="notesMasters/notesMaster1.xml"/><Relationship Id="rId8" Type="http://schemas.openxmlformats.org/officeDocument/2006/relationships/slide" Target="slides/slide6.xml"/><Relationship Id="rId51" Type="http://schemas.openxmlformats.org/officeDocument/2006/relationships/slide" Target="slides/slide49.xml"/><Relationship Id="rId72" Type="http://schemas.openxmlformats.org/officeDocument/2006/relationships/theme" Target="theme/theme1.xml"/><Relationship Id="rId3" Type="http://schemas.openxmlformats.org/officeDocument/2006/relationships/slide" Target="slides/slide1.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slide" Target="slides/slide31.xml"/><Relationship Id="rId38" Type="http://schemas.openxmlformats.org/officeDocument/2006/relationships/slide" Target="slides/slide36.xml"/><Relationship Id="rId46" Type="http://schemas.openxmlformats.org/officeDocument/2006/relationships/slide" Target="slides/slide44.xml"/><Relationship Id="rId59" Type="http://schemas.openxmlformats.org/officeDocument/2006/relationships/slide" Target="slides/slide57.xml"/><Relationship Id="rId67" Type="http://schemas.openxmlformats.org/officeDocument/2006/relationships/slide" Target="slides/slide65.xml"/><Relationship Id="rId20" Type="http://schemas.openxmlformats.org/officeDocument/2006/relationships/slide" Target="slides/slide18.xml"/><Relationship Id="rId41" Type="http://schemas.openxmlformats.org/officeDocument/2006/relationships/slide" Target="slides/slide39.xml"/><Relationship Id="rId54" Type="http://schemas.openxmlformats.org/officeDocument/2006/relationships/slide" Target="slides/slide52.xml"/><Relationship Id="rId62" Type="http://schemas.openxmlformats.org/officeDocument/2006/relationships/slide" Target="slides/slide60.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4.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36" Type="http://schemas.openxmlformats.org/officeDocument/2006/relationships/slide" Target="slides/slide34.xml"/><Relationship Id="rId49" Type="http://schemas.openxmlformats.org/officeDocument/2006/relationships/slide" Target="slides/slide47.xml"/><Relationship Id="rId57" Type="http://schemas.openxmlformats.org/officeDocument/2006/relationships/slide" Target="slides/slide55.xml"/><Relationship Id="rId10" Type="http://schemas.openxmlformats.org/officeDocument/2006/relationships/slide" Target="slides/slide8.xml"/><Relationship Id="rId31" Type="http://schemas.openxmlformats.org/officeDocument/2006/relationships/slide" Target="slides/slide29.xml"/><Relationship Id="rId44" Type="http://schemas.openxmlformats.org/officeDocument/2006/relationships/slide" Target="slides/slide42.xml"/><Relationship Id="rId52" Type="http://schemas.openxmlformats.org/officeDocument/2006/relationships/slide" Target="slides/slide50.xml"/><Relationship Id="rId60" Type="http://schemas.openxmlformats.org/officeDocument/2006/relationships/slide" Target="slides/slide58.xml"/><Relationship Id="rId65" Type="http://schemas.openxmlformats.org/officeDocument/2006/relationships/slide" Target="slides/slide63.xml"/><Relationship Id="rId73" Type="http://schemas.openxmlformats.org/officeDocument/2006/relationships/tableStyles" Target="tableStyles.xml"/><Relationship Id="rId4" Type="http://schemas.openxmlformats.org/officeDocument/2006/relationships/slide" Target="slides/slide2.xml"/><Relationship Id="rId9" Type="http://schemas.openxmlformats.org/officeDocument/2006/relationships/slide" Target="slides/slide7.xml"/><Relationship Id="rId13" Type="http://schemas.openxmlformats.org/officeDocument/2006/relationships/slide" Target="slides/slide11.xml"/><Relationship Id="rId18" Type="http://schemas.openxmlformats.org/officeDocument/2006/relationships/slide" Target="slides/slide16.xml"/><Relationship Id="rId39" Type="http://schemas.openxmlformats.org/officeDocument/2006/relationships/slide" Target="slides/slide37.xml"/><Relationship Id="rId34" Type="http://schemas.openxmlformats.org/officeDocument/2006/relationships/slide" Target="slides/slide32.xml"/><Relationship Id="rId50" Type="http://schemas.openxmlformats.org/officeDocument/2006/relationships/slide" Target="slides/slide48.xml"/><Relationship Id="rId55" Type="http://schemas.openxmlformats.org/officeDocument/2006/relationships/slide" Target="slides/slide53.xml"/><Relationship Id="rId7" Type="http://schemas.openxmlformats.org/officeDocument/2006/relationships/slide" Target="slides/slide5.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0BA04C2-3830-4D93-A5DB-F02146F5ECA2}" type="datetimeFigureOut">
              <a:rPr lang="en-US" smtClean="0"/>
              <a:t>11/25/2025</a:t>
            </a:fld>
            <a:endParaRPr lang="en-US" dirty="0"/>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258C9E1-B026-47AE-B8EF-2A3186D3D5CA}" type="slidenum">
              <a:rPr lang="en-US" smtClean="0"/>
              <a:t>‹#›</a:t>
            </a:fld>
            <a:endParaRPr lang="en-US" dirty="0"/>
          </a:p>
        </p:txBody>
      </p:sp>
    </p:spTree>
    <p:extLst>
      <p:ext uri="{BB962C8B-B14F-4D97-AF65-F5344CB8AC3E}">
        <p14:creationId xmlns:p14="http://schemas.microsoft.com/office/powerpoint/2010/main" val="25607341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endParaRPr lang="en-US" b="1" dirty="0"/>
          </a:p>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1</a:t>
            </a:fld>
            <a:endParaRPr lang="en-US" dirty="0"/>
          </a:p>
        </p:txBody>
      </p:sp>
    </p:spTree>
    <p:extLst>
      <p:ext uri="{BB962C8B-B14F-4D97-AF65-F5344CB8AC3E}">
        <p14:creationId xmlns:p14="http://schemas.microsoft.com/office/powerpoint/2010/main" val="387464725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2</a:t>
            </a:fld>
            <a:endParaRPr lang="en-US" dirty="0"/>
          </a:p>
        </p:txBody>
      </p:sp>
    </p:spTree>
    <p:extLst>
      <p:ext uri="{BB962C8B-B14F-4D97-AF65-F5344CB8AC3E}">
        <p14:creationId xmlns:p14="http://schemas.microsoft.com/office/powerpoint/2010/main" val="58674819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indent="0">
              <a:lnSpc>
                <a:spcPct val="90000"/>
              </a:lnSpc>
              <a:buClr>
                <a:schemeClr val="tx1"/>
              </a:buClr>
            </a:pPr>
            <a:r>
              <a:rPr lang="en-US" sz="2500" b="1" dirty="0">
                <a:solidFill>
                  <a:schemeClr val="accent2"/>
                </a:solidFill>
                <a:effectLst>
                  <a:outerShdw blurRad="38100" dist="38100" dir="2700000" algn="tl">
                    <a:srgbClr val="000000"/>
                  </a:outerShdw>
                </a:effectLst>
                <a:latin typeface="Arial" panose="020B0604020202020204" pitchFamily="34" charset="0"/>
              </a:rPr>
              <a:t>Static vs. dynamic</a:t>
            </a:r>
          </a:p>
          <a:p>
            <a:pPr lvl="1">
              <a:lnSpc>
                <a:spcPct val="90000"/>
              </a:lnSpc>
              <a:buClr>
                <a:schemeClr val="tx1"/>
              </a:buClr>
            </a:pPr>
            <a:r>
              <a:rPr lang="en-US" sz="2200" b="1" i="1" dirty="0">
                <a:latin typeface="Arial" panose="020B0604020202020204" pitchFamily="34" charset="0"/>
              </a:rPr>
              <a:t>Static:</a:t>
            </a:r>
            <a:r>
              <a:rPr lang="en-US" sz="2200" dirty="0">
                <a:latin typeface="Arial" panose="020B0604020202020204" pitchFamily="34" charset="0"/>
              </a:rPr>
              <a:t> E.g., Simulation solution to integral </a:t>
            </a:r>
          </a:p>
          <a:p>
            <a:pPr lvl="1">
              <a:lnSpc>
                <a:spcPct val="90000"/>
              </a:lnSpc>
              <a:buClr>
                <a:schemeClr val="tx1"/>
              </a:buClr>
            </a:pPr>
            <a:r>
              <a:rPr lang="en-US" sz="2200" b="1" i="1" dirty="0">
                <a:latin typeface="Arial" panose="020B0604020202020204" pitchFamily="34" charset="0"/>
              </a:rPr>
              <a:t>Dynamic:</a:t>
            </a:r>
            <a:r>
              <a:rPr lang="en-US" sz="2200" dirty="0">
                <a:latin typeface="Arial" panose="020B0604020202020204" pitchFamily="34" charset="0"/>
              </a:rPr>
              <a:t> Systems that evolve over time; simulation of traffic system over morning or evening rush period </a:t>
            </a:r>
          </a:p>
          <a:p>
            <a:pPr marL="0" indent="0">
              <a:lnSpc>
                <a:spcPct val="90000"/>
              </a:lnSpc>
              <a:spcBef>
                <a:spcPct val="45000"/>
              </a:spcBef>
              <a:buClr>
                <a:schemeClr val="tx1"/>
              </a:buClr>
            </a:pPr>
            <a:r>
              <a:rPr lang="en-US" sz="2500" b="1" dirty="0">
                <a:solidFill>
                  <a:schemeClr val="accent2"/>
                </a:solidFill>
                <a:effectLst>
                  <a:outerShdw blurRad="38100" dist="38100" dir="2700000" algn="tl">
                    <a:srgbClr val="000000"/>
                  </a:outerShdw>
                </a:effectLst>
                <a:latin typeface="Arial" panose="020B0604020202020204" pitchFamily="34" charset="0"/>
              </a:rPr>
              <a:t>Deterministic vs. stochastic</a:t>
            </a:r>
            <a:endParaRPr lang="en-US" sz="2500" dirty="0">
              <a:effectLst>
                <a:outerShdw blurRad="38100" dist="38100" dir="2700000" algn="tl">
                  <a:srgbClr val="FFFFFF"/>
                </a:outerShdw>
              </a:effectLst>
              <a:latin typeface="Arial" panose="020B0604020202020204" pitchFamily="34" charset="0"/>
            </a:endParaRPr>
          </a:p>
          <a:p>
            <a:pPr lvl="1">
              <a:lnSpc>
                <a:spcPct val="90000"/>
              </a:lnSpc>
              <a:buClr>
                <a:schemeClr val="tx1"/>
              </a:buClr>
            </a:pPr>
            <a:r>
              <a:rPr lang="en-US" sz="2200" b="1" i="1" dirty="0">
                <a:latin typeface="Arial" panose="020B0604020202020204" pitchFamily="34" charset="0"/>
              </a:rPr>
              <a:t>Deterministic:</a:t>
            </a:r>
            <a:r>
              <a:rPr lang="en-US" sz="2200" i="1" dirty="0">
                <a:latin typeface="Arial" panose="020B0604020202020204" pitchFamily="34" charset="0"/>
              </a:rPr>
              <a:t> </a:t>
            </a:r>
            <a:r>
              <a:rPr lang="en-US" sz="2200" dirty="0">
                <a:latin typeface="Arial" panose="020B0604020202020204" pitchFamily="34" charset="0"/>
              </a:rPr>
              <a:t>No randomness; solution of complex differential equation in aerodynamics </a:t>
            </a:r>
          </a:p>
          <a:p>
            <a:pPr lvl="1">
              <a:lnSpc>
                <a:spcPct val="90000"/>
              </a:lnSpc>
              <a:buClr>
                <a:schemeClr val="tx1"/>
              </a:buClr>
            </a:pPr>
            <a:r>
              <a:rPr lang="en-US" sz="2200" b="1" i="1" dirty="0">
                <a:latin typeface="Arial" panose="020B0604020202020204" pitchFamily="34" charset="0"/>
              </a:rPr>
              <a:t>Stochastic (Monte Carlo):</a:t>
            </a:r>
            <a:r>
              <a:rPr lang="en-US" sz="2200" dirty="0">
                <a:latin typeface="Arial" panose="020B0604020202020204" pitchFamily="34" charset="0"/>
              </a:rPr>
              <a:t> Operations of store with randomly modeled arrivals (customers) and purchases</a:t>
            </a:r>
          </a:p>
          <a:p>
            <a:pPr marL="0" indent="0">
              <a:lnSpc>
                <a:spcPct val="90000"/>
              </a:lnSpc>
              <a:spcBef>
                <a:spcPct val="45000"/>
              </a:spcBef>
              <a:buClr>
                <a:schemeClr val="tx1"/>
              </a:buClr>
            </a:pPr>
            <a:r>
              <a:rPr lang="en-US" sz="2500" b="1" dirty="0">
                <a:solidFill>
                  <a:schemeClr val="accent2"/>
                </a:solidFill>
                <a:effectLst>
                  <a:outerShdw blurRad="38100" dist="38100" dir="2700000" algn="tl">
                    <a:srgbClr val="000000"/>
                  </a:outerShdw>
                </a:effectLst>
                <a:latin typeface="Arial" panose="020B0604020202020204" pitchFamily="34" charset="0"/>
              </a:rPr>
              <a:t>Continuous vs. discrete</a:t>
            </a:r>
          </a:p>
          <a:p>
            <a:pPr lvl="1">
              <a:lnSpc>
                <a:spcPct val="90000"/>
              </a:lnSpc>
              <a:buClr>
                <a:schemeClr val="tx1"/>
              </a:buClr>
            </a:pPr>
            <a:r>
              <a:rPr lang="en-US" sz="2200" b="1" i="1" dirty="0">
                <a:latin typeface="Arial" panose="020B0604020202020204" pitchFamily="34" charset="0"/>
              </a:rPr>
              <a:t>Continuous:</a:t>
            </a:r>
            <a:r>
              <a:rPr lang="en-US" sz="2200" dirty="0">
                <a:latin typeface="Arial" panose="020B0604020202020204" pitchFamily="34" charset="0"/>
              </a:rPr>
              <a:t> Differential equations; “smooth” motion of object </a:t>
            </a:r>
          </a:p>
          <a:p>
            <a:pPr lvl="1">
              <a:lnSpc>
                <a:spcPct val="90000"/>
              </a:lnSpc>
              <a:buClr>
                <a:schemeClr val="tx1"/>
              </a:buClr>
            </a:pPr>
            <a:r>
              <a:rPr lang="en-US" sz="2200" b="1" i="1" dirty="0">
                <a:latin typeface="Arial" panose="020B0604020202020204" pitchFamily="34" charset="0"/>
              </a:rPr>
              <a:t>Discrete:</a:t>
            </a:r>
            <a:r>
              <a:rPr lang="en-US" sz="2200" i="1" dirty="0">
                <a:latin typeface="Arial" panose="020B0604020202020204" pitchFamily="34" charset="0"/>
              </a:rPr>
              <a:t> </a:t>
            </a:r>
            <a:r>
              <a:rPr lang="en-US" sz="2200" dirty="0">
                <a:latin typeface="Arial" panose="020B0604020202020204" pitchFamily="34" charset="0"/>
              </a:rPr>
              <a:t>Events occur at discrete times; </a:t>
            </a:r>
          </a:p>
          <a:p>
            <a:pPr marL="457200" marR="0" lvl="1" indent="0" algn="l" defTabSz="914400" rtl="0" eaLnBrk="1" fontAlgn="auto" latinLnBrk="0" hangingPunct="1">
              <a:lnSpc>
                <a:spcPct val="90000"/>
              </a:lnSpc>
              <a:spcBef>
                <a:spcPts val="0"/>
              </a:spcBef>
              <a:spcAft>
                <a:spcPts val="0"/>
              </a:spcAft>
              <a:buClr>
                <a:schemeClr val="tx1"/>
              </a:buClr>
              <a:buSzTx/>
              <a:buFontTx/>
              <a:buNone/>
              <a:tabLst/>
              <a:defRPr/>
            </a:pPr>
            <a:r>
              <a:rPr lang="en-US" sz="1200" dirty="0">
                <a:ea typeface="Calibri" panose="020F0502020204030204" pitchFamily="34" charset="0"/>
              </a:rPr>
              <a:t>Radiation sources are widely employed in industry, medicine and research. While harnessing them for useful purposes on one side, it is also important on the other hand to avoid causing deleterious effects. Therefore, it is essential to predict or calculate the magnitudes of these radiations while passing through materials. </a:t>
            </a:r>
            <a:endParaRPr lang="en-US" sz="1200" dirty="0"/>
          </a:p>
          <a:p>
            <a:pPr marL="457200" marR="0" lvl="1" indent="0" algn="l" defTabSz="914400" rtl="0" eaLnBrk="1" fontAlgn="auto" latinLnBrk="0" hangingPunct="1">
              <a:lnSpc>
                <a:spcPct val="90000"/>
              </a:lnSpc>
              <a:spcBef>
                <a:spcPts val="0"/>
              </a:spcBef>
              <a:spcAft>
                <a:spcPts val="0"/>
              </a:spcAft>
              <a:buClr>
                <a:schemeClr val="tx1"/>
              </a:buClr>
              <a:buSzTx/>
              <a:buFontTx/>
              <a:buNone/>
              <a:tabLst/>
              <a:defRPr/>
            </a:pPr>
            <a:r>
              <a:rPr lang="en-US" sz="1200" dirty="0"/>
              <a:t>Monte Carlo technique is widely employed for solving practical radiation transport problems to arrive at a precise solution in a complex geometrical arrangement of materials</a:t>
            </a:r>
            <a:endParaRPr lang="en-US" dirty="0"/>
          </a:p>
          <a:p>
            <a:pPr lvl="1">
              <a:lnSpc>
                <a:spcPct val="90000"/>
              </a:lnSpc>
              <a:buClr>
                <a:schemeClr val="tx1"/>
              </a:buClr>
            </a:pPr>
            <a:endParaRPr lang="en-US" sz="1200" dirty="0"/>
          </a:p>
          <a:p>
            <a:r>
              <a:rPr lang="en-US" sz="1200" b="0" i="0" u="none" strike="noStrike" kern="1200" baseline="0" dirty="0">
                <a:solidFill>
                  <a:schemeClr val="tx1"/>
                </a:solidFill>
                <a:latin typeface="+mn-lt"/>
                <a:ea typeface="+mn-ea"/>
                <a:cs typeface="+mn-cs"/>
              </a:rPr>
              <a:t>Monte Carlo simulation, in which observations are randomly</a:t>
            </a:r>
          </a:p>
          <a:p>
            <a:r>
              <a:rPr lang="en-US" sz="1200" b="0" i="0" u="none" strike="noStrike" kern="1200" baseline="0" dirty="0">
                <a:solidFill>
                  <a:schemeClr val="tx1"/>
                </a:solidFill>
                <a:latin typeface="+mn-lt"/>
                <a:ea typeface="+mn-ea"/>
                <a:cs typeface="+mn-cs"/>
              </a:rPr>
              <a:t>generated from the model,</a:t>
            </a:r>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3</a:t>
            </a:fld>
            <a:endParaRPr lang="en-US" dirty="0"/>
          </a:p>
        </p:txBody>
      </p:sp>
    </p:spTree>
    <p:extLst>
      <p:ext uri="{BB962C8B-B14F-4D97-AF65-F5344CB8AC3E}">
        <p14:creationId xmlns:p14="http://schemas.microsoft.com/office/powerpoint/2010/main" val="131509229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4</a:t>
            </a:fld>
            <a:endParaRPr lang="en-US" dirty="0"/>
          </a:p>
        </p:txBody>
      </p:sp>
    </p:spTree>
    <p:extLst>
      <p:ext uri="{BB962C8B-B14F-4D97-AF65-F5344CB8AC3E}">
        <p14:creationId xmlns:p14="http://schemas.microsoft.com/office/powerpoint/2010/main" val="1868658386"/>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5</a:t>
            </a:fld>
            <a:endParaRPr lang="en-US" dirty="0"/>
          </a:p>
        </p:txBody>
      </p:sp>
    </p:spTree>
    <p:extLst>
      <p:ext uri="{BB962C8B-B14F-4D97-AF65-F5344CB8AC3E}">
        <p14:creationId xmlns:p14="http://schemas.microsoft.com/office/powerpoint/2010/main" val="326137405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9</a:t>
            </a:fld>
            <a:endParaRPr lang="en-US" dirty="0"/>
          </a:p>
        </p:txBody>
      </p:sp>
    </p:spTree>
    <p:extLst>
      <p:ext uri="{BB962C8B-B14F-4D97-AF65-F5344CB8AC3E}">
        <p14:creationId xmlns:p14="http://schemas.microsoft.com/office/powerpoint/2010/main" val="249970818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solidFill>
                  <a:prstClr val="black"/>
                </a:solidFill>
              </a:rPr>
              <a:t>AThe huge size data points are handled by using the </a:t>
            </a:r>
            <a:r>
              <a:rPr lang="en-US" sz="1200" b="1" dirty="0">
                <a:solidFill>
                  <a:srgbClr val="C00000"/>
                </a:solidFill>
              </a:rPr>
              <a:t>Array</a:t>
            </a:r>
            <a:r>
              <a:rPr lang="en-US" sz="1200" dirty="0">
                <a:solidFill>
                  <a:prstClr val="black"/>
                </a:solidFill>
              </a:rPr>
              <a:t> concept to save the computer memory.</a:t>
            </a:r>
          </a:p>
          <a:p>
            <a:r>
              <a:rPr lang="en-US" sz="1200" dirty="0">
                <a:solidFill>
                  <a:prstClr val="black"/>
                </a:solidFill>
              </a:rPr>
              <a:t>n </a:t>
            </a:r>
            <a:r>
              <a:rPr lang="en-US" sz="1200" b="1" dirty="0">
                <a:solidFill>
                  <a:srgbClr val="C00000"/>
                </a:solidFill>
              </a:rPr>
              <a:t>array</a:t>
            </a:r>
            <a:r>
              <a:rPr lang="en-US" sz="1200" dirty="0">
                <a:solidFill>
                  <a:srgbClr val="C00000"/>
                </a:solidFill>
              </a:rPr>
              <a:t> </a:t>
            </a:r>
            <a:r>
              <a:rPr lang="en-US" sz="1200" dirty="0">
                <a:solidFill>
                  <a:prstClr val="black"/>
                </a:solidFill>
              </a:rPr>
              <a:t>is a collection of (scalar) data, all of the same type, whose individual elements are arranged in a regular pattern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a:t>Interaction probabilities are depend on type of </a:t>
            </a:r>
            <a:r>
              <a:rPr lang="en-US" sz="1200" b="1" i="1" dirty="0">
                <a:solidFill>
                  <a:srgbClr val="FF0000"/>
                </a:solidFill>
              </a:rPr>
              <a:t>radiation</a:t>
            </a:r>
            <a:r>
              <a:rPr lang="en-US" sz="1200" i="1" dirty="0">
                <a:solidFill>
                  <a:srgbClr val="FF0000"/>
                </a:solidFill>
              </a:rPr>
              <a:t> </a:t>
            </a:r>
            <a:r>
              <a:rPr lang="en-US" sz="1200" i="1" dirty="0"/>
              <a:t>and</a:t>
            </a:r>
            <a:r>
              <a:rPr lang="en-US" sz="1200" i="1" dirty="0">
                <a:solidFill>
                  <a:srgbClr val="FF0000"/>
                </a:solidFill>
              </a:rPr>
              <a:t> </a:t>
            </a:r>
            <a:r>
              <a:rPr lang="en-US" sz="1200" b="1" i="1" dirty="0">
                <a:solidFill>
                  <a:srgbClr val="FF0000"/>
                </a:solidFill>
              </a:rPr>
              <a:t>material</a:t>
            </a:r>
          </a:p>
          <a:p>
            <a:endParaRPr lang="en-US" sz="1200" dirty="0">
              <a:solidFill>
                <a:prstClr val="black"/>
              </a:solidFill>
            </a:endParaRPr>
          </a:p>
        </p:txBody>
      </p:sp>
      <p:sp>
        <p:nvSpPr>
          <p:cNvPr id="4" name="Slide Number Placeholder 3"/>
          <p:cNvSpPr>
            <a:spLocks noGrp="1"/>
          </p:cNvSpPr>
          <p:nvPr>
            <p:ph type="sldNum" sz="quarter" idx="10"/>
          </p:nvPr>
        </p:nvSpPr>
        <p:spPr/>
        <p:txBody>
          <a:bodyPr/>
          <a:lstStyle/>
          <a:p>
            <a:fld id="{5258C9E1-B026-47AE-B8EF-2A3186D3D5CA}" type="slidenum">
              <a:rPr lang="en-US" smtClean="0"/>
              <a:t>11</a:t>
            </a:fld>
            <a:endParaRPr lang="en-US" dirty="0"/>
          </a:p>
        </p:txBody>
      </p:sp>
    </p:spTree>
    <p:extLst>
      <p:ext uri="{BB962C8B-B14F-4D97-AF65-F5344CB8AC3E}">
        <p14:creationId xmlns:p14="http://schemas.microsoft.com/office/powerpoint/2010/main" val="3580282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r>
              <a:rPr lang="en-US" sz="1200" b="1" i="1" dirty="0">
                <a:solidFill>
                  <a:srgbClr val="C00000"/>
                </a:solidFill>
              </a:rPr>
              <a:t>Static Array: </a:t>
            </a:r>
            <a:r>
              <a:rPr lang="en-US" sz="1200" b="1" i="1" dirty="0">
                <a:solidFill>
                  <a:prstClr val="black">
                    <a:lumMod val="50000"/>
                    <a:lumOff val="50000"/>
                  </a:prstClr>
                </a:solidFill>
              </a:rPr>
              <a:t>Allocate </a:t>
            </a:r>
            <a:r>
              <a:rPr lang="en-US" sz="1200" b="1" i="1" dirty="0">
                <a:solidFill>
                  <a:srgbClr val="C00000"/>
                </a:solidFill>
              </a:rPr>
              <a:t>(Array(3,3))</a:t>
            </a:r>
          </a:p>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12</a:t>
            </a:fld>
            <a:endParaRPr lang="en-US" dirty="0"/>
          </a:p>
        </p:txBody>
      </p:sp>
    </p:spTree>
    <p:extLst>
      <p:ext uri="{BB962C8B-B14F-4D97-AF65-F5344CB8AC3E}">
        <p14:creationId xmlns:p14="http://schemas.microsoft.com/office/powerpoint/2010/main" val="24141415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0000"/>
                </a:solidFill>
                <a:cs typeface="Times New Roman" panose="02020603050405020304" pitchFamily="18" charset="0"/>
              </a:rPr>
              <a:t>The target material may have more than one nuclide. Since each nuclide has a unique microscopic cross sections , </a:t>
            </a:r>
            <a:r>
              <a:rPr lang="en-US" altLang="en-US" sz="1200" kern="1200" dirty="0">
                <a:solidFill>
                  <a:srgbClr val="000000"/>
                </a:solidFill>
                <a:latin typeface="+mn-lt"/>
                <a:ea typeface="+mn-ea"/>
                <a:cs typeface="Times New Roman" panose="02020603050405020304" pitchFamily="18" charset="0"/>
              </a:rPr>
              <a:t>This requires looking up the microscopic cross sections for these reactions for each nuclide within the target material</a:t>
            </a:r>
            <a:endParaRPr lang="en-US"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0000"/>
                </a:solidFill>
                <a:cs typeface="Times New Roman" panose="02020603050405020304" pitchFamily="18" charset="0"/>
              </a:rPr>
              <a:t> This is a </a:t>
            </a:r>
            <a:r>
              <a:rPr lang="en-US" altLang="en-US" sz="1200" b="1" i="1" dirty="0">
                <a:solidFill>
                  <a:srgbClr val="FF0000"/>
                </a:solidFill>
                <a:cs typeface="Times New Roman" panose="02020603050405020304" pitchFamily="18" charset="0"/>
              </a:rPr>
              <a:t>very time-consuming process.</a:t>
            </a:r>
            <a:endParaRPr lang="en-US" altLang="en-US" sz="1200" b="1" i="1" dirty="0"/>
          </a:p>
          <a:p>
            <a:pPr marL="0" marR="0" indent="0" algn="l" defTabSz="914400" rtl="0" eaLnBrk="1" fontAlgn="auto" latinLnBrk="0" hangingPunct="1">
              <a:lnSpc>
                <a:spcPct val="100000"/>
              </a:lnSpc>
              <a:spcBef>
                <a:spcPts val="0"/>
              </a:spcBef>
              <a:spcAft>
                <a:spcPts val="0"/>
              </a:spcAft>
              <a:buClrTx/>
              <a:buSzTx/>
              <a:buFontTx/>
              <a:buNone/>
              <a:tabLst/>
              <a:defRPr/>
            </a:pPr>
            <a:r>
              <a:rPr lang="en-US" altLang="en-US" sz="1200" dirty="0">
                <a:solidFill>
                  <a:srgbClr val="000000"/>
                </a:solidFill>
                <a:latin typeface="+mn-lt"/>
                <a:cs typeface="Times New Roman" panose="02020603050405020304" pitchFamily="18" charset="0"/>
              </a:rPr>
              <a:t>At each collision, it is </a:t>
            </a:r>
            <a:r>
              <a:rPr lang="en-US" altLang="en-US" sz="1200" dirty="0" err="1">
                <a:solidFill>
                  <a:srgbClr val="000000"/>
                </a:solidFill>
                <a:latin typeface="+mn-lt"/>
                <a:cs typeface="Times New Roman" panose="02020603050405020304" pitchFamily="18" charset="0"/>
              </a:rPr>
              <a:t>necessa</a:t>
            </a:r>
            <a:r>
              <a:rPr lang="en-US" sz="1200" dirty="0" err="1"/>
              <a:t>To</a:t>
            </a:r>
            <a:r>
              <a:rPr lang="en-US" sz="1200" dirty="0"/>
              <a:t> </a:t>
            </a:r>
            <a:r>
              <a:rPr lang="en-US" sz="1200" b="1" i="1" dirty="0">
                <a:solidFill>
                  <a:srgbClr val="C00000"/>
                </a:solidFill>
              </a:rPr>
              <a:t>reduce the time required </a:t>
            </a:r>
            <a:r>
              <a:rPr lang="en-US" sz="1200" dirty="0"/>
              <a:t>for the indexing search for energy  in each nuclide data for a given incident neutron energy, We </a:t>
            </a:r>
            <a:r>
              <a:rPr lang="en-US" sz="1200" b="1" i="1" dirty="0">
                <a:solidFill>
                  <a:srgbClr val="C00000"/>
                </a:solidFill>
              </a:rPr>
              <a:t>unionize</a:t>
            </a:r>
            <a:r>
              <a:rPr lang="en-US" sz="1200" dirty="0"/>
              <a:t> the energy grid of all the Nuclide.</a:t>
            </a:r>
          </a:p>
          <a:p>
            <a:r>
              <a:rPr lang="en-US" altLang="en-US" sz="1200" dirty="0" err="1">
                <a:solidFill>
                  <a:srgbClr val="000000"/>
                </a:solidFill>
                <a:latin typeface="+mn-lt"/>
                <a:cs typeface="Times New Roman" panose="02020603050405020304" pitchFamily="18" charset="0"/>
              </a:rPr>
              <a:t>ry</a:t>
            </a:r>
            <a:r>
              <a:rPr lang="en-US" altLang="en-US" sz="1200" dirty="0">
                <a:solidFill>
                  <a:srgbClr val="000000"/>
                </a:solidFill>
                <a:latin typeface="+mn-lt"/>
                <a:cs typeface="Times New Roman" panose="02020603050405020304" pitchFamily="18" charset="0"/>
              </a:rPr>
              <a:t> to sample the probability of having a particular type of interaction whether it will be elastic scattering,  inelastic scattering, etc.</a:t>
            </a:r>
            <a:endParaRPr lang="en-US" dirty="0"/>
          </a:p>
        </p:txBody>
      </p:sp>
      <p:sp>
        <p:nvSpPr>
          <p:cNvPr id="4" name="Slide Number Placeholder 3"/>
          <p:cNvSpPr>
            <a:spLocks noGrp="1"/>
          </p:cNvSpPr>
          <p:nvPr>
            <p:ph type="sldNum" sz="quarter" idx="10"/>
          </p:nvPr>
        </p:nvSpPr>
        <p:spPr/>
        <p:txBody>
          <a:bodyPr/>
          <a:lstStyle/>
          <a:p>
            <a:fld id="{455CFDF9-B0A5-4483-BC91-75B3F9CBC625}" type="slidenum">
              <a:rPr lang="en-US" smtClean="0"/>
              <a:t>13</a:t>
            </a:fld>
            <a:endParaRPr lang="en-US" dirty="0"/>
          </a:p>
        </p:txBody>
      </p:sp>
    </p:spTree>
    <p:extLst>
      <p:ext uri="{BB962C8B-B14F-4D97-AF65-F5344CB8AC3E}">
        <p14:creationId xmlns:p14="http://schemas.microsoft.com/office/powerpoint/2010/main" val="37046699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5258C9E1-B026-47AE-B8EF-2A3186D3D5CA}" type="slidenum">
              <a:rPr lang="en-US" smtClean="0"/>
              <a:t>22</a:t>
            </a:fld>
            <a:endParaRPr lang="en-US" dirty="0"/>
          </a:p>
        </p:txBody>
      </p:sp>
    </p:spTree>
    <p:extLst>
      <p:ext uri="{BB962C8B-B14F-4D97-AF65-F5344CB8AC3E}">
        <p14:creationId xmlns:p14="http://schemas.microsoft.com/office/powerpoint/2010/main" val="415937908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371600" y="1143000"/>
            <a:ext cx="4114800" cy="3086100"/>
          </a:xfrm>
        </p:spPr>
      </p:sp>
      <p:sp>
        <p:nvSpPr>
          <p:cNvPr id="3" name="Notes Placeholder 2"/>
          <p:cNvSpPr>
            <a:spLocks noGrp="1"/>
          </p:cNvSpPr>
          <p:nvPr>
            <p:ph type="body" idx="1"/>
          </p:nvPr>
        </p:nvSpPr>
        <p:spPr/>
        <p:txBody>
          <a:bodyPr/>
          <a:lstStyle/>
          <a:p>
            <a:pPr lvl="0"/>
            <a:r>
              <a:rPr lang="en-US" b="1" dirty="0"/>
              <a:t>Brian Wichman, David Hill,</a:t>
            </a:r>
          </a:p>
          <a:p>
            <a:r>
              <a:rPr lang="en-US" b="1" dirty="0"/>
              <a:t>Algorithm AS 183: An Efficient and</a:t>
            </a:r>
          </a:p>
          <a:p>
            <a:r>
              <a:rPr lang="en-US" b="1" dirty="0"/>
              <a:t>Portable Pseudo Random Number Generator,</a:t>
            </a:r>
          </a:p>
          <a:p>
            <a:r>
              <a:rPr lang="en-US" b="1" dirty="0"/>
              <a:t>Applied Statistics, Volume 31</a:t>
            </a:r>
          </a:p>
          <a:p>
            <a:pPr lvl="0"/>
            <a:r>
              <a:rPr lang="en-US" b="1" dirty="0"/>
              <a:t>Paul Bratley, Bennett Fox, Linus Schrage,                </a:t>
            </a:r>
          </a:p>
          <a:p>
            <a:r>
              <a:rPr lang="en-US" b="1" dirty="0"/>
              <a:t>A Guide to Simulation,</a:t>
            </a:r>
          </a:p>
          <a:p>
            <a:r>
              <a:rPr lang="en-US" b="1" dirty="0"/>
              <a:t>Second Edition,</a:t>
            </a:r>
          </a:p>
          <a:p>
            <a:r>
              <a:rPr lang="en-US" dirty="0"/>
              <a:t>Springer, 1987,</a:t>
            </a:r>
          </a:p>
          <a:p>
            <a:r>
              <a:rPr lang="en-US" dirty="0"/>
              <a:t>ISBN: 0387964673,</a:t>
            </a:r>
          </a:p>
          <a:p>
            <a:r>
              <a:rPr lang="en-US" dirty="0"/>
              <a:t>LC: QA76.9.C65.B73.</a:t>
            </a:r>
          </a:p>
          <a:p>
            <a:r>
              <a:rPr lang="en-US" dirty="0"/>
              <a:t> </a:t>
            </a:r>
          </a:p>
          <a:p>
            <a:pPr lvl="0"/>
            <a:r>
              <a:rPr lang="en-US" dirty="0"/>
              <a:t>Bennett Fox,</a:t>
            </a:r>
          </a:p>
          <a:p>
            <a:r>
              <a:rPr lang="en-US" dirty="0"/>
              <a:t>Algorithm 647:</a:t>
            </a:r>
          </a:p>
          <a:p>
            <a:r>
              <a:rPr lang="en-US" dirty="0"/>
              <a:t>Implementation and Relative Efficiency of Quasirandom</a:t>
            </a:r>
          </a:p>
          <a:p>
            <a:r>
              <a:rPr lang="en-US" dirty="0"/>
              <a:t>Sequence Generators,</a:t>
            </a:r>
          </a:p>
          <a:p>
            <a:r>
              <a:rPr lang="en-US" dirty="0"/>
              <a:t>ACM Transactions on Mathematical Software,</a:t>
            </a:r>
          </a:p>
          <a:p>
            <a:r>
              <a:rPr lang="en-US" dirty="0"/>
              <a:t>Volume 12, Number 4, December 1986, pages 362-376.</a:t>
            </a:r>
          </a:p>
          <a:p>
            <a:r>
              <a:rPr lang="en-US" dirty="0"/>
              <a:t> </a:t>
            </a:r>
          </a:p>
          <a:p>
            <a:pPr lvl="0"/>
            <a:r>
              <a:rPr lang="en-US" dirty="0"/>
              <a:t>Pierre L'Ecuyer,</a:t>
            </a:r>
          </a:p>
          <a:p>
            <a:r>
              <a:rPr lang="en-US" dirty="0"/>
              <a:t>Random Number Generation,</a:t>
            </a:r>
          </a:p>
          <a:p>
            <a:r>
              <a:rPr lang="en-US" dirty="0"/>
              <a:t>in Handbook of Simulation,</a:t>
            </a:r>
          </a:p>
          <a:p>
            <a:r>
              <a:rPr lang="en-US" dirty="0"/>
              <a:t>edited by Jerry Banks,</a:t>
            </a:r>
          </a:p>
          <a:p>
            <a:r>
              <a:rPr lang="en-US" dirty="0"/>
              <a:t>Wiley, 1998,</a:t>
            </a:r>
          </a:p>
          <a:p>
            <a:r>
              <a:rPr lang="en-US" dirty="0"/>
              <a:t>ISBN: 0471134031,</a:t>
            </a:r>
          </a:p>
          <a:p>
            <a:r>
              <a:rPr lang="en-US" dirty="0"/>
              <a:t>LC: T57.62.H37.</a:t>
            </a:r>
          </a:p>
          <a:p>
            <a:r>
              <a:rPr lang="en-US" dirty="0"/>
              <a:t> </a:t>
            </a:r>
          </a:p>
          <a:p>
            <a:pPr lvl="0"/>
            <a:r>
              <a:rPr lang="en-US" dirty="0"/>
              <a:t>Peter Lewis, Allen Goodman, James Miller,</a:t>
            </a:r>
          </a:p>
          <a:p>
            <a:r>
              <a:rPr lang="en-US" dirty="0"/>
              <a:t>A Pseudo-Random Number Generator for the System/360,</a:t>
            </a:r>
          </a:p>
          <a:p>
            <a:r>
              <a:rPr lang="en-US" dirty="0"/>
              <a:t>IBM Systems Journal,</a:t>
            </a:r>
          </a:p>
          <a:p>
            <a:r>
              <a:rPr lang="en-US" dirty="0"/>
              <a:t>Volume 8, 1969, pages 136-143.</a:t>
            </a:r>
          </a:p>
          <a:p>
            <a:r>
              <a:rPr lang="en-US" dirty="0"/>
              <a:t> </a:t>
            </a:r>
          </a:p>
          <a:p>
            <a:r>
              <a:rPr lang="en-US" dirty="0"/>
              <a:t> </a:t>
            </a:r>
          </a:p>
          <a:p>
            <a:pPr lvl="0"/>
            <a:r>
              <a:rPr lang="en-US" dirty="0"/>
              <a:t>Numerical Recipes in Fortran</a:t>
            </a:r>
          </a:p>
          <a:p>
            <a:r>
              <a:rPr lang="en-US" dirty="0"/>
              <a:t>The art of scientific computing</a:t>
            </a:r>
          </a:p>
          <a:p>
            <a:r>
              <a:rPr lang="en-US" dirty="0"/>
              <a:t>William H. Press, Saul A. Teukolsky</a:t>
            </a:r>
          </a:p>
          <a:p>
            <a:r>
              <a:rPr lang="en-US" dirty="0"/>
              <a:t>William T. Vetterling, Brian P. Flannery</a:t>
            </a:r>
          </a:p>
          <a:p>
            <a:r>
              <a:rPr lang="en-US" dirty="0"/>
              <a:t> </a:t>
            </a:r>
          </a:p>
          <a:p>
            <a:pPr lvl="0"/>
            <a:r>
              <a:rPr lang="en-US" dirty="0"/>
              <a:t> Particle-transport simulation with the Monte Carlo method</a:t>
            </a:r>
          </a:p>
          <a:p>
            <a:r>
              <a:rPr lang="en-US" dirty="0"/>
              <a:t>Carter, L.L. ; Cashwell, E.D.</a:t>
            </a:r>
          </a:p>
          <a:p>
            <a:r>
              <a:rPr lang="en-US" dirty="0"/>
              <a:t> </a:t>
            </a:r>
          </a:p>
          <a:p>
            <a:pPr lvl="0"/>
            <a:r>
              <a:rPr lang="en-US" dirty="0"/>
              <a:t>Monte Carlo N–Particle Transport Code System</a:t>
            </a:r>
          </a:p>
          <a:p>
            <a:r>
              <a:rPr lang="en-US" dirty="0"/>
              <a:t>Contributed by: Los Alamos National Laboratory, Los Alamos, New Mexico</a:t>
            </a:r>
          </a:p>
          <a:p>
            <a:r>
              <a:rPr lang="en-US" dirty="0"/>
              <a:t> </a:t>
            </a:r>
          </a:p>
          <a:p>
            <a:pPr lvl="0"/>
            <a:r>
              <a:rPr lang="en-US" dirty="0"/>
              <a:t>Monte Carlo methods</a:t>
            </a:r>
          </a:p>
          <a:p>
            <a:r>
              <a:rPr lang="en-US" dirty="0"/>
              <a:t> Malvin H. Kalos</a:t>
            </a:r>
          </a:p>
          <a:p>
            <a:endParaRPr lang="en-US" dirty="0"/>
          </a:p>
          <a:p>
            <a:endParaRPr lang="en-US" dirty="0"/>
          </a:p>
        </p:txBody>
      </p:sp>
      <p:sp>
        <p:nvSpPr>
          <p:cNvPr id="4" name="Slide Number Placeholder 3"/>
          <p:cNvSpPr>
            <a:spLocks noGrp="1"/>
          </p:cNvSpPr>
          <p:nvPr>
            <p:ph type="sldNum" sz="quarter" idx="10"/>
          </p:nvPr>
        </p:nvSpPr>
        <p:spPr/>
        <p:txBody>
          <a:bodyPr/>
          <a:lstStyle/>
          <a:p>
            <a:fld id="{455CFDF9-B0A5-4483-BC91-75B3F9CBC625}" type="slidenum">
              <a:rPr lang="en-US" smtClean="0"/>
              <a:t>24</a:t>
            </a:fld>
            <a:endParaRPr lang="en-US" dirty="0"/>
          </a:p>
        </p:txBody>
      </p:sp>
    </p:spTree>
    <p:extLst>
      <p:ext uri="{BB962C8B-B14F-4D97-AF65-F5344CB8AC3E}">
        <p14:creationId xmlns:p14="http://schemas.microsoft.com/office/powerpoint/2010/main" val="44596991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0"/>
          </p:nvPr>
        </p:nvSpPr>
        <p:spPr/>
        <p:txBody>
          <a:bodyPr/>
          <a:lstStyle/>
          <a:p>
            <a:fld id="{A5B26D1B-85BB-40D8-82F0-4E3985DBEC01}"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03E08-A1DB-40DE-980B-5AA653BFE965}" type="slidenum">
              <a:rPr lang="en-US" smtClean="0"/>
              <a:t>26</a:t>
            </a:fld>
            <a:endParaRPr lang="en-US" dirty="0"/>
          </a:p>
        </p:txBody>
      </p:sp>
      <p:sp>
        <p:nvSpPr>
          <p:cNvPr id="8" name="Header Placeholder 7"/>
          <p:cNvSpPr>
            <a:spLocks noGrp="1"/>
          </p:cNvSpPr>
          <p:nvPr>
            <p:ph type="hdr" sz="quarter" idx="13"/>
          </p:nvPr>
        </p:nvSpPr>
        <p:spPr/>
        <p:txBody>
          <a:bodyPr/>
          <a:lstStyle/>
          <a:p>
            <a:endParaRPr lang="en-US" dirty="0"/>
          </a:p>
        </p:txBody>
      </p:sp>
    </p:spTree>
    <p:extLst>
      <p:ext uri="{BB962C8B-B14F-4D97-AF65-F5344CB8AC3E}">
        <p14:creationId xmlns:p14="http://schemas.microsoft.com/office/powerpoint/2010/main" val="296473489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5" name="Date Placeholder 4"/>
          <p:cNvSpPr>
            <a:spLocks noGrp="1"/>
          </p:cNvSpPr>
          <p:nvPr>
            <p:ph type="dt" idx="10"/>
          </p:nvPr>
        </p:nvSpPr>
        <p:spPr/>
        <p:txBody>
          <a:bodyPr/>
          <a:lstStyle/>
          <a:p>
            <a:fld id="{5F2457FA-EBD8-4320-AC2D-FE94B12C1D24}"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03E08-A1DB-40DE-980B-5AA653BFE965}" type="slidenum">
              <a:rPr lang="en-US" smtClean="0"/>
              <a:t>27</a:t>
            </a:fld>
            <a:endParaRPr lang="en-US" dirty="0"/>
          </a:p>
        </p:txBody>
      </p:sp>
      <p:sp>
        <p:nvSpPr>
          <p:cNvPr id="8" name="Header Placeholder 7"/>
          <p:cNvSpPr>
            <a:spLocks noGrp="1"/>
          </p:cNvSpPr>
          <p:nvPr>
            <p:ph type="hdr" sz="quarter" idx="13"/>
          </p:nvPr>
        </p:nvSpPr>
        <p:spPr/>
        <p:txBody>
          <a:bodyPr/>
          <a:lstStyle/>
          <a:p>
            <a:endParaRPr lang="en-US" dirty="0"/>
          </a:p>
        </p:txBody>
      </p:sp>
    </p:spTree>
    <p:extLst>
      <p:ext uri="{BB962C8B-B14F-4D97-AF65-F5344CB8AC3E}">
        <p14:creationId xmlns:p14="http://schemas.microsoft.com/office/powerpoint/2010/main" val="5601316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Subcritical super sustained</a:t>
            </a:r>
          </a:p>
        </p:txBody>
      </p:sp>
      <p:sp>
        <p:nvSpPr>
          <p:cNvPr id="5" name="Date Placeholder 4"/>
          <p:cNvSpPr>
            <a:spLocks noGrp="1"/>
          </p:cNvSpPr>
          <p:nvPr>
            <p:ph type="dt" idx="10"/>
          </p:nvPr>
        </p:nvSpPr>
        <p:spPr/>
        <p:txBody>
          <a:bodyPr/>
          <a:lstStyle/>
          <a:p>
            <a:fld id="{F06D1B7F-DC85-4555-94D2-0EAB9C08BA44}"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6F03E08-A1DB-40DE-980B-5AA653BFE965}" type="slidenum">
              <a:rPr lang="en-US" smtClean="0"/>
              <a:t>30</a:t>
            </a:fld>
            <a:endParaRPr lang="en-US" dirty="0"/>
          </a:p>
        </p:txBody>
      </p:sp>
      <p:sp>
        <p:nvSpPr>
          <p:cNvPr id="8" name="Header Placeholder 7"/>
          <p:cNvSpPr>
            <a:spLocks noGrp="1"/>
          </p:cNvSpPr>
          <p:nvPr>
            <p:ph type="hdr" sz="quarter" idx="13"/>
          </p:nvPr>
        </p:nvSpPr>
        <p:spPr/>
        <p:txBody>
          <a:bodyPr/>
          <a:lstStyle/>
          <a:p>
            <a:endParaRPr lang="en-US" dirty="0"/>
          </a:p>
        </p:txBody>
      </p:sp>
    </p:spTree>
    <p:extLst>
      <p:ext uri="{BB962C8B-B14F-4D97-AF65-F5344CB8AC3E}">
        <p14:creationId xmlns:p14="http://schemas.microsoft.com/office/powerpoint/2010/main" val="58611127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solidFill>
                  <a:schemeClr val="bg2">
                    <a:lumMod val="50000"/>
                  </a:schemeClr>
                </a:solidFill>
              </a:rPr>
              <a:t>To transport 10,000 Particle it</a:t>
            </a:r>
          </a:p>
          <a:p>
            <a:r>
              <a:rPr lang="en-US" dirty="0">
                <a:solidFill>
                  <a:schemeClr val="bg2">
                    <a:lumMod val="50000"/>
                  </a:schemeClr>
                </a:solidFill>
              </a:rPr>
              <a:t> requires </a:t>
            </a:r>
            <a:r>
              <a:rPr lang="en-US" sz="1400" b="1" dirty="0">
                <a:solidFill>
                  <a:schemeClr val="bg2">
                    <a:lumMod val="50000"/>
                  </a:schemeClr>
                </a:solidFill>
              </a:rPr>
              <a:t>4,74,053 </a:t>
            </a:r>
            <a:r>
              <a:rPr lang="en-US" sz="1400" dirty="0">
                <a:solidFill>
                  <a:schemeClr val="bg2">
                    <a:lumMod val="50000"/>
                  </a:schemeClr>
                </a:solidFill>
              </a:rPr>
              <a:t>random numbers !!!</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2EF6CC7C-018D-4837-B8B1-D68D7A097327}" type="datetime1">
              <a:rPr lang="en-US" smtClean="0"/>
              <a:t>11/25/2025</a:t>
            </a:fld>
            <a:endParaRPr lang="en-US" dirty="0"/>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56F03E08-A1DB-40DE-980B-5AA653BFE965}" type="slidenum">
              <a:rPr lang="en-US" smtClean="0"/>
              <a:t>34</a:t>
            </a:fld>
            <a:endParaRPr lang="en-US" dirty="0"/>
          </a:p>
        </p:txBody>
      </p:sp>
    </p:spTree>
    <p:extLst>
      <p:ext uri="{BB962C8B-B14F-4D97-AF65-F5344CB8AC3E}">
        <p14:creationId xmlns:p14="http://schemas.microsoft.com/office/powerpoint/2010/main" val="241940786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sz="1400" i="1" u="sng" dirty="0"/>
              <a:t>Which is the type of interaction of neutron with nuclide? </a:t>
            </a:r>
          </a:p>
          <a:p>
            <a:pPr marL="0" indent="0">
              <a:buNone/>
            </a:pPr>
            <a:r>
              <a:rPr lang="en-US" sz="1050" i="1" dirty="0">
                <a:solidFill>
                  <a:schemeClr val="tx1">
                    <a:lumMod val="65000"/>
                    <a:lumOff val="35000"/>
                  </a:schemeClr>
                </a:solidFill>
              </a:rPr>
              <a:t>         absorption ? scattering?  Or fission ? </a:t>
            </a:r>
            <a:endParaRPr lang="en-US" sz="1100" i="1" dirty="0">
              <a:solidFill>
                <a:schemeClr val="tx1">
                  <a:lumMod val="65000"/>
                  <a:lumOff val="35000"/>
                </a:schemeClr>
              </a:solidFill>
            </a:endParaRPr>
          </a:p>
          <a:p>
            <a:pPr marL="0" indent="0">
              <a:buNone/>
            </a:pPr>
            <a:r>
              <a:rPr lang="en-US" sz="1200" dirty="0"/>
              <a:t>       </a:t>
            </a:r>
            <a:r>
              <a:rPr lang="en-US" sz="1200" b="1" dirty="0"/>
              <a:t>Normalize the interaction cross-sections of nuclide and sampling.</a:t>
            </a:r>
          </a:p>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2EF6CC7C-018D-4837-B8B1-D68D7A097327}" type="datetime1">
              <a:rPr lang="en-US" smtClean="0"/>
              <a:t>11/25/2025</a:t>
            </a:fld>
            <a:endParaRPr lang="en-US" dirty="0"/>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56F03E08-A1DB-40DE-980B-5AA653BFE965}" type="slidenum">
              <a:rPr lang="en-US" smtClean="0"/>
              <a:t>37</a:t>
            </a:fld>
            <a:endParaRPr lang="en-US" dirty="0"/>
          </a:p>
        </p:txBody>
      </p:sp>
    </p:spTree>
    <p:extLst>
      <p:ext uri="{BB962C8B-B14F-4D97-AF65-F5344CB8AC3E}">
        <p14:creationId xmlns:p14="http://schemas.microsoft.com/office/powerpoint/2010/main" val="3216251424"/>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endParaRPr lang="en-US" dirty="0"/>
          </a:p>
        </p:txBody>
      </p:sp>
      <p:sp>
        <p:nvSpPr>
          <p:cNvPr id="5" name="Date Placeholder 4"/>
          <p:cNvSpPr>
            <a:spLocks noGrp="1"/>
          </p:cNvSpPr>
          <p:nvPr>
            <p:ph type="dt" idx="11"/>
          </p:nvPr>
        </p:nvSpPr>
        <p:spPr/>
        <p:txBody>
          <a:bodyPr/>
          <a:lstStyle/>
          <a:p>
            <a:fld id="{2EF6CC7C-018D-4837-B8B1-D68D7A097327}" type="datetime1">
              <a:rPr lang="en-US" smtClean="0"/>
              <a:t>11/25/2025</a:t>
            </a:fld>
            <a:endParaRPr lang="en-US" dirty="0"/>
          </a:p>
        </p:txBody>
      </p:sp>
      <p:sp>
        <p:nvSpPr>
          <p:cNvPr id="6" name="Footer Placeholder 5"/>
          <p:cNvSpPr>
            <a:spLocks noGrp="1"/>
          </p:cNvSpPr>
          <p:nvPr>
            <p:ph type="ftr" sz="quarter" idx="12"/>
          </p:nvPr>
        </p:nvSpPr>
        <p:spPr/>
        <p:txBody>
          <a:bodyPr/>
          <a:lstStyle/>
          <a:p>
            <a:endParaRPr lang="en-US" dirty="0"/>
          </a:p>
        </p:txBody>
      </p:sp>
      <p:sp>
        <p:nvSpPr>
          <p:cNvPr id="7" name="Slide Number Placeholder 6"/>
          <p:cNvSpPr>
            <a:spLocks noGrp="1"/>
          </p:cNvSpPr>
          <p:nvPr>
            <p:ph type="sldNum" sz="quarter" idx="13"/>
          </p:nvPr>
        </p:nvSpPr>
        <p:spPr/>
        <p:txBody>
          <a:bodyPr/>
          <a:lstStyle/>
          <a:p>
            <a:fld id="{56F03E08-A1DB-40DE-980B-5AA653BFE965}" type="slidenum">
              <a:rPr lang="en-US" smtClean="0"/>
              <a:t>51</a:t>
            </a:fld>
            <a:endParaRPr lang="en-US" dirty="0"/>
          </a:p>
        </p:txBody>
      </p:sp>
    </p:spTree>
    <p:extLst>
      <p:ext uri="{BB962C8B-B14F-4D97-AF65-F5344CB8AC3E}">
        <p14:creationId xmlns:p14="http://schemas.microsoft.com/office/powerpoint/2010/main" val="3917900515"/>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258C9E1-B026-47AE-B8EF-2A3186D3D5CA}" type="slidenum">
              <a:rPr lang="en-US" smtClean="0"/>
              <a:t>60</a:t>
            </a:fld>
            <a:endParaRPr lang="en-US" dirty="0"/>
          </a:p>
        </p:txBody>
      </p:sp>
    </p:spTree>
    <p:extLst>
      <p:ext uri="{BB962C8B-B14F-4D97-AF65-F5344CB8AC3E}">
        <p14:creationId xmlns:p14="http://schemas.microsoft.com/office/powerpoint/2010/main" val="235400910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43000" y="1122363"/>
            <a:ext cx="6858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E8C13D20-8068-4F63-A558-051699033945}" type="datetime1">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20837193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2C63257-F4E0-47CA-AD3E-3EB4B41343E3}" type="datetime1">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264166106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C8F943E8-E553-4A0D-9479-77B713721415}" type="datetime1">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128168882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71488" y="1825625"/>
            <a:ext cx="2900363"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3486151" y="1825625"/>
            <a:ext cx="2900363"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63654D79-B371-4F62-ADB1-33E98B6B534A}"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30385533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7AA1A6D-F005-485A-9DEE-947F37E9535E}" type="datetime1">
              <a:rPr lang="en-US" smtClean="0"/>
              <a:t>11/25/2025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147215214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7389A370-434C-4EC0-BF0B-2CBFF3351067}" type="datetime1">
              <a:rPr lang="en-US" smtClean="0"/>
              <a:t>11/25/2025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950185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DDD74F-CCEA-4006-BF1D-923BA97F3CF8}" type="datetime1">
              <a:rPr lang="en-US" smtClean="0"/>
              <a:t>11/25/2025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90980322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DEFE850-43B6-47E4-8A3B-CE3CA9ADE7D0}"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317030590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p>
        </p:txBody>
      </p:sp>
      <p:sp>
        <p:nvSpPr>
          <p:cNvPr id="3" name="Picture Placeholder 2"/>
          <p:cNvSpPr>
            <a:spLocks noGrp="1"/>
          </p:cNvSpPr>
          <p:nvPr>
            <p:ph type="pic" idx="1"/>
          </p:nvPr>
        </p:nvSpPr>
        <p:spPr>
          <a:xfrm>
            <a:off x="3887391" y="987428"/>
            <a:ext cx="462915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56A4A291-4D6B-4D86-BAB5-914E5153F445}" type="datetime1">
              <a:rPr lang="en-US" smtClean="0"/>
              <a:t>11/25/2025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190321502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69BF362-EF90-4EED-BF2E-ECF321579A2F}" type="datetime1">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365164118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8" y="365125"/>
            <a:ext cx="1478756"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71489" y="365125"/>
            <a:ext cx="4321969"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F4C2A9B-5E3A-47A0-B153-AA0F1E084210}" type="datetime1">
              <a:rPr lang="en-US" smtClean="0"/>
              <a:t>11/25/2025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9D1AC30-C8F1-4E46-9D07-0E47F1D1D790}" type="slidenum">
              <a:rPr lang="en-US" smtClean="0"/>
              <a:t>‹#›</a:t>
            </a:fld>
            <a:endParaRPr lang="en-US" dirty="0"/>
          </a:p>
        </p:txBody>
      </p:sp>
    </p:spTree>
    <p:extLst>
      <p:ext uri="{BB962C8B-B14F-4D97-AF65-F5344CB8AC3E}">
        <p14:creationId xmlns:p14="http://schemas.microsoft.com/office/powerpoint/2010/main" val="33690676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122363"/>
            <a:ext cx="77724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143000" y="3602038"/>
            <a:ext cx="6858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E6A01024-14FC-4965-A8E2-26800E16EB8E}"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09358790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04E32C0-8F3E-4AEB-9EA8-69FA24264380}"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36155298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623888" y="1709741"/>
            <a:ext cx="78867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623888" y="4589466"/>
            <a:ext cx="7886700" cy="1500187"/>
          </a:xfrm>
        </p:spPr>
        <p:txBody>
          <a:bodyPr/>
          <a:lstStyle>
            <a:lvl1pPr marL="0" indent="0">
              <a:buNone/>
              <a:defRPr sz="24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08C8ABD1-2438-4A29-B600-4E63ACDB7742}"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30666038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6286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29150" y="1825625"/>
            <a:ext cx="38862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76384B69-6C71-4AB6-A419-40EC4AB56124}" type="datetime1">
              <a:rPr lang="en-US" smtClean="0">
                <a:solidFill>
                  <a:prstClr val="black">
                    <a:tint val="75000"/>
                  </a:prstClr>
                </a:solidFill>
              </a:rPr>
              <a:t>11/25/2025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963931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29841" y="365128"/>
            <a:ext cx="78867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629842" y="1681163"/>
            <a:ext cx="3868340"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29842" y="2505075"/>
            <a:ext cx="3868340"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629151" y="1681163"/>
            <a:ext cx="3887391"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51" y="2505075"/>
            <a:ext cx="3887391"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79B1521A-8680-4244-A7DE-79B14CA72ADB}" type="datetime1">
              <a:rPr lang="en-US" smtClean="0">
                <a:solidFill>
                  <a:prstClr val="black">
                    <a:tint val="75000"/>
                  </a:prstClr>
                </a:solidFill>
              </a:rPr>
              <a:t>11/25/2025</a:t>
            </a:fld>
            <a:endParaRPr lang="en-US" dirty="0">
              <a:solidFill>
                <a:prstClr val="black">
                  <a:tint val="75000"/>
                </a:prstClr>
              </a:solidFill>
            </a:endParaRPr>
          </a:p>
        </p:txBody>
      </p:sp>
      <p:sp>
        <p:nvSpPr>
          <p:cNvPr id="8" name="Footer Placeholder 7"/>
          <p:cNvSpPr>
            <a:spLocks noGrp="1"/>
          </p:cNvSpPr>
          <p:nvPr>
            <p:ph type="ftr" sz="quarter" idx="11"/>
          </p:nvPr>
        </p:nvSpPr>
        <p:spPr/>
        <p:txBody>
          <a:bodyPr/>
          <a:lstStyle/>
          <a:p>
            <a:endParaRPr lang="en-US" dirty="0">
              <a:solidFill>
                <a:prstClr val="black">
                  <a:tint val="75000"/>
                </a:prstClr>
              </a:solidFill>
            </a:endParaRPr>
          </a:p>
        </p:txBody>
      </p:sp>
      <p:sp>
        <p:nvSpPr>
          <p:cNvPr id="9" name="Slide Number Placeholder 8"/>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432995761"/>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CAE77B0-CDBD-4AAC-B51B-E172A8A63307}" type="datetime1">
              <a:rPr lang="en-US" smtClean="0">
                <a:solidFill>
                  <a:prstClr val="black">
                    <a:tint val="75000"/>
                  </a:prstClr>
                </a:solidFill>
              </a:rPr>
              <a:t>11/25/2025</a:t>
            </a:fld>
            <a:endParaRPr lang="en-US" dirty="0">
              <a:solidFill>
                <a:prstClr val="black">
                  <a:tint val="75000"/>
                </a:prstClr>
              </a:solidFill>
            </a:endParaRPr>
          </a:p>
        </p:txBody>
      </p:sp>
      <p:sp>
        <p:nvSpPr>
          <p:cNvPr id="4" name="Footer Placeholder 3"/>
          <p:cNvSpPr>
            <a:spLocks noGrp="1"/>
          </p:cNvSpPr>
          <p:nvPr>
            <p:ph type="ftr" sz="quarter" idx="11"/>
          </p:nvPr>
        </p:nvSpPr>
        <p:spPr/>
        <p:txBody>
          <a:bodyPr/>
          <a:lstStyle/>
          <a:p>
            <a:endParaRPr lang="en-US" dirty="0">
              <a:solidFill>
                <a:prstClr val="black">
                  <a:tint val="75000"/>
                </a:prstClr>
              </a:solidFill>
            </a:endParaRPr>
          </a:p>
        </p:txBody>
      </p:sp>
      <p:sp>
        <p:nvSpPr>
          <p:cNvPr id="5" name="Slide Number Placeholder 4"/>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63393987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B3517F2-7CD3-4508-8877-0E57797B42B7}" type="datetime1">
              <a:rPr lang="en-US" smtClean="0">
                <a:solidFill>
                  <a:prstClr val="black">
                    <a:tint val="75000"/>
                  </a:prstClr>
                </a:solidFill>
              </a:rPr>
              <a:t>11/25/2025</a:t>
            </a:fld>
            <a:endParaRPr lang="en-US" dirty="0">
              <a:solidFill>
                <a:prstClr val="black">
                  <a:tint val="75000"/>
                </a:prstClr>
              </a:solidFill>
            </a:endParaRPr>
          </a:p>
        </p:txBody>
      </p:sp>
      <p:sp>
        <p:nvSpPr>
          <p:cNvPr id="3" name="Footer Placeholder 2"/>
          <p:cNvSpPr>
            <a:spLocks noGrp="1"/>
          </p:cNvSpPr>
          <p:nvPr>
            <p:ph type="ftr" sz="quarter" idx="11"/>
          </p:nvPr>
        </p:nvSpPr>
        <p:spPr/>
        <p:txBody>
          <a:bodyPr/>
          <a:lstStyle/>
          <a:p>
            <a:endParaRPr lang="en-US" dirty="0">
              <a:solidFill>
                <a:prstClr val="black">
                  <a:tint val="75000"/>
                </a:prstClr>
              </a:solidFill>
            </a:endParaRPr>
          </a:p>
        </p:txBody>
      </p:sp>
      <p:sp>
        <p:nvSpPr>
          <p:cNvPr id="4" name="Slide Number Placeholder 3"/>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58687343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3887391" y="987428"/>
            <a:ext cx="462915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E58F8DC3-8398-4434-AB46-A1E160850164}" type="datetime1">
              <a:rPr lang="en-US" smtClean="0">
                <a:solidFill>
                  <a:prstClr val="black">
                    <a:tint val="75000"/>
                  </a:prstClr>
                </a:solidFill>
              </a:rPr>
              <a:t>11/25/2025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4366824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29841" y="457200"/>
            <a:ext cx="2949178"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3887391" y="987428"/>
            <a:ext cx="462915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629841" y="2057400"/>
            <a:ext cx="2949178"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67D96AF1-D7AA-44E1-A02C-393BAA755E6D}" type="datetime1">
              <a:rPr lang="en-US" smtClean="0">
                <a:solidFill>
                  <a:prstClr val="black">
                    <a:tint val="75000"/>
                  </a:prstClr>
                </a:solidFill>
              </a:rPr>
              <a:t>11/25/2025</a:t>
            </a:fld>
            <a:endParaRPr lang="en-US" dirty="0">
              <a:solidFill>
                <a:prstClr val="black">
                  <a:tint val="75000"/>
                </a:prstClr>
              </a:solidFill>
            </a:endParaRPr>
          </a:p>
        </p:txBody>
      </p:sp>
      <p:sp>
        <p:nvSpPr>
          <p:cNvPr id="6" name="Footer Placeholder 5"/>
          <p:cNvSpPr>
            <a:spLocks noGrp="1"/>
          </p:cNvSpPr>
          <p:nvPr>
            <p:ph type="ftr" sz="quarter" idx="11"/>
          </p:nvPr>
        </p:nvSpPr>
        <p:spPr/>
        <p:txBody>
          <a:bodyPr/>
          <a:lstStyle/>
          <a:p>
            <a:endParaRPr lang="en-US" dirty="0">
              <a:solidFill>
                <a:prstClr val="black">
                  <a:tint val="75000"/>
                </a:prstClr>
              </a:solidFill>
            </a:endParaRPr>
          </a:p>
        </p:txBody>
      </p:sp>
      <p:sp>
        <p:nvSpPr>
          <p:cNvPr id="7" name="Slide Number Placeholder 6"/>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217270826"/>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A1D5BDE-B267-4155-A1FF-E2C6BF5C01C6}"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610574055"/>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43676" y="365125"/>
            <a:ext cx="1971675"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628651" y="365125"/>
            <a:ext cx="5800725"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58E6AE-9EC3-4E85-9EAD-804F2A8FE3E9}"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11"/>
          </p:nvPr>
        </p:nvSpPr>
        <p:spPr/>
        <p:txBody>
          <a:bodyPr/>
          <a:lstStyle/>
          <a:p>
            <a:endParaRPr lang="en-US" dirty="0">
              <a:solidFill>
                <a:prstClr val="black">
                  <a:tint val="75000"/>
                </a:prstClr>
              </a:solidFill>
            </a:endParaRP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188730465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E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8CB6F60-149E-4D29-85D9-94CB1FB325F6}" type="datetime1">
              <a:rPr lang="en-US" smtClean="0"/>
              <a:t>11/25/2025</a:t>
            </a:fld>
            <a:endParaRPr lang="en-US" dirty="0"/>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9D1AC30-C8F1-4E46-9D07-0E47F1D1D790}" type="slidenum">
              <a:rPr lang="en-US" smtClean="0"/>
              <a:t>‹#›</a:t>
            </a:fld>
            <a:endParaRPr lang="en-US" dirty="0"/>
          </a:p>
        </p:txBody>
      </p:sp>
    </p:spTree>
    <p:extLst>
      <p:ext uri="{BB962C8B-B14F-4D97-AF65-F5344CB8AC3E}">
        <p14:creationId xmlns:p14="http://schemas.microsoft.com/office/powerpoint/2010/main" val="46387785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rgbClr val="FFFEE8"/>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28650" y="365128"/>
            <a:ext cx="78867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628650" y="1825625"/>
            <a:ext cx="78867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28650" y="6356353"/>
            <a:ext cx="20574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97332A-CD6F-4418-B7B3-4246A5828FDD}" type="datetime1">
              <a:rPr lang="en-US" smtClean="0">
                <a:solidFill>
                  <a:prstClr val="black">
                    <a:tint val="75000"/>
                  </a:prstClr>
                </a:solidFill>
              </a:rPr>
              <a:t>11/25/2025</a:t>
            </a:fld>
            <a:endParaRPr lang="en-US" dirty="0">
              <a:solidFill>
                <a:prstClr val="black">
                  <a:tint val="75000"/>
                </a:prstClr>
              </a:solidFill>
            </a:endParaRPr>
          </a:p>
        </p:txBody>
      </p:sp>
      <p:sp>
        <p:nvSpPr>
          <p:cNvPr id="5" name="Footer Placeholder 4"/>
          <p:cNvSpPr>
            <a:spLocks noGrp="1"/>
          </p:cNvSpPr>
          <p:nvPr>
            <p:ph type="ftr" sz="quarter" idx="3"/>
          </p:nvPr>
        </p:nvSpPr>
        <p:spPr>
          <a:xfrm>
            <a:off x="3028950" y="6356353"/>
            <a:ext cx="30861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solidFill>
                <a:prstClr val="black">
                  <a:tint val="75000"/>
                </a:prstClr>
              </a:solidFill>
            </a:endParaRPr>
          </a:p>
        </p:txBody>
      </p:sp>
      <p:sp>
        <p:nvSpPr>
          <p:cNvPr id="6" name="Slide Number Placeholder 5"/>
          <p:cNvSpPr>
            <a:spLocks noGrp="1"/>
          </p:cNvSpPr>
          <p:nvPr>
            <p:ph type="sldNum" sz="quarter" idx="4"/>
          </p:nvPr>
        </p:nvSpPr>
        <p:spPr>
          <a:xfrm>
            <a:off x="6457950" y="6356353"/>
            <a:ext cx="20574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E310DD8-4D23-494A-9745-A7BA26DAFE5D}" type="slidenum">
              <a:rPr lang="en-US" smtClean="0">
                <a:solidFill>
                  <a:prstClr val="black">
                    <a:tint val="75000"/>
                  </a:prstClr>
                </a:solidFill>
              </a:rPr>
              <a:pPr/>
              <a:t>‹#›</a:t>
            </a:fld>
            <a:endParaRPr lang="en-US" dirty="0">
              <a:solidFill>
                <a:prstClr val="black">
                  <a:tint val="75000"/>
                </a:prstClr>
              </a:solidFill>
            </a:endParaRPr>
          </a:p>
        </p:txBody>
      </p:sp>
    </p:spTree>
    <p:extLst>
      <p:ext uri="{BB962C8B-B14F-4D97-AF65-F5344CB8AC3E}">
        <p14:creationId xmlns:p14="http://schemas.microsoft.com/office/powerpoint/2010/main" val="3707051209"/>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mailto:iamsachinshet@gmail.com" TargetMode="External"/><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gif"/><Relationship Id="rId7" Type="http://schemas.openxmlformats.org/officeDocument/2006/relationships/image" Target="../media/image5.jp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jpg"/><Relationship Id="rId5" Type="http://schemas.openxmlformats.org/officeDocument/2006/relationships/image" Target="../media/image3.jpg"/><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8.png"/><Relationship Id="rId4" Type="http://schemas.openxmlformats.org/officeDocument/2006/relationships/image" Target="../media/image7.emf"/></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microsoft.com/office/2007/relationships/hdphoto" Target="../media/hdphoto1.wdp"/><Relationship Id="rId7" Type="http://schemas.openxmlformats.org/officeDocument/2006/relationships/image" Target="../media/image12.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1.png"/><Relationship Id="rId5" Type="http://schemas.microsoft.com/office/2007/relationships/hdphoto" Target="../media/hdphoto2.wdp"/><Relationship Id="rId10" Type="http://schemas.openxmlformats.org/officeDocument/2006/relationships/image" Target="../media/image15.png"/><Relationship Id="rId4" Type="http://schemas.openxmlformats.org/officeDocument/2006/relationships/image" Target="../media/image10.png"/><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7.xml"/><Relationship Id="rId1" Type="http://schemas.openxmlformats.org/officeDocument/2006/relationships/slideLayout" Target="../slideLayouts/slideLayout1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3.xml"/></Relationships>
</file>

<file path=ppt/slides/_rels/slide13.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1.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3.xml"/></Relationships>
</file>

<file path=ppt/slides/_rels/slide28.xml.rels><?xml version="1.0" encoding="UTF-8" standalone="yes"?>
<Relationships xmlns="http://schemas.openxmlformats.org/package/2006/relationships"><Relationship Id="rId3" Type="http://schemas.openxmlformats.org/officeDocument/2006/relationships/image" Target="../media/image22.jpg"/><Relationship Id="rId2" Type="http://schemas.openxmlformats.org/officeDocument/2006/relationships/image" Target="../media/image21.png"/><Relationship Id="rId1" Type="http://schemas.openxmlformats.org/officeDocument/2006/relationships/slideLayout" Target="../slideLayouts/slideLayout13.xml"/></Relationships>
</file>

<file path=ppt/slides/_rels/slide29.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image" Target="../media/image1.gif"/><Relationship Id="rId1" Type="http://schemas.openxmlformats.org/officeDocument/2006/relationships/slideLayout" Target="../slideLayouts/slideLayout13.xml"/><Relationship Id="rId5" Type="http://schemas.openxmlformats.org/officeDocument/2006/relationships/image" Target="../media/image4.jpg"/><Relationship Id="rId4" Type="http://schemas.openxmlformats.org/officeDocument/2006/relationships/image" Target="../media/image3.jpg"/></Relationships>
</file>

<file path=ppt/slides/_rels/slide30.xml.rels><?xml version="1.0" encoding="UTF-8" standalone="yes"?>
<Relationships xmlns="http://schemas.openxmlformats.org/package/2006/relationships"><Relationship Id="rId8" Type="http://schemas.openxmlformats.org/officeDocument/2006/relationships/image" Target="../media/image29.png"/><Relationship Id="rId3" Type="http://schemas.openxmlformats.org/officeDocument/2006/relationships/image" Target="../media/image24.jpg"/><Relationship Id="rId7"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13.xml"/><Relationship Id="rId6" Type="http://schemas.openxmlformats.org/officeDocument/2006/relationships/image" Target="../media/image27.jpeg"/><Relationship Id="rId5" Type="http://schemas.openxmlformats.org/officeDocument/2006/relationships/image" Target="../media/image26.png"/><Relationship Id="rId4" Type="http://schemas.openxmlformats.org/officeDocument/2006/relationships/image" Target="../media/image25.png"/></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3.xml"/></Relationships>
</file>

<file path=ppt/slides/_rels/slide35.xml.rels><?xml version="1.0" encoding="UTF-8" standalone="yes"?>
<Relationships xmlns="http://schemas.openxmlformats.org/package/2006/relationships"><Relationship Id="rId3" Type="http://schemas.openxmlformats.org/officeDocument/2006/relationships/image" Target="../media/image32.emf"/><Relationship Id="rId2" Type="http://schemas.openxmlformats.org/officeDocument/2006/relationships/image" Target="../media/image31.png"/><Relationship Id="rId1" Type="http://schemas.openxmlformats.org/officeDocument/2006/relationships/slideLayout" Target="../slideLayouts/slideLayout13.xml"/><Relationship Id="rId5" Type="http://schemas.openxmlformats.org/officeDocument/2006/relationships/image" Target="../media/image34.png"/><Relationship Id="rId4" Type="http://schemas.openxmlformats.org/officeDocument/2006/relationships/image" Target="../media/image33.png"/></Relationships>
</file>

<file path=ppt/slides/_rels/slide36.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emf"/><Relationship Id="rId1" Type="http://schemas.openxmlformats.org/officeDocument/2006/relationships/slideLayout" Target="../slideLayouts/slideLayout13.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3.xml"/></Relationships>
</file>

<file path=ppt/slides/_rels/slide38.xml.rels><?xml version="1.0" encoding="UTF-8" standalone="yes"?>
<Relationships xmlns="http://schemas.openxmlformats.org/package/2006/relationships"><Relationship Id="rId3" Type="http://schemas.microsoft.com/office/2007/relationships/hdphoto" Target="../media/hdphoto3.wdp"/><Relationship Id="rId2" Type="http://schemas.openxmlformats.org/officeDocument/2006/relationships/image" Target="../media/image19.png"/><Relationship Id="rId1" Type="http://schemas.openxmlformats.org/officeDocument/2006/relationships/slideLayout" Target="../slideLayouts/slideLayout13.xml"/><Relationship Id="rId4" Type="http://schemas.openxmlformats.org/officeDocument/2006/relationships/image" Target="../media/image20.png"/></Relationships>
</file>

<file path=ppt/slides/_rels/slide39.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3.xml"/></Relationships>
</file>

<file path=ppt/slides/_rels/slide40.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13.xml"/></Relationships>
</file>

<file path=ppt/slides/_rels/slide41.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13.xml"/></Relationships>
</file>

<file path=ppt/slides/_rels/slide42.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13.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45.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13.xml"/></Relationships>
</file>

<file path=ppt/slides/_rels/slide46.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13.xml"/></Relationships>
</file>

<file path=ppt/slides/_rels/slide47.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13.xml"/></Relationships>
</file>

<file path=ppt/slides/_rels/slide48.xml.rels><?xml version="1.0" encoding="UTF-8" standalone="yes"?>
<Relationships xmlns="http://schemas.openxmlformats.org/package/2006/relationships"><Relationship Id="rId2" Type="http://schemas.openxmlformats.org/officeDocument/2006/relationships/image" Target="../media/image44.PNG"/><Relationship Id="rId1" Type="http://schemas.openxmlformats.org/officeDocument/2006/relationships/slideLayout" Target="../slideLayouts/slideLayout13.xml"/></Relationships>
</file>

<file path=ppt/slides/_rels/slide49.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13.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1.xml.rels><?xml version="1.0" encoding="UTF-8" standalone="yes"?>
<Relationships xmlns="http://schemas.openxmlformats.org/package/2006/relationships"><Relationship Id="rId3" Type="http://schemas.openxmlformats.org/officeDocument/2006/relationships/hyperlink" Target="http://gcc.gnu.org/" TargetMode="External"/><Relationship Id="rId2" Type="http://schemas.openxmlformats.org/officeDocument/2006/relationships/notesSlide" Target="../notesSlides/notesSlide17.xml"/><Relationship Id="rId1" Type="http://schemas.openxmlformats.org/officeDocument/2006/relationships/slideLayout" Target="../slideLayouts/slideLayout13.xml"/><Relationship Id="rId5" Type="http://schemas.openxmlformats.org/officeDocument/2006/relationships/hyperlink" Target="http://github.com/" TargetMode="External"/><Relationship Id="rId4" Type="http://schemas.openxmlformats.org/officeDocument/2006/relationships/hyperlink" Target="http://www.stackoverflow.com/" TargetMode="Externa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5.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1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58.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13.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60.xml.rels><?xml version="1.0" encoding="UTF-8" standalone="yes"?>
<Relationships xmlns="http://schemas.openxmlformats.org/package/2006/relationships"><Relationship Id="rId3" Type="http://schemas.openxmlformats.org/officeDocument/2006/relationships/image" Target="../media/image48.png"/><Relationship Id="rId2" Type="http://schemas.openxmlformats.org/officeDocument/2006/relationships/notesSlide" Target="../notesSlides/notesSlide18.xml"/><Relationship Id="rId1" Type="http://schemas.openxmlformats.org/officeDocument/2006/relationships/slideLayout" Target="../slideLayouts/slideLayout13.xml"/><Relationship Id="rId5" Type="http://schemas.openxmlformats.org/officeDocument/2006/relationships/image" Target="../media/image49.png"/><Relationship Id="rId4" Type="http://schemas.openxmlformats.org/officeDocument/2006/relationships/image" Target="../media/image7.emf"/></Relationships>
</file>

<file path=ppt/slides/_rels/slide61.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13.xml"/></Relationships>
</file>

<file path=ppt/slides/_rels/slide62.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13.xml"/></Relationships>
</file>

<file path=ppt/slides/_rels/slide63.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13.xml"/></Relationships>
</file>

<file path=ppt/slides/_rels/slide64.xml.rels><?xml version="1.0" encoding="UTF-8" standalone="yes"?>
<Relationships xmlns="http://schemas.openxmlformats.org/package/2006/relationships"><Relationship Id="rId2" Type="http://schemas.openxmlformats.org/officeDocument/2006/relationships/image" Target="../media/image37.jpg"/><Relationship Id="rId1" Type="http://schemas.openxmlformats.org/officeDocument/2006/relationships/slideLayout" Target="../slideLayouts/slideLayout13.xml"/></Relationships>
</file>

<file path=ppt/slides/_rels/slide6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13.xml"/></Relationships>
</file>

<file path=ppt/slides/_rels/slide66.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image" Target="../media/image53.png"/><Relationship Id="rId1" Type="http://schemas.openxmlformats.org/officeDocument/2006/relationships/slideLayout" Target="../slideLayouts/slideLayout13.xml"/><Relationship Id="rId4" Type="http://schemas.openxmlformats.org/officeDocument/2006/relationships/image" Target="../media/image55.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92868" y="219174"/>
            <a:ext cx="8958263" cy="1566863"/>
          </a:xfrm>
        </p:spPr>
        <p:txBody>
          <a:bodyPr>
            <a:normAutofit fontScale="90000"/>
          </a:bodyPr>
          <a:lstStyle/>
          <a:p>
            <a:r>
              <a:rPr lang="en-US" sz="4000" b="1" dirty="0"/>
              <a:t>Monte Carlo simulation:</a:t>
            </a:r>
            <a:br>
              <a:rPr lang="en-US" sz="4000" b="1" dirty="0"/>
            </a:br>
            <a:r>
              <a:rPr lang="en-US" sz="4000" b="1" dirty="0"/>
              <a:t>Optimization of computer time and memory</a:t>
            </a:r>
          </a:p>
        </p:txBody>
      </p:sp>
      <p:sp>
        <p:nvSpPr>
          <p:cNvPr id="4" name="TextBox 3"/>
          <p:cNvSpPr txBox="1"/>
          <p:nvPr/>
        </p:nvSpPr>
        <p:spPr>
          <a:xfrm>
            <a:off x="2373217" y="4219655"/>
            <a:ext cx="4014788" cy="1200329"/>
          </a:xfrm>
          <a:prstGeom prst="rect">
            <a:avLst/>
          </a:prstGeom>
          <a:noFill/>
        </p:spPr>
        <p:txBody>
          <a:bodyPr wrap="square" rtlCol="0">
            <a:spAutoFit/>
          </a:bodyPr>
          <a:lstStyle/>
          <a:p>
            <a:pPr algn="ctr"/>
            <a:r>
              <a:rPr lang="en-US" b="1" dirty="0"/>
              <a:t> </a:t>
            </a:r>
            <a:r>
              <a:rPr lang="en-US" b="1" u="sng" dirty="0"/>
              <a:t>Technical Report</a:t>
            </a:r>
            <a:endParaRPr lang="en-US" dirty="0"/>
          </a:p>
          <a:p>
            <a:pPr algn="ctr"/>
            <a:endParaRPr lang="en-US" b="1" u="sng" dirty="0"/>
          </a:p>
          <a:p>
            <a:pPr algn="ctr"/>
            <a:r>
              <a:rPr lang="en-US" b="1" u="sng" dirty="0" err="1"/>
              <a:t>Ref:Stream</a:t>
            </a:r>
            <a:r>
              <a:rPr lang="en-US" b="1" u="sng" dirty="0"/>
              <a:t>/ Basic Science/BS-RF005</a:t>
            </a:r>
            <a:endParaRPr lang="en-US" dirty="0"/>
          </a:p>
          <a:p>
            <a:pPr algn="ctr"/>
            <a:endParaRPr lang="en-US" dirty="0"/>
          </a:p>
        </p:txBody>
      </p:sp>
      <p:sp>
        <p:nvSpPr>
          <p:cNvPr id="3" name="TextBox 2"/>
          <p:cNvSpPr txBox="1"/>
          <p:nvPr/>
        </p:nvSpPr>
        <p:spPr>
          <a:xfrm>
            <a:off x="2828262" y="2188330"/>
            <a:ext cx="4597299" cy="2031325"/>
          </a:xfrm>
          <a:prstGeom prst="rect">
            <a:avLst/>
          </a:prstGeom>
          <a:noFill/>
        </p:spPr>
        <p:txBody>
          <a:bodyPr wrap="square" rtlCol="0">
            <a:spAutoFit/>
          </a:bodyPr>
          <a:lstStyle/>
          <a:p>
            <a:r>
              <a:rPr lang="en-US" b="1" dirty="0" err="1"/>
              <a:t>Sachin</a:t>
            </a:r>
            <a:r>
              <a:rPr lang="en-US" b="1" dirty="0"/>
              <a:t> Shet</a:t>
            </a:r>
            <a:r>
              <a:rPr lang="en-US" b="1" baseline="30000" dirty="0"/>
              <a:t>1</a:t>
            </a:r>
            <a:r>
              <a:rPr lang="en-US" b="1" dirty="0"/>
              <a:t> and K.V.Subbaiah</a:t>
            </a:r>
            <a:r>
              <a:rPr lang="en-US" b="1" baseline="30000" dirty="0"/>
              <a:t>2</a:t>
            </a:r>
          </a:p>
          <a:p>
            <a:r>
              <a:rPr lang="en-US" b="1" baseline="30000" dirty="0"/>
              <a:t>1</a:t>
            </a:r>
            <a:r>
              <a:rPr lang="en-US" b="1" dirty="0"/>
              <a:t>Junior Research Fellow, </a:t>
            </a:r>
            <a:r>
              <a:rPr lang="en-US" b="1" baseline="30000" dirty="0"/>
              <a:t>2</a:t>
            </a:r>
            <a:r>
              <a:rPr lang="en-US" b="1" dirty="0"/>
              <a:t>Consultant Professor</a:t>
            </a:r>
          </a:p>
          <a:p>
            <a:r>
              <a:rPr lang="en-US" b="1" dirty="0" err="1"/>
              <a:t>Manipal</a:t>
            </a:r>
            <a:r>
              <a:rPr lang="en-US" b="1" dirty="0"/>
              <a:t> Centre for Natural Sciences</a:t>
            </a:r>
          </a:p>
          <a:p>
            <a:r>
              <a:rPr lang="en-US" b="1" dirty="0" err="1"/>
              <a:t>Manipal</a:t>
            </a:r>
            <a:r>
              <a:rPr lang="en-US" b="1" dirty="0"/>
              <a:t> University</a:t>
            </a:r>
          </a:p>
          <a:p>
            <a:r>
              <a:rPr lang="en-US" b="1" dirty="0"/>
              <a:t>Manipal-576104, Karnataka</a:t>
            </a:r>
          </a:p>
          <a:p>
            <a:pPr>
              <a:defRPr/>
            </a:pPr>
            <a:r>
              <a:rPr lang="en-US" b="1" dirty="0"/>
              <a:t>Email: </a:t>
            </a:r>
            <a:r>
              <a:rPr lang="en-US" b="1" u="sng" dirty="0">
                <a:hlinkClick r:id="rId3"/>
              </a:rPr>
              <a:t>iamsachinshet@gmail.com</a:t>
            </a:r>
            <a:r>
              <a:rPr lang="en-US" b="1" u="sng" dirty="0"/>
              <a:t> </a:t>
            </a:r>
            <a:endParaRPr lang="en-US" b="1" dirty="0"/>
          </a:p>
          <a:p>
            <a:endParaRPr lang="en-US" dirty="0"/>
          </a:p>
        </p:txBody>
      </p:sp>
      <p:sp>
        <p:nvSpPr>
          <p:cNvPr id="5" name="Rectangle 4"/>
          <p:cNvSpPr/>
          <p:nvPr/>
        </p:nvSpPr>
        <p:spPr>
          <a:xfrm>
            <a:off x="1499190" y="5419982"/>
            <a:ext cx="7304568" cy="369332"/>
          </a:xfrm>
          <a:prstGeom prst="rect">
            <a:avLst/>
          </a:prstGeom>
        </p:spPr>
        <p:txBody>
          <a:bodyPr wrap="square">
            <a:spAutoFit/>
          </a:bodyPr>
          <a:lstStyle/>
          <a:p>
            <a:endParaRPr lang="en-US" b="1" dirty="0"/>
          </a:p>
        </p:txBody>
      </p:sp>
      <p:sp>
        <p:nvSpPr>
          <p:cNvPr id="6" name="Rectangle 5"/>
          <p:cNvSpPr/>
          <p:nvPr/>
        </p:nvSpPr>
        <p:spPr>
          <a:xfrm>
            <a:off x="837951" y="5127596"/>
            <a:ext cx="7468095" cy="1384995"/>
          </a:xfrm>
          <a:prstGeom prst="rect">
            <a:avLst/>
          </a:prstGeom>
        </p:spPr>
        <p:txBody>
          <a:bodyPr wrap="square">
            <a:spAutoFit/>
          </a:bodyPr>
          <a:lstStyle/>
          <a:p>
            <a:pPr algn="ctr"/>
            <a:endParaRPr lang="en-US" sz="2000" dirty="0"/>
          </a:p>
          <a:p>
            <a:pPr algn="ctr">
              <a:defRPr/>
            </a:pPr>
            <a:r>
              <a:rPr lang="en-US" sz="2000" b="1" dirty="0"/>
              <a:t>Work is done under the project:</a:t>
            </a:r>
          </a:p>
          <a:p>
            <a:pPr algn="ctr">
              <a:defRPr/>
            </a:pPr>
            <a:endParaRPr lang="en-US" sz="2000" b="1" dirty="0"/>
          </a:p>
          <a:p>
            <a:pPr algn="ctr">
              <a:defRPr/>
            </a:pPr>
            <a:r>
              <a:rPr lang="en-US" sz="2400" b="1" dirty="0"/>
              <a:t> DAE-BRNS Project Ref. No. :36(4)/14/40/2015/36007 </a:t>
            </a:r>
          </a:p>
        </p:txBody>
      </p:sp>
    </p:spTree>
    <p:extLst>
      <p:ext uri="{BB962C8B-B14F-4D97-AF65-F5344CB8AC3E}">
        <p14:creationId xmlns:p14="http://schemas.microsoft.com/office/powerpoint/2010/main" val="17171132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50442" y="234593"/>
            <a:ext cx="7886700" cy="1325563"/>
          </a:xfrm>
        </p:spPr>
        <p:txBody>
          <a:bodyPr/>
          <a:lstStyle/>
          <a:p>
            <a:r>
              <a:rPr lang="en-US" dirty="0"/>
              <a:t>Presentation Layout</a:t>
            </a:r>
          </a:p>
        </p:txBody>
      </p:sp>
      <p:sp>
        <p:nvSpPr>
          <p:cNvPr id="3" name="Content Placeholder 2"/>
          <p:cNvSpPr>
            <a:spLocks noGrp="1"/>
          </p:cNvSpPr>
          <p:nvPr>
            <p:ph idx="1"/>
          </p:nvPr>
        </p:nvSpPr>
        <p:spPr>
          <a:xfrm>
            <a:off x="1006076" y="1560156"/>
            <a:ext cx="8030397" cy="4592997"/>
          </a:xfrm>
        </p:spPr>
        <p:txBody>
          <a:bodyPr>
            <a:normAutofit fontScale="85000" lnSpcReduction="20000"/>
          </a:bodyPr>
          <a:lstStyle/>
          <a:p>
            <a:r>
              <a:rPr lang="en-US" b="1" dirty="0"/>
              <a:t>Monte Carlo Method</a:t>
            </a:r>
          </a:p>
          <a:p>
            <a:pPr marL="0" indent="0">
              <a:buNone/>
            </a:pPr>
            <a:r>
              <a:rPr lang="en-US" b="1" dirty="0"/>
              <a:t>         What is Monte Carlo Method</a:t>
            </a:r>
          </a:p>
          <a:p>
            <a:pPr marL="0" indent="0">
              <a:buNone/>
            </a:pPr>
            <a:r>
              <a:rPr lang="en-US" b="1" dirty="0"/>
              <a:t>         Various Applications</a:t>
            </a:r>
          </a:p>
          <a:p>
            <a:pPr marL="0" indent="0">
              <a:buNone/>
            </a:pPr>
            <a:r>
              <a:rPr lang="en-US" b="1" dirty="0"/>
              <a:t>         Estimation of Finite integral</a:t>
            </a:r>
          </a:p>
          <a:p>
            <a:pPr marL="0" indent="0">
              <a:buNone/>
            </a:pPr>
            <a:r>
              <a:rPr lang="en-US" b="1" dirty="0"/>
              <a:t>         Estimation of ‘</a:t>
            </a:r>
            <a:r>
              <a:rPr lang="el-GR" b="1" dirty="0"/>
              <a:t>π</a:t>
            </a:r>
            <a:r>
              <a:rPr lang="en-US" b="1" dirty="0"/>
              <a:t>’ with Buffon’s needle  experiment</a:t>
            </a:r>
          </a:p>
          <a:p>
            <a:pPr marL="0" indent="0">
              <a:buNone/>
            </a:pPr>
            <a:r>
              <a:rPr lang="en-US" b="1" dirty="0"/>
              <a:t>         Basic elements</a:t>
            </a:r>
          </a:p>
          <a:p>
            <a:r>
              <a:rPr lang="en-US" b="1" dirty="0"/>
              <a:t>Pseudo Random number generator</a:t>
            </a:r>
          </a:p>
          <a:p>
            <a:r>
              <a:rPr lang="en-US" b="1" dirty="0"/>
              <a:t>Dynamic Allocation</a:t>
            </a:r>
          </a:p>
          <a:p>
            <a:r>
              <a:rPr lang="en-US" b="1" dirty="0"/>
              <a:t>Unionized energy Grid </a:t>
            </a:r>
          </a:p>
          <a:p>
            <a:r>
              <a:rPr lang="en-US" b="1" dirty="0"/>
              <a:t>Searching Algorithms</a:t>
            </a:r>
          </a:p>
          <a:p>
            <a:r>
              <a:rPr lang="en-US" b="1" dirty="0"/>
              <a:t>Conclusions</a:t>
            </a:r>
          </a:p>
          <a:p>
            <a:r>
              <a:rPr lang="en-US" b="1" dirty="0"/>
              <a:t>References</a:t>
            </a:r>
          </a:p>
        </p:txBody>
      </p:sp>
      <p:sp>
        <p:nvSpPr>
          <p:cNvPr id="4" name="Slide Number Placeholder 3"/>
          <p:cNvSpPr>
            <a:spLocks noGrp="1"/>
          </p:cNvSpPr>
          <p:nvPr>
            <p:ph type="sldNum" sz="quarter" idx="12"/>
          </p:nvPr>
        </p:nvSpPr>
        <p:spPr/>
        <p:txBody>
          <a:bodyPr/>
          <a:lstStyle/>
          <a:p>
            <a:fld id="{69D1AC30-C8F1-4E46-9D07-0E47F1D1D790}" type="slidenum">
              <a:rPr lang="en-US" smtClean="0"/>
              <a:t>2</a:t>
            </a:fld>
            <a:endParaRPr lang="en-US" dirty="0"/>
          </a:p>
        </p:txBody>
      </p:sp>
    </p:spTree>
    <p:extLst>
      <p:ext uri="{BB962C8B-B14F-4D97-AF65-F5344CB8AC3E}">
        <p14:creationId xmlns:p14="http://schemas.microsoft.com/office/powerpoint/2010/main" val="283428815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365127"/>
            <a:ext cx="7886700" cy="735012"/>
          </a:xfrm>
        </p:spPr>
        <p:txBody>
          <a:bodyPr/>
          <a:lstStyle/>
          <a:p>
            <a:r>
              <a:rPr lang="en-US" dirty="0"/>
              <a:t>Monte-Carlo Method</a:t>
            </a:r>
          </a:p>
        </p:txBody>
      </p:sp>
      <p:sp>
        <p:nvSpPr>
          <p:cNvPr id="5" name="TextBox 4"/>
          <p:cNvSpPr txBox="1"/>
          <p:nvPr/>
        </p:nvSpPr>
        <p:spPr>
          <a:xfrm>
            <a:off x="457201" y="1100141"/>
            <a:ext cx="4380271" cy="461665"/>
          </a:xfrm>
          <a:prstGeom prst="rect">
            <a:avLst/>
          </a:prstGeom>
          <a:noFill/>
        </p:spPr>
        <p:txBody>
          <a:bodyPr wrap="square" rtlCol="0">
            <a:spAutoFit/>
          </a:bodyPr>
          <a:lstStyle/>
          <a:p>
            <a:r>
              <a:rPr lang="en-US" sz="2400" b="1" i="1" dirty="0">
                <a:solidFill>
                  <a:srgbClr val="C00000"/>
                </a:solidFill>
              </a:rPr>
              <a:t>What is Monte-Carlo Method</a:t>
            </a:r>
          </a:p>
        </p:txBody>
      </p:sp>
      <p:sp>
        <p:nvSpPr>
          <p:cNvPr id="3" name="Rectangle 2"/>
          <p:cNvSpPr/>
          <p:nvPr/>
        </p:nvSpPr>
        <p:spPr>
          <a:xfrm>
            <a:off x="457201" y="1917643"/>
            <a:ext cx="8058151" cy="1569660"/>
          </a:xfrm>
          <a:prstGeom prst="rect">
            <a:avLst/>
          </a:prstGeom>
        </p:spPr>
        <p:txBody>
          <a:bodyPr wrap="square">
            <a:spAutoFit/>
          </a:bodyPr>
          <a:lstStyle/>
          <a:p>
            <a:r>
              <a:rPr lang="en-US" sz="2400" dirty="0">
                <a:solidFill>
                  <a:srgbClr val="00000A"/>
                </a:solidFill>
                <a:latin typeface="Calibri" panose="020F0502020204030204" pitchFamily="34" charset="0"/>
                <a:ea typeface="Calibri" panose="020F0502020204030204" pitchFamily="34" charset="0"/>
              </a:rPr>
              <a:t>Monte Carlo methods are a class of computational algorithms </a:t>
            </a:r>
            <a:r>
              <a:rPr lang="en-US" sz="2400" dirty="0"/>
              <a:t>for simulating the behavior of various physical and mathematical systems</a:t>
            </a:r>
            <a:r>
              <a:rPr lang="en-US" sz="2000" dirty="0"/>
              <a:t>, </a:t>
            </a:r>
            <a:r>
              <a:rPr lang="en-US" sz="2400" dirty="0"/>
              <a:t>in which observations are randomly generated from the model.</a:t>
            </a:r>
          </a:p>
        </p:txBody>
      </p:sp>
      <p:sp>
        <p:nvSpPr>
          <p:cNvPr id="15" name="Rectangle 14"/>
          <p:cNvSpPr/>
          <p:nvPr/>
        </p:nvSpPr>
        <p:spPr>
          <a:xfrm>
            <a:off x="-42650" y="4543264"/>
            <a:ext cx="8386551" cy="1089529"/>
          </a:xfrm>
          <a:prstGeom prst="rect">
            <a:avLst/>
          </a:prstGeom>
        </p:spPr>
        <p:txBody>
          <a:bodyPr wrap="square">
            <a:spAutoFit/>
          </a:bodyPr>
          <a:lstStyle/>
          <a:p>
            <a:pPr lvl="1">
              <a:lnSpc>
                <a:spcPct val="90000"/>
              </a:lnSpc>
              <a:buClr>
                <a:schemeClr val="tx1"/>
              </a:buClr>
              <a:defRPr/>
            </a:pPr>
            <a:r>
              <a:rPr lang="en-US" sz="2400" dirty="0"/>
              <a:t>In  1777s  : Estimation of Pi  - Buffon</a:t>
            </a:r>
          </a:p>
          <a:p>
            <a:pPr lvl="1">
              <a:lnSpc>
                <a:spcPct val="90000"/>
              </a:lnSpc>
              <a:buClr>
                <a:schemeClr val="tx1"/>
              </a:buClr>
              <a:defRPr/>
            </a:pPr>
            <a:r>
              <a:rPr lang="en-US" sz="2400" dirty="0"/>
              <a:t>In  1940s  : Named as Monte Carlo by </a:t>
            </a:r>
            <a:r>
              <a:rPr lang="en-US" sz="2400" dirty="0" err="1"/>
              <a:t>Enricho</a:t>
            </a:r>
            <a:r>
              <a:rPr lang="en-US" sz="2400" dirty="0"/>
              <a:t> Fermi,</a:t>
            </a:r>
          </a:p>
          <a:p>
            <a:pPr lvl="1">
              <a:lnSpc>
                <a:spcPct val="90000"/>
              </a:lnSpc>
              <a:buClr>
                <a:schemeClr val="tx1"/>
              </a:buClr>
              <a:defRPr/>
            </a:pPr>
            <a:r>
              <a:rPr lang="en-US" sz="2400" dirty="0"/>
              <a:t>                    Stan </a:t>
            </a:r>
            <a:r>
              <a:rPr lang="en-US" sz="2400" dirty="0" err="1"/>
              <a:t>Ulam</a:t>
            </a:r>
            <a:r>
              <a:rPr lang="en-US" sz="2400" dirty="0"/>
              <a:t> and Van Neumann. </a:t>
            </a:r>
          </a:p>
        </p:txBody>
      </p:sp>
      <p:sp>
        <p:nvSpPr>
          <p:cNvPr id="4" name="Slide Number Placeholder 3"/>
          <p:cNvSpPr>
            <a:spLocks noGrp="1"/>
          </p:cNvSpPr>
          <p:nvPr>
            <p:ph type="sldNum" sz="quarter" idx="12"/>
          </p:nvPr>
        </p:nvSpPr>
        <p:spPr/>
        <p:txBody>
          <a:bodyPr/>
          <a:lstStyle/>
          <a:p>
            <a:r>
              <a:rPr lang="en-US" dirty="0"/>
              <a:t>3</a:t>
            </a:r>
          </a:p>
        </p:txBody>
      </p:sp>
      <p:sp>
        <p:nvSpPr>
          <p:cNvPr id="7" name="Rectangle 6"/>
          <p:cNvSpPr/>
          <p:nvPr/>
        </p:nvSpPr>
        <p:spPr>
          <a:xfrm>
            <a:off x="457199" y="3904520"/>
            <a:ext cx="3778624" cy="405002"/>
          </a:xfrm>
          <a:prstGeom prst="rect">
            <a:avLst/>
          </a:prstGeom>
        </p:spPr>
        <p:style>
          <a:lnRef idx="1">
            <a:schemeClr val="accent2"/>
          </a:lnRef>
          <a:fillRef idx="2">
            <a:schemeClr val="accent2"/>
          </a:fillRef>
          <a:effectRef idx="1">
            <a:schemeClr val="accent2"/>
          </a:effectRef>
          <a:fontRef idx="minor">
            <a:schemeClr val="dk1"/>
          </a:fontRef>
        </p:style>
        <p:txBody>
          <a:bodyPr rtlCol="0" anchor="ctr"/>
          <a:lstStyle/>
          <a:p>
            <a:pPr algn="ctr"/>
            <a:r>
              <a:rPr lang="en-US" sz="2400" b="1" dirty="0"/>
              <a:t>History</a:t>
            </a:r>
          </a:p>
        </p:txBody>
      </p:sp>
    </p:spTree>
    <p:extLst>
      <p:ext uri="{BB962C8B-B14F-4D97-AF65-F5344CB8AC3E}">
        <p14:creationId xmlns:p14="http://schemas.microsoft.com/office/powerpoint/2010/main" val="1066479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a:spLocks noGrp="1"/>
          </p:cNvSpPr>
          <p:nvPr>
            <p:ph type="title"/>
          </p:nvPr>
        </p:nvSpPr>
        <p:spPr>
          <a:xfrm>
            <a:off x="457199" y="188542"/>
            <a:ext cx="7886700" cy="735012"/>
          </a:xfrm>
        </p:spPr>
        <p:txBody>
          <a:bodyPr/>
          <a:lstStyle/>
          <a:p>
            <a:r>
              <a:rPr lang="en-US" dirty="0"/>
              <a:t>Monte-Carlo Method</a:t>
            </a:r>
          </a:p>
        </p:txBody>
      </p:sp>
      <p:sp>
        <p:nvSpPr>
          <p:cNvPr id="5" name="TextBox 4"/>
          <p:cNvSpPr txBox="1"/>
          <p:nvPr/>
        </p:nvSpPr>
        <p:spPr>
          <a:xfrm>
            <a:off x="457201" y="847995"/>
            <a:ext cx="4953001" cy="461665"/>
          </a:xfrm>
          <a:prstGeom prst="rect">
            <a:avLst/>
          </a:prstGeom>
          <a:noFill/>
        </p:spPr>
        <p:txBody>
          <a:bodyPr wrap="square" rtlCol="0">
            <a:spAutoFit/>
          </a:bodyPr>
          <a:lstStyle/>
          <a:p>
            <a:r>
              <a:rPr lang="en-US" sz="2400" b="1" i="1" dirty="0">
                <a:solidFill>
                  <a:srgbClr val="C00000"/>
                </a:solidFill>
              </a:rPr>
              <a:t>Applications of Monte-Carlo Method</a:t>
            </a:r>
          </a:p>
        </p:txBody>
      </p:sp>
      <p:sp>
        <p:nvSpPr>
          <p:cNvPr id="7" name="Rectangle 6"/>
          <p:cNvSpPr/>
          <p:nvPr/>
        </p:nvSpPr>
        <p:spPr>
          <a:xfrm>
            <a:off x="457201" y="1398950"/>
            <a:ext cx="8482085" cy="1200329"/>
          </a:xfrm>
          <a:prstGeom prst="rect">
            <a:avLst/>
          </a:prstGeom>
        </p:spPr>
        <p:txBody>
          <a:bodyPr wrap="square">
            <a:spAutoFit/>
          </a:bodyPr>
          <a:lstStyle/>
          <a:p>
            <a:r>
              <a:rPr lang="en-US" sz="2400" dirty="0"/>
              <a:t>This method is used for solving problems in many branches of science, they are :</a:t>
            </a:r>
          </a:p>
          <a:p>
            <a:r>
              <a:rPr lang="en-US" sz="2400" dirty="0"/>
              <a:t> </a:t>
            </a: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88056" y="2483821"/>
            <a:ext cx="2964844" cy="1694526"/>
          </a:xfrm>
          <a:prstGeom prst="rect">
            <a:avLst/>
          </a:prstGeom>
          <a:ln>
            <a:solidFill>
              <a:schemeClr val="tx1"/>
            </a:solidFill>
          </a:ln>
        </p:spPr>
      </p:pic>
      <p:sp>
        <p:nvSpPr>
          <p:cNvPr id="8" name="Rectangle 7"/>
          <p:cNvSpPr/>
          <p:nvPr/>
        </p:nvSpPr>
        <p:spPr>
          <a:xfrm>
            <a:off x="1588055" y="4170267"/>
            <a:ext cx="3055260" cy="369332"/>
          </a:xfrm>
          <a:prstGeom prst="rect">
            <a:avLst/>
          </a:prstGeom>
        </p:spPr>
        <p:txBody>
          <a:bodyPr wrap="none">
            <a:spAutoFit/>
          </a:bodyPr>
          <a:lstStyle/>
          <a:p>
            <a:r>
              <a:rPr lang="en-US" b="1" dirty="0"/>
              <a:t>Radiation transport problems </a:t>
            </a:r>
          </a:p>
        </p:txBody>
      </p:sp>
      <p:pic>
        <p:nvPicPr>
          <p:cNvPr id="9" name="Picture 8"/>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312395" y="4758421"/>
            <a:ext cx="2551325" cy="1736873"/>
          </a:xfrm>
          <a:prstGeom prst="rect">
            <a:avLst/>
          </a:prstGeom>
          <a:ln>
            <a:solidFill>
              <a:schemeClr val="tx1"/>
            </a:solidFill>
          </a:ln>
        </p:spPr>
      </p:pic>
      <p:sp>
        <p:nvSpPr>
          <p:cNvPr id="10" name="Rectangle 9"/>
          <p:cNvSpPr/>
          <p:nvPr/>
        </p:nvSpPr>
        <p:spPr>
          <a:xfrm>
            <a:off x="888275" y="6370147"/>
            <a:ext cx="1411605" cy="464871"/>
          </a:xfrm>
          <a:prstGeom prst="rect">
            <a:avLst/>
          </a:prstGeom>
        </p:spPr>
        <p:txBody>
          <a:bodyPr wrap="none">
            <a:spAutoFit/>
          </a:bodyPr>
          <a:lstStyle/>
          <a:p>
            <a:pPr>
              <a:lnSpc>
                <a:spcPct val="150000"/>
              </a:lnSpc>
            </a:pPr>
            <a:r>
              <a:rPr lang="en-US" b="1" dirty="0"/>
              <a:t>  Traffic flow </a:t>
            </a:r>
          </a:p>
        </p:txBody>
      </p:sp>
      <p:pic>
        <p:nvPicPr>
          <p:cNvPr id="11" name="Picture 10"/>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788601" y="4687925"/>
            <a:ext cx="2028942" cy="1778863"/>
          </a:xfrm>
          <a:prstGeom prst="rect">
            <a:avLst/>
          </a:prstGeom>
          <a:ln>
            <a:solidFill>
              <a:schemeClr val="tx1"/>
            </a:solidFill>
          </a:ln>
        </p:spPr>
      </p:pic>
      <p:sp>
        <p:nvSpPr>
          <p:cNvPr id="12" name="Rectangle 11"/>
          <p:cNvSpPr/>
          <p:nvPr/>
        </p:nvSpPr>
        <p:spPr>
          <a:xfrm>
            <a:off x="6788601" y="6340634"/>
            <a:ext cx="1896288" cy="464871"/>
          </a:xfrm>
          <a:prstGeom prst="rect">
            <a:avLst/>
          </a:prstGeom>
        </p:spPr>
        <p:txBody>
          <a:bodyPr wrap="none">
            <a:spAutoFit/>
          </a:bodyPr>
          <a:lstStyle/>
          <a:p>
            <a:pPr>
              <a:lnSpc>
                <a:spcPct val="150000"/>
              </a:lnSpc>
            </a:pPr>
            <a:r>
              <a:rPr lang="en-US" b="1" dirty="0"/>
              <a:t>Radiation therapy</a:t>
            </a:r>
          </a:p>
        </p:txBody>
      </p:sp>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20663" y="4716431"/>
            <a:ext cx="3125394" cy="1778863"/>
          </a:xfrm>
          <a:prstGeom prst="rect">
            <a:avLst/>
          </a:prstGeom>
          <a:ln>
            <a:solidFill>
              <a:schemeClr val="tx1"/>
            </a:solidFill>
          </a:ln>
        </p:spPr>
      </p:pic>
      <p:pic>
        <p:nvPicPr>
          <p:cNvPr id="14" name="Picture 13"/>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897318" y="2509269"/>
            <a:ext cx="3041044" cy="1742719"/>
          </a:xfrm>
          <a:prstGeom prst="rect">
            <a:avLst/>
          </a:prstGeom>
          <a:ln>
            <a:solidFill>
              <a:schemeClr val="tx1"/>
            </a:solidFill>
          </a:ln>
        </p:spPr>
      </p:pic>
      <p:sp>
        <p:nvSpPr>
          <p:cNvPr id="15" name="Rectangle 14"/>
          <p:cNvSpPr/>
          <p:nvPr/>
        </p:nvSpPr>
        <p:spPr>
          <a:xfrm>
            <a:off x="5787701" y="4211505"/>
            <a:ext cx="1260281" cy="369332"/>
          </a:xfrm>
          <a:prstGeom prst="rect">
            <a:avLst/>
          </a:prstGeom>
        </p:spPr>
        <p:txBody>
          <a:bodyPr wrap="none">
            <a:spAutoFit/>
          </a:bodyPr>
          <a:lstStyle/>
          <a:p>
            <a:r>
              <a:rPr lang="en-US" b="1" dirty="0"/>
              <a:t>VLSI design</a:t>
            </a:r>
          </a:p>
        </p:txBody>
      </p:sp>
      <p:sp>
        <p:nvSpPr>
          <p:cNvPr id="16" name="Rectangle 15"/>
          <p:cNvSpPr/>
          <p:nvPr/>
        </p:nvSpPr>
        <p:spPr>
          <a:xfrm>
            <a:off x="3320665" y="6383594"/>
            <a:ext cx="3184013" cy="464871"/>
          </a:xfrm>
          <a:prstGeom prst="rect">
            <a:avLst/>
          </a:prstGeom>
        </p:spPr>
        <p:txBody>
          <a:bodyPr wrap="none">
            <a:spAutoFit/>
          </a:bodyPr>
          <a:lstStyle/>
          <a:p>
            <a:pPr>
              <a:lnSpc>
                <a:spcPct val="150000"/>
              </a:lnSpc>
            </a:pPr>
            <a:r>
              <a:rPr lang="en-US" b="1" dirty="0"/>
              <a:t>Dow-Jones weather forecasting</a:t>
            </a:r>
          </a:p>
        </p:txBody>
      </p:sp>
    </p:spTree>
    <p:extLst>
      <p:ext uri="{BB962C8B-B14F-4D97-AF65-F5344CB8AC3E}">
        <p14:creationId xmlns:p14="http://schemas.microsoft.com/office/powerpoint/2010/main" val="248232118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Rectangle 10"/>
              <p:cNvSpPr/>
              <p:nvPr/>
            </p:nvSpPr>
            <p:spPr>
              <a:xfrm>
                <a:off x="854540" y="2838919"/>
                <a:ext cx="7092020" cy="844014"/>
              </a:xfrm>
              <a:prstGeom prst="rect">
                <a:avLst/>
              </a:prstGeom>
              <a:ln>
                <a:solidFill>
                  <a:schemeClr val="accent1"/>
                </a:solidFill>
              </a:ln>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undOvr"/>
                          <m:ctrlPr>
                            <a:rPr lang="en-US" sz="1600" b="1" i="1">
                              <a:latin typeface="Cambria Math" panose="02040503050406030204" pitchFamily="18" charset="0"/>
                            </a:rPr>
                          </m:ctrlPr>
                        </m:naryPr>
                        <m:sub>
                          <m:r>
                            <m:rPr>
                              <m:brk m:alnAt="24"/>
                            </m:rPr>
                            <a:rPr lang="en-US" sz="1600" b="1" i="1">
                              <a:latin typeface="Cambria Math" panose="02040503050406030204" pitchFamily="18" charset="0"/>
                            </a:rPr>
                            <m:t>𝒂</m:t>
                          </m:r>
                        </m:sub>
                        <m:sup>
                          <m:r>
                            <a:rPr lang="en-US" sz="1600" b="1" i="1">
                              <a:latin typeface="Cambria Math" panose="02040503050406030204" pitchFamily="18" charset="0"/>
                            </a:rPr>
                            <m:t>𝒃</m:t>
                          </m:r>
                        </m:sup>
                        <m:e>
                          <m:r>
                            <a:rPr lang="en-US" sz="1600" b="1" i="1">
                              <a:latin typeface="Cambria Math" panose="02040503050406030204" pitchFamily="18" charset="0"/>
                            </a:rPr>
                            <m:t>𝒇</m:t>
                          </m:r>
                          <m:d>
                            <m:dPr>
                              <m:ctrlPr>
                                <a:rPr lang="en-US" sz="1600" b="1" i="1">
                                  <a:latin typeface="Cambria Math" panose="02040503050406030204" pitchFamily="18" charset="0"/>
                                </a:rPr>
                              </m:ctrlPr>
                            </m:dPr>
                            <m:e>
                              <m:r>
                                <a:rPr lang="en-US" sz="1600" b="1" i="1">
                                  <a:latin typeface="Cambria Math" panose="02040503050406030204" pitchFamily="18" charset="0"/>
                                </a:rPr>
                                <m:t>𝒙</m:t>
                              </m:r>
                            </m:e>
                          </m:d>
                          <m:r>
                            <a:rPr lang="en-US" sz="1600" b="1" i="1">
                              <a:latin typeface="Cambria Math" panose="02040503050406030204" pitchFamily="18" charset="0"/>
                            </a:rPr>
                            <m:t> </m:t>
                          </m:r>
                          <m:r>
                            <a:rPr lang="en-US" sz="1600" b="1" i="1">
                              <a:latin typeface="Cambria Math" panose="02040503050406030204" pitchFamily="18" charset="0"/>
                            </a:rPr>
                            <m:t>𝒅𝒙</m:t>
                          </m:r>
                          <m:r>
                            <a:rPr lang="en-US" sz="1600" b="1" i="1">
                              <a:latin typeface="Cambria Math" panose="02040503050406030204" pitchFamily="18" charset="0"/>
                            </a:rPr>
                            <m:t> ≈ </m:t>
                          </m:r>
                          <m:func>
                            <m:funcPr>
                              <m:ctrlPr>
                                <a:rPr lang="en-US" sz="1600" b="1" i="1">
                                  <a:latin typeface="Cambria Math" panose="02040503050406030204" pitchFamily="18" charset="0"/>
                                  <a:ea typeface="Cambria Math" panose="02040503050406030204" pitchFamily="18" charset="0"/>
                                </a:rPr>
                              </m:ctrlPr>
                            </m:funcPr>
                            <m:fName>
                              <m:r>
                                <a:rPr lang="en-US" sz="1600" b="1">
                                  <a:latin typeface="Cambria Math" panose="02040503050406030204" pitchFamily="18" charset="0"/>
                                  <a:ea typeface="Cambria Math" panose="02040503050406030204" pitchFamily="18" charset="0"/>
                                </a:rPr>
                                <m:t>𝐦𝐚𝐱</m:t>
                              </m:r>
                            </m:fName>
                            <m:e>
                              <m:d>
                                <m:dPr>
                                  <m:ctrlPr>
                                    <a:rPr lang="en-US" sz="1600" b="1" i="1">
                                      <a:latin typeface="Cambria Math" panose="02040503050406030204" pitchFamily="18" charset="0"/>
                                      <a:ea typeface="Cambria Math" panose="02040503050406030204" pitchFamily="18" charset="0"/>
                                    </a:rPr>
                                  </m:ctrlPr>
                                </m:dPr>
                                <m:e>
                                  <m:r>
                                    <a:rPr lang="en-US" sz="1600" b="1" i="1">
                                      <a:latin typeface="Cambria Math" panose="02040503050406030204" pitchFamily="18" charset="0"/>
                                      <a:ea typeface="Cambria Math" panose="02040503050406030204" pitchFamily="18" charset="0"/>
                                    </a:rPr>
                                    <m:t>𝒇</m:t>
                                  </m:r>
                                  <m:d>
                                    <m:dPr>
                                      <m:ctrlPr>
                                        <a:rPr lang="en-US" sz="1600" b="1" i="1">
                                          <a:latin typeface="Cambria Math" panose="02040503050406030204" pitchFamily="18" charset="0"/>
                                          <a:ea typeface="Cambria Math" panose="02040503050406030204" pitchFamily="18" charset="0"/>
                                        </a:rPr>
                                      </m:ctrlPr>
                                    </m:dPr>
                                    <m:e>
                                      <m:r>
                                        <a:rPr lang="en-US" sz="1600" b="1" i="1">
                                          <a:latin typeface="Cambria Math" panose="02040503050406030204" pitchFamily="18" charset="0"/>
                                          <a:ea typeface="Cambria Math" panose="02040503050406030204" pitchFamily="18" charset="0"/>
                                        </a:rPr>
                                        <m:t>𝒙</m:t>
                                      </m:r>
                                    </m:e>
                                  </m:d>
                                </m:e>
                              </m:d>
                            </m:e>
                          </m:func>
                          <m:r>
                            <a:rPr lang="en-US" sz="1600" b="1" i="1">
                              <a:latin typeface="Cambria Math" panose="02040503050406030204" pitchFamily="18" charset="0"/>
                              <a:ea typeface="Cambria Math" panose="02040503050406030204" pitchFamily="18" charset="0"/>
                            </a:rPr>
                            <m:t> </m:t>
                          </m:r>
                          <m:d>
                            <m:dPr>
                              <m:ctrlPr>
                                <a:rPr lang="en-US" sz="1600" b="1" i="1">
                                  <a:latin typeface="Cambria Math" panose="02040503050406030204" pitchFamily="18" charset="0"/>
                                  <a:ea typeface="Cambria Math" panose="02040503050406030204" pitchFamily="18" charset="0"/>
                                </a:rPr>
                              </m:ctrlPr>
                            </m:dPr>
                            <m:e>
                              <m:r>
                                <a:rPr lang="en-US" sz="1600" b="1" i="1">
                                  <a:latin typeface="Cambria Math" panose="02040503050406030204" pitchFamily="18" charset="0"/>
                                  <a:ea typeface="Cambria Math" panose="02040503050406030204" pitchFamily="18" charset="0"/>
                                </a:rPr>
                                <m:t>𝒃</m:t>
                              </m:r>
                              <m:r>
                                <a:rPr lang="en-US" sz="1600" b="1" i="1">
                                  <a:latin typeface="Cambria Math" panose="02040503050406030204" pitchFamily="18" charset="0"/>
                                  <a:ea typeface="Cambria Math" panose="02040503050406030204" pitchFamily="18" charset="0"/>
                                </a:rPr>
                                <m:t>−</m:t>
                              </m:r>
                              <m:r>
                                <a:rPr lang="en-US" sz="1600" b="1" i="1">
                                  <a:latin typeface="Cambria Math" panose="02040503050406030204" pitchFamily="18" charset="0"/>
                                  <a:ea typeface="Cambria Math" panose="02040503050406030204" pitchFamily="18" charset="0"/>
                                </a:rPr>
                                <m:t>𝒂</m:t>
                              </m:r>
                              <m:r>
                                <a:rPr lang="en-US" sz="1600" b="1" i="1">
                                  <a:latin typeface="Cambria Math" panose="02040503050406030204" pitchFamily="18" charset="0"/>
                                  <a:ea typeface="Cambria Math" panose="02040503050406030204" pitchFamily="18" charset="0"/>
                                </a:rPr>
                                <m:t> </m:t>
                              </m:r>
                            </m:e>
                          </m:d>
                          <m:r>
                            <a:rPr lang="en-US" sz="1600" b="1" i="1">
                              <a:latin typeface="Cambria Math" panose="02040503050406030204" pitchFamily="18" charset="0"/>
                              <a:ea typeface="Cambria Math" panose="02040503050406030204" pitchFamily="18" charset="0"/>
                            </a:rPr>
                            <m:t> </m:t>
                          </m:r>
                          <m:f>
                            <m:fPr>
                              <m:ctrlPr>
                                <a:rPr lang="en-US" sz="1600" b="1" i="1">
                                  <a:latin typeface="Cambria Math" panose="02040503050406030204" pitchFamily="18" charset="0"/>
                                  <a:ea typeface="Cambria Math" panose="02040503050406030204" pitchFamily="18" charset="0"/>
                                </a:rPr>
                              </m:ctrlPr>
                            </m:fPr>
                            <m:num>
                              <m:r>
                                <a:rPr lang="en-US" sz="1600" b="1" i="1">
                                  <a:latin typeface="Cambria Math" panose="02040503050406030204" pitchFamily="18" charset="0"/>
                                  <a:ea typeface="Cambria Math" panose="02040503050406030204" pitchFamily="18" charset="0"/>
                                </a:rPr>
                                <m:t>𝒇𝒓𝒂𝒄𝒕𝒊𝒐𝒏</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𝒐𝒇</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𝒑𝒐𝒊𝒏𝒕𝒔</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𝒖𝒏𝒅𝒆𝒓</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𝒕𝒉𝒆</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𝒍𝒊𝒏𝒆</m:t>
                              </m:r>
                              <m:r>
                                <a:rPr lang="en-US" sz="1600" b="1" i="1">
                                  <a:latin typeface="Cambria Math" panose="02040503050406030204" pitchFamily="18" charset="0"/>
                                  <a:ea typeface="Cambria Math" panose="02040503050406030204" pitchFamily="18" charset="0"/>
                                </a:rPr>
                                <m:t> </m:t>
                              </m:r>
                            </m:num>
                            <m:den>
                              <m:r>
                                <a:rPr lang="en-US" sz="1600" b="1" i="1">
                                  <a:latin typeface="Cambria Math" panose="02040503050406030204" pitchFamily="18" charset="0"/>
                                  <a:ea typeface="Cambria Math" panose="02040503050406030204" pitchFamily="18" charset="0"/>
                                </a:rPr>
                                <m:t>𝑻𝒐𝒕𝒂𝒍</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𝒏𝒖𝒎𝒃𝒆𝒓</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𝒐𝒇</m:t>
                              </m:r>
                              <m:r>
                                <a:rPr lang="en-US" sz="1600" b="1" i="1">
                                  <a:latin typeface="Cambria Math" panose="02040503050406030204" pitchFamily="18" charset="0"/>
                                  <a:ea typeface="Cambria Math" panose="02040503050406030204" pitchFamily="18" charset="0"/>
                                </a:rPr>
                                <m:t> </m:t>
                              </m:r>
                              <m:r>
                                <a:rPr lang="en-US" sz="1600" b="1" i="1">
                                  <a:latin typeface="Cambria Math" panose="02040503050406030204" pitchFamily="18" charset="0"/>
                                  <a:ea typeface="Cambria Math" panose="02040503050406030204" pitchFamily="18" charset="0"/>
                                </a:rPr>
                                <m:t>𝒑𝒐𝒊𝒏𝒕𝒔</m:t>
                              </m:r>
                              <m:r>
                                <a:rPr lang="en-US" sz="1600" b="1" i="1">
                                  <a:latin typeface="Cambria Math" panose="02040503050406030204" pitchFamily="18" charset="0"/>
                                  <a:ea typeface="Cambria Math" panose="02040503050406030204" pitchFamily="18" charset="0"/>
                                </a:rPr>
                                <m:t>      +</m:t>
                              </m:r>
                            </m:den>
                          </m:f>
                        </m:e>
                      </m:nary>
                    </m:oMath>
                  </m:oMathPara>
                </a14:m>
                <a:endParaRPr lang="en-US" sz="1600" dirty="0"/>
              </a:p>
            </p:txBody>
          </p:sp>
        </mc:Choice>
        <mc:Fallback>
          <p:sp>
            <p:nvSpPr>
              <p:cNvPr id="11" name="Rectangle 10"/>
              <p:cNvSpPr>
                <a:spLocks noRot="1" noChangeAspect="1" noMove="1" noResize="1" noEditPoints="1" noAdjustHandles="1" noChangeArrowheads="1" noChangeShapeType="1" noTextEdit="1"/>
              </p:cNvSpPr>
              <p:nvPr/>
            </p:nvSpPr>
            <p:spPr>
              <a:xfrm>
                <a:off x="854540" y="2838919"/>
                <a:ext cx="7092020" cy="844014"/>
              </a:xfrm>
              <a:prstGeom prst="rect">
                <a:avLst/>
              </a:prstGeom>
              <a:blipFill>
                <a:blip r:embed="rId3"/>
                <a:stretch>
                  <a:fillRect/>
                </a:stretch>
              </a:blipFill>
              <a:ln>
                <a:solidFill>
                  <a:schemeClr val="accent1"/>
                </a:solidFill>
              </a:ln>
            </p:spPr>
            <p:txBody>
              <a:bodyPr/>
              <a:lstStyle/>
              <a:p>
                <a:r>
                  <a:rPr lang="en-IN">
                    <a:noFill/>
                  </a:rPr>
                  <a:t> </a:t>
                </a:r>
              </a:p>
            </p:txBody>
          </p:sp>
        </mc:Fallback>
      </mc:AlternateContent>
      <p:sp>
        <p:nvSpPr>
          <p:cNvPr id="4" name="Title 1"/>
          <p:cNvSpPr txBox="1">
            <a:spLocks/>
          </p:cNvSpPr>
          <p:nvPr/>
        </p:nvSpPr>
        <p:spPr>
          <a:xfrm>
            <a:off x="457200" y="365127"/>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Monte-Carlo Method</a:t>
            </a:r>
          </a:p>
        </p:txBody>
      </p:sp>
      <p:sp>
        <p:nvSpPr>
          <p:cNvPr id="5" name="TextBox 4"/>
          <p:cNvSpPr txBox="1"/>
          <p:nvPr/>
        </p:nvSpPr>
        <p:spPr>
          <a:xfrm>
            <a:off x="457202" y="1100141"/>
            <a:ext cx="7886701" cy="769441"/>
          </a:xfrm>
          <a:prstGeom prst="rect">
            <a:avLst/>
          </a:prstGeom>
          <a:noFill/>
        </p:spPr>
        <p:txBody>
          <a:bodyPr wrap="square" rtlCol="0">
            <a:spAutoFit/>
          </a:bodyPr>
          <a:lstStyle/>
          <a:p>
            <a:r>
              <a:rPr lang="en-US" sz="2400" b="1" i="1" dirty="0">
                <a:solidFill>
                  <a:srgbClr val="C00000"/>
                </a:solidFill>
              </a:rPr>
              <a:t>Estimation of a finite Integral: Deterministic Method </a:t>
            </a:r>
          </a:p>
          <a:p>
            <a:endParaRPr lang="en-US" sz="2000" b="1" i="1" dirty="0">
              <a:solidFill>
                <a:srgbClr val="C00000"/>
              </a:solidFill>
            </a:endParaRPr>
          </a:p>
        </p:txBody>
      </p:sp>
      <p:sp>
        <p:nvSpPr>
          <p:cNvPr id="7" name="Oval 6"/>
          <p:cNvSpPr/>
          <p:nvPr/>
        </p:nvSpPr>
        <p:spPr>
          <a:xfrm>
            <a:off x="7621654" y="3075374"/>
            <a:ext cx="123750" cy="150125"/>
          </a:xfrm>
          <a:prstGeom prst="ellipse">
            <a:avLst/>
          </a:prstGeom>
          <a:solidFill>
            <a:srgbClr val="73A9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8" name="Oval 7"/>
          <p:cNvSpPr/>
          <p:nvPr/>
        </p:nvSpPr>
        <p:spPr>
          <a:xfrm>
            <a:off x="7021656" y="3345944"/>
            <a:ext cx="123751" cy="143689"/>
          </a:xfrm>
          <a:prstGeom prst="ellipse">
            <a:avLst/>
          </a:prstGeom>
          <a:solidFill>
            <a:srgbClr val="73A9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2" name="Oval 11"/>
          <p:cNvSpPr/>
          <p:nvPr/>
        </p:nvSpPr>
        <p:spPr>
          <a:xfrm>
            <a:off x="7377122" y="3339508"/>
            <a:ext cx="144140" cy="150125"/>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lide Number Placeholder 1"/>
          <p:cNvSpPr>
            <a:spLocks noGrp="1"/>
          </p:cNvSpPr>
          <p:nvPr>
            <p:ph type="sldNum" sz="quarter" idx="12"/>
          </p:nvPr>
        </p:nvSpPr>
        <p:spPr/>
        <p:txBody>
          <a:bodyPr/>
          <a:lstStyle/>
          <a:p>
            <a:fld id="{69D1AC30-C8F1-4E46-9D07-0E47F1D1D790}" type="slidenum">
              <a:rPr lang="en-US" smtClean="0"/>
              <a:t>5</a:t>
            </a:fld>
            <a:endParaRPr lang="en-US" dirty="0"/>
          </a:p>
        </p:txBody>
      </p:sp>
      <p:graphicFrame>
        <p:nvGraphicFramePr>
          <p:cNvPr id="13" name="Table 12"/>
          <p:cNvGraphicFramePr>
            <a:graphicFrameLocks noGrp="1"/>
          </p:cNvGraphicFramePr>
          <p:nvPr>
            <p:extLst>
              <p:ext uri="{D42A27DB-BD31-4B8C-83A1-F6EECF244321}">
                <p14:modId xmlns:p14="http://schemas.microsoft.com/office/powerpoint/2010/main" val="821732161"/>
              </p:ext>
            </p:extLst>
          </p:nvPr>
        </p:nvGraphicFramePr>
        <p:xfrm>
          <a:off x="4274623" y="4496436"/>
          <a:ext cx="4643587" cy="2225040"/>
        </p:xfrm>
        <a:graphic>
          <a:graphicData uri="http://schemas.openxmlformats.org/drawingml/2006/table">
            <a:tbl>
              <a:tblPr firstRow="1" bandRow="1">
                <a:tableStyleId>{9DCAF9ED-07DC-4A11-8D7F-57B35C25682E}</a:tableStyleId>
              </a:tblPr>
              <a:tblGrid>
                <a:gridCol w="1601952">
                  <a:extLst>
                    <a:ext uri="{9D8B030D-6E8A-4147-A177-3AD203B41FA5}">
                      <a16:colId xmlns:a16="http://schemas.microsoft.com/office/drawing/2014/main" val="20000"/>
                    </a:ext>
                  </a:extLst>
                </a:gridCol>
                <a:gridCol w="1764047">
                  <a:extLst>
                    <a:ext uri="{9D8B030D-6E8A-4147-A177-3AD203B41FA5}">
                      <a16:colId xmlns:a16="http://schemas.microsoft.com/office/drawing/2014/main" val="20001"/>
                    </a:ext>
                  </a:extLst>
                </a:gridCol>
                <a:gridCol w="1277588">
                  <a:extLst>
                    <a:ext uri="{9D8B030D-6E8A-4147-A177-3AD203B41FA5}">
                      <a16:colId xmlns:a16="http://schemas.microsoft.com/office/drawing/2014/main" val="20002"/>
                    </a:ext>
                  </a:extLst>
                </a:gridCol>
              </a:tblGrid>
              <a:tr h="633327">
                <a:tc>
                  <a:txBody>
                    <a:bodyPr/>
                    <a:lstStyle/>
                    <a:p>
                      <a:pPr algn="ctr"/>
                      <a:r>
                        <a:rPr lang="en-US" dirty="0"/>
                        <a:t>Number</a:t>
                      </a:r>
                      <a:r>
                        <a:rPr lang="en-US" baseline="0" dirty="0"/>
                        <a:t> of </a:t>
                      </a:r>
                      <a:r>
                        <a:rPr lang="en-US" dirty="0"/>
                        <a:t>trials</a:t>
                      </a:r>
                    </a:p>
                  </a:txBody>
                  <a:tcPr/>
                </a:tc>
                <a:tc>
                  <a:txBody>
                    <a:bodyPr/>
                    <a:lstStyle/>
                    <a:p>
                      <a:pPr algn="ctr"/>
                      <a:r>
                        <a:rPr lang="en-US" dirty="0"/>
                        <a:t>Points enclosed by the curve</a:t>
                      </a:r>
                    </a:p>
                  </a:txBody>
                  <a:tcPr/>
                </a:tc>
                <a:tc>
                  <a:txBody>
                    <a:bodyPr/>
                    <a:lstStyle/>
                    <a:p>
                      <a:pPr algn="ctr"/>
                      <a:r>
                        <a:rPr lang="en-US" dirty="0"/>
                        <a:t>Value</a:t>
                      </a:r>
                      <a:r>
                        <a:rPr lang="en-US" baseline="0" dirty="0"/>
                        <a:t> of the integral</a:t>
                      </a:r>
                      <a:endParaRPr lang="en-US" dirty="0"/>
                    </a:p>
                  </a:txBody>
                  <a:tcPr/>
                </a:tc>
                <a:extLst>
                  <a:ext uri="{0D108BD9-81ED-4DB2-BD59-A6C34878D82A}">
                    <a16:rowId xmlns:a16="http://schemas.microsoft.com/office/drawing/2014/main" val="10000"/>
                  </a:ext>
                </a:extLst>
              </a:tr>
              <a:tr h="370840">
                <a:tc>
                  <a:txBody>
                    <a:bodyPr/>
                    <a:lstStyle/>
                    <a:p>
                      <a:pPr algn="ctr"/>
                      <a:r>
                        <a:rPr lang="en-US" sz="2000" b="1" dirty="0"/>
                        <a:t>10</a:t>
                      </a:r>
                    </a:p>
                  </a:txBody>
                  <a:tcPr/>
                </a:tc>
                <a:tc>
                  <a:txBody>
                    <a:bodyPr/>
                    <a:lstStyle/>
                    <a:p>
                      <a:pPr algn="ctr"/>
                      <a:r>
                        <a:rPr lang="en-US" sz="2000" b="1" dirty="0"/>
                        <a:t>6</a:t>
                      </a:r>
                    </a:p>
                  </a:txBody>
                  <a:tcPr/>
                </a:tc>
                <a:tc>
                  <a:txBody>
                    <a:bodyPr/>
                    <a:lstStyle/>
                    <a:p>
                      <a:pPr algn="ctr"/>
                      <a:r>
                        <a:rPr lang="en-US" sz="2000" b="1" dirty="0"/>
                        <a:t>0.600</a:t>
                      </a:r>
                    </a:p>
                  </a:txBody>
                  <a:tcPr/>
                </a:tc>
                <a:extLst>
                  <a:ext uri="{0D108BD9-81ED-4DB2-BD59-A6C34878D82A}">
                    <a16:rowId xmlns:a16="http://schemas.microsoft.com/office/drawing/2014/main" val="10001"/>
                  </a:ext>
                </a:extLst>
              </a:tr>
              <a:tr h="370840">
                <a:tc>
                  <a:txBody>
                    <a:bodyPr/>
                    <a:lstStyle/>
                    <a:p>
                      <a:pPr algn="ctr"/>
                      <a:r>
                        <a:rPr lang="en-US" sz="2000" b="1" dirty="0"/>
                        <a:t>100</a:t>
                      </a:r>
                    </a:p>
                  </a:txBody>
                  <a:tcPr/>
                </a:tc>
                <a:tc>
                  <a:txBody>
                    <a:bodyPr/>
                    <a:lstStyle/>
                    <a:p>
                      <a:pPr algn="ctr"/>
                      <a:r>
                        <a:rPr lang="en-US" sz="2000" b="1" dirty="0"/>
                        <a:t>56</a:t>
                      </a:r>
                    </a:p>
                  </a:txBody>
                  <a:tcPr/>
                </a:tc>
                <a:tc>
                  <a:txBody>
                    <a:bodyPr/>
                    <a:lstStyle/>
                    <a:p>
                      <a:pPr algn="ctr"/>
                      <a:r>
                        <a:rPr lang="en-US" sz="2000" b="1" dirty="0"/>
                        <a:t>0.56</a:t>
                      </a:r>
                    </a:p>
                  </a:txBody>
                  <a:tcPr/>
                </a:tc>
                <a:extLst>
                  <a:ext uri="{0D108BD9-81ED-4DB2-BD59-A6C34878D82A}">
                    <a16:rowId xmlns:a16="http://schemas.microsoft.com/office/drawing/2014/main" val="10002"/>
                  </a:ext>
                </a:extLst>
              </a:tr>
              <a:tr h="370840">
                <a:tc>
                  <a:txBody>
                    <a:bodyPr/>
                    <a:lstStyle/>
                    <a:p>
                      <a:pPr algn="ctr"/>
                      <a:r>
                        <a:rPr lang="en-US" sz="2000" b="1" dirty="0"/>
                        <a:t>1000</a:t>
                      </a:r>
                    </a:p>
                  </a:txBody>
                  <a:tcPr/>
                </a:tc>
                <a:tc>
                  <a:txBody>
                    <a:bodyPr/>
                    <a:lstStyle/>
                    <a:p>
                      <a:pPr algn="ctr"/>
                      <a:r>
                        <a:rPr lang="en-US" sz="2000" b="1" dirty="0"/>
                        <a:t>497</a:t>
                      </a:r>
                    </a:p>
                  </a:txBody>
                  <a:tcPr/>
                </a:tc>
                <a:tc>
                  <a:txBody>
                    <a:bodyPr/>
                    <a:lstStyle/>
                    <a:p>
                      <a:pPr algn="ctr"/>
                      <a:r>
                        <a:rPr lang="en-US" sz="2000" b="1" dirty="0"/>
                        <a:t>0.497</a:t>
                      </a:r>
                    </a:p>
                  </a:txBody>
                  <a:tcPr/>
                </a:tc>
                <a:extLst>
                  <a:ext uri="{0D108BD9-81ED-4DB2-BD59-A6C34878D82A}">
                    <a16:rowId xmlns:a16="http://schemas.microsoft.com/office/drawing/2014/main" val="10003"/>
                  </a:ext>
                </a:extLst>
              </a:tr>
              <a:tr h="370840">
                <a:tc>
                  <a:txBody>
                    <a:bodyPr/>
                    <a:lstStyle/>
                    <a:p>
                      <a:pPr algn="ctr"/>
                      <a:r>
                        <a:rPr lang="en-US" sz="2000" b="1" dirty="0"/>
                        <a:t>10000</a:t>
                      </a:r>
                    </a:p>
                  </a:txBody>
                  <a:tcPr/>
                </a:tc>
                <a:tc>
                  <a:txBody>
                    <a:bodyPr/>
                    <a:lstStyle/>
                    <a:p>
                      <a:pPr algn="ctr"/>
                      <a:r>
                        <a:rPr lang="en-US" sz="2000" b="1" dirty="0"/>
                        <a:t>5001</a:t>
                      </a:r>
                    </a:p>
                  </a:txBody>
                  <a:tcPr/>
                </a:tc>
                <a:tc>
                  <a:txBody>
                    <a:bodyPr/>
                    <a:lstStyle/>
                    <a:p>
                      <a:pPr algn="ctr"/>
                      <a:r>
                        <a:rPr lang="en-US" sz="2000" b="1" dirty="0"/>
                        <a:t>0.5001</a:t>
                      </a:r>
                    </a:p>
                  </a:txBody>
                  <a:tcPr/>
                </a:tc>
                <a:extLst>
                  <a:ext uri="{0D108BD9-81ED-4DB2-BD59-A6C34878D82A}">
                    <a16:rowId xmlns:a16="http://schemas.microsoft.com/office/drawing/2014/main" val="10004"/>
                  </a:ext>
                </a:extLst>
              </a:tr>
            </a:tbl>
          </a:graphicData>
        </a:graphic>
      </p:graphicFrame>
      <p:sp>
        <p:nvSpPr>
          <p:cNvPr id="15" name="TextBox 14"/>
          <p:cNvSpPr txBox="1"/>
          <p:nvPr/>
        </p:nvSpPr>
        <p:spPr>
          <a:xfrm>
            <a:off x="131325" y="1566963"/>
            <a:ext cx="8862551" cy="1200329"/>
          </a:xfrm>
          <a:prstGeom prst="rect">
            <a:avLst/>
          </a:prstGeom>
          <a:noFill/>
        </p:spPr>
        <p:txBody>
          <a:bodyPr wrap="square" rtlCol="0">
            <a:spAutoFit/>
          </a:bodyPr>
          <a:lstStyle/>
          <a:p>
            <a:pPr marL="342900" indent="-342900">
              <a:buFont typeface="Arial" panose="020B0604020202020204" pitchFamily="34" charset="0"/>
              <a:buChar char="•"/>
            </a:pPr>
            <a:r>
              <a:rPr lang="en-US" sz="2400" i="1" dirty="0"/>
              <a:t>Deterministic system : In which the later states of the system are determined by the earlier ones.</a:t>
            </a:r>
          </a:p>
          <a:p>
            <a:pPr marL="342900" indent="-342900">
              <a:buFont typeface="Arial" panose="020B0604020202020204" pitchFamily="34" charset="0"/>
              <a:buChar char="•"/>
            </a:pPr>
            <a:r>
              <a:rPr lang="en-US" sz="2400" dirty="0"/>
              <a:t>This method enables artificial construction of a probabilistic model. </a:t>
            </a:r>
          </a:p>
        </p:txBody>
      </p:sp>
      <p:pic>
        <p:nvPicPr>
          <p:cNvPr id="9" name="Picture 8"/>
          <p:cNvPicPr>
            <a:picLocks noChangeAspect="1"/>
          </p:cNvPicPr>
          <p:nvPr/>
        </p:nvPicPr>
        <p:blipFill>
          <a:blip r:embed="rId4"/>
          <a:stretch>
            <a:fillRect/>
          </a:stretch>
        </p:blipFill>
        <p:spPr>
          <a:xfrm>
            <a:off x="173840" y="3879671"/>
            <a:ext cx="3899755" cy="2858204"/>
          </a:xfrm>
          <a:prstGeom prst="rect">
            <a:avLst/>
          </a:prstGeom>
        </p:spPr>
      </p:pic>
      <mc:AlternateContent xmlns:mc="http://schemas.openxmlformats.org/markup-compatibility/2006">
        <mc:Choice xmlns:a14="http://schemas.microsoft.com/office/drawing/2010/main" Requires="a14">
          <p:sp>
            <p:nvSpPr>
              <p:cNvPr id="10" name="TextBox 9"/>
              <p:cNvSpPr txBox="1"/>
              <p:nvPr/>
            </p:nvSpPr>
            <p:spPr>
              <a:xfrm>
                <a:off x="5250915" y="3754257"/>
                <a:ext cx="1770741" cy="699487"/>
              </a:xfrm>
              <a:prstGeom prst="rect">
                <a:avLst/>
              </a:prstGeom>
              <a:noFill/>
              <a:ln>
                <a:solidFill>
                  <a:schemeClr val="accent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sz="2000" b="1" i="1">
                              <a:latin typeface="Cambria Math" panose="02040503050406030204" pitchFamily="18" charset="0"/>
                            </a:rPr>
                          </m:ctrlPr>
                        </m:naryPr>
                        <m:sub>
                          <m:r>
                            <m:rPr>
                              <m:brk m:alnAt="23"/>
                            </m:rPr>
                            <a:rPr lang="en-US" sz="2000" b="1">
                              <a:latin typeface="Cambria Math" panose="02040503050406030204" pitchFamily="18" charset="0"/>
                            </a:rPr>
                            <m:t>𝟎</m:t>
                          </m:r>
                        </m:sub>
                        <m:sup>
                          <m:r>
                            <a:rPr lang="en-US" sz="2000" b="1">
                              <a:latin typeface="Cambria Math" panose="02040503050406030204" pitchFamily="18" charset="0"/>
                            </a:rPr>
                            <m:t>𝟏</m:t>
                          </m:r>
                        </m:sup>
                        <m:e>
                          <m:r>
                            <a:rPr lang="en-US" sz="2000" b="1">
                              <a:latin typeface="Cambria Math" panose="02040503050406030204" pitchFamily="18" charset="0"/>
                            </a:rPr>
                            <m:t>𝐱</m:t>
                          </m:r>
                          <m:r>
                            <a:rPr lang="en-US" sz="2000" b="1">
                              <a:latin typeface="Cambria Math" panose="02040503050406030204" pitchFamily="18" charset="0"/>
                            </a:rPr>
                            <m:t> </m:t>
                          </m:r>
                          <m:r>
                            <a:rPr lang="en-US" sz="2000" b="1">
                              <a:latin typeface="Cambria Math" panose="02040503050406030204" pitchFamily="18" charset="0"/>
                            </a:rPr>
                            <m:t>𝐝𝐱</m:t>
                          </m:r>
                          <m:r>
                            <a:rPr lang="en-US" sz="2000" b="1">
                              <a:latin typeface="Cambria Math" panose="02040503050406030204" pitchFamily="18" charset="0"/>
                            </a:rPr>
                            <m:t> = </m:t>
                          </m:r>
                          <m:r>
                            <a:rPr lang="en-US" sz="2000" b="1">
                              <a:latin typeface="Cambria Math" panose="02040503050406030204" pitchFamily="18" charset="0"/>
                            </a:rPr>
                            <m:t>𝟎</m:t>
                          </m:r>
                          <m:r>
                            <a:rPr lang="en-US" sz="2000" b="1">
                              <a:latin typeface="Cambria Math" panose="02040503050406030204" pitchFamily="18" charset="0"/>
                            </a:rPr>
                            <m:t>.</m:t>
                          </m:r>
                          <m:r>
                            <a:rPr lang="en-US" sz="2000" b="1">
                              <a:latin typeface="Cambria Math" panose="02040503050406030204" pitchFamily="18" charset="0"/>
                            </a:rPr>
                            <m:t>𝟓</m:t>
                          </m:r>
                        </m:e>
                      </m:nary>
                    </m:oMath>
                  </m:oMathPara>
                </a14:m>
                <a:endParaRPr lang="en-US" b="1" dirty="0">
                  <a:latin typeface="Arial Black" panose="020B0A04020102020204" pitchFamily="34" charset="0"/>
                </a:endParaRPr>
              </a:p>
            </p:txBody>
          </p:sp>
        </mc:Choice>
        <mc:Fallback>
          <p:sp>
            <p:nvSpPr>
              <p:cNvPr id="10" name="TextBox 9"/>
              <p:cNvSpPr txBox="1">
                <a:spLocks noRot="1" noChangeAspect="1" noMove="1" noResize="1" noEditPoints="1" noAdjustHandles="1" noChangeArrowheads="1" noChangeShapeType="1" noTextEdit="1"/>
              </p:cNvSpPr>
              <p:nvPr/>
            </p:nvSpPr>
            <p:spPr>
              <a:xfrm>
                <a:off x="5250915" y="3754257"/>
                <a:ext cx="1770741" cy="699487"/>
              </a:xfrm>
              <a:prstGeom prst="rect">
                <a:avLst/>
              </a:prstGeom>
              <a:blipFill>
                <a:blip r:embed="rId5"/>
                <a:stretch>
                  <a:fillRect/>
                </a:stretch>
              </a:blipFill>
              <a:ln>
                <a:solidFill>
                  <a:schemeClr val="accent1"/>
                </a:solidFill>
              </a:ln>
            </p:spPr>
            <p:txBody>
              <a:bodyPr/>
              <a:lstStyle/>
              <a:p>
                <a:r>
                  <a:rPr lang="en-IN">
                    <a:noFill/>
                  </a:rPr>
                  <a:t> </a:t>
                </a:r>
              </a:p>
            </p:txBody>
          </p:sp>
        </mc:Fallback>
      </mc:AlternateContent>
      <p:sp>
        <p:nvSpPr>
          <p:cNvPr id="3" name="TextBox 2"/>
          <p:cNvSpPr txBox="1"/>
          <p:nvPr/>
        </p:nvSpPr>
        <p:spPr>
          <a:xfrm>
            <a:off x="4140565" y="3879671"/>
            <a:ext cx="844066" cy="369332"/>
          </a:xfrm>
          <a:prstGeom prst="rect">
            <a:avLst/>
          </a:prstGeom>
          <a:noFill/>
          <a:ln>
            <a:solidFill>
              <a:schemeClr val="accent1"/>
            </a:solidFill>
          </a:ln>
        </p:spPr>
        <p:txBody>
          <a:bodyPr wrap="square" rtlCol="0">
            <a:spAutoFit/>
          </a:bodyPr>
          <a:lstStyle/>
          <a:p>
            <a:r>
              <a:rPr lang="en-US" dirty="0"/>
              <a:t>f(x) = x</a:t>
            </a:r>
          </a:p>
        </p:txBody>
      </p:sp>
    </p:spTree>
    <p:extLst>
      <p:ext uri="{BB962C8B-B14F-4D97-AF65-F5344CB8AC3E}">
        <p14:creationId xmlns:p14="http://schemas.microsoft.com/office/powerpoint/2010/main" val="18162779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p:cNvPicPr>
            <a:picLocks noChangeAspect="1"/>
          </p:cNvPicPr>
          <p:nvPr/>
        </p:nvPicPr>
        <p:blipFill>
          <a:blip r:embed="rId2">
            <a:extLst>
              <a:ext uri="{BEBA8EAE-BF5A-486C-A8C5-ECC9F3942E4B}">
                <a14:imgProps xmlns:a14="http://schemas.microsoft.com/office/drawing/2010/main">
                  <a14:imgLayer r:embed="rId3">
                    <a14:imgEffect>
                      <a14:colorTemperature colorTemp="8800"/>
                    </a14:imgEffect>
                  </a14:imgLayer>
                </a14:imgProps>
              </a:ext>
            </a:extLst>
          </a:blip>
          <a:stretch>
            <a:fillRect/>
          </a:stretch>
        </p:blipFill>
        <p:spPr>
          <a:xfrm>
            <a:off x="2263324" y="1559942"/>
            <a:ext cx="4909986" cy="4509172"/>
          </a:xfrm>
          <a:prstGeom prst="rect">
            <a:avLst/>
          </a:prstGeom>
        </p:spPr>
      </p:pic>
      <p:pic>
        <p:nvPicPr>
          <p:cNvPr id="2" name="Picture 1"/>
          <p:cNvPicPr>
            <a:picLocks noChangeAspect="1"/>
          </p:cNvPicPr>
          <p:nvPr/>
        </p:nvPicPr>
        <p:blipFill>
          <a:blip r:embed="rId4">
            <a:extLst>
              <a:ext uri="{BEBA8EAE-BF5A-486C-A8C5-ECC9F3942E4B}">
                <a14:imgProps xmlns:a14="http://schemas.microsoft.com/office/drawing/2010/main">
                  <a14:imgLayer r:embed="rId5">
                    <a14:imgEffect>
                      <a14:colorTemperature colorTemp="8800"/>
                    </a14:imgEffect>
                  </a14:imgLayer>
                </a14:imgProps>
              </a:ext>
            </a:extLst>
          </a:blip>
          <a:stretch>
            <a:fillRect/>
          </a:stretch>
        </p:blipFill>
        <p:spPr>
          <a:xfrm>
            <a:off x="56102" y="2235261"/>
            <a:ext cx="2364625" cy="1835104"/>
          </a:xfrm>
          <a:prstGeom prst="rect">
            <a:avLst/>
          </a:prstGeom>
        </p:spPr>
      </p:pic>
      <p:sp>
        <p:nvSpPr>
          <p:cNvPr id="4" name="Title 1"/>
          <p:cNvSpPr txBox="1">
            <a:spLocks/>
          </p:cNvSpPr>
          <p:nvPr/>
        </p:nvSpPr>
        <p:spPr>
          <a:xfrm>
            <a:off x="457200" y="365127"/>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Monte-Carlo Method</a:t>
            </a:r>
          </a:p>
        </p:txBody>
      </p:sp>
      <p:sp>
        <p:nvSpPr>
          <p:cNvPr id="16" name="Rectangle 15"/>
          <p:cNvSpPr/>
          <p:nvPr/>
        </p:nvSpPr>
        <p:spPr>
          <a:xfrm>
            <a:off x="2427370" y="2624832"/>
            <a:ext cx="5660888" cy="962123"/>
          </a:xfrm>
          <a:prstGeom prst="rect">
            <a:avLst/>
          </a:prstGeom>
          <a:solidFill>
            <a:schemeClr val="accent2">
              <a:lumMod val="40000"/>
              <a:lumOff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p:cNvSpPr txBox="1"/>
          <p:nvPr/>
        </p:nvSpPr>
        <p:spPr>
          <a:xfrm>
            <a:off x="457202" y="1100141"/>
            <a:ext cx="7886701" cy="461665"/>
          </a:xfrm>
          <a:prstGeom prst="rect">
            <a:avLst/>
          </a:prstGeom>
          <a:noFill/>
        </p:spPr>
        <p:txBody>
          <a:bodyPr wrap="square" rtlCol="0">
            <a:spAutoFit/>
          </a:bodyPr>
          <a:lstStyle/>
          <a:p>
            <a:r>
              <a:rPr lang="en-US" sz="2000" b="1" i="1" dirty="0">
                <a:solidFill>
                  <a:srgbClr val="C00000"/>
                </a:solidFill>
              </a:rPr>
              <a:t>Buffon’s needle experiment [1777s]: Estimation of   ‘ </a:t>
            </a:r>
            <a:r>
              <a:rPr lang="en-US" sz="2400" b="1" i="1" dirty="0">
                <a:solidFill>
                  <a:srgbClr val="C00000"/>
                </a:solidFill>
              </a:rPr>
              <a:t>π</a:t>
            </a:r>
            <a:r>
              <a:rPr lang="en-US" sz="2000" b="1" i="1" dirty="0">
                <a:solidFill>
                  <a:srgbClr val="C00000"/>
                </a:solidFill>
              </a:rPr>
              <a:t> ‘</a:t>
            </a:r>
          </a:p>
        </p:txBody>
      </p:sp>
      <mc:AlternateContent xmlns:mc="http://schemas.openxmlformats.org/markup-compatibility/2006">
        <mc:Choice xmlns:a14="http://schemas.microsoft.com/office/drawing/2010/main" Requires="a14">
          <p:sp>
            <p:nvSpPr>
              <p:cNvPr id="10" name="TextBox 9"/>
              <p:cNvSpPr txBox="1"/>
              <p:nvPr/>
            </p:nvSpPr>
            <p:spPr>
              <a:xfrm>
                <a:off x="2450412" y="1589153"/>
                <a:ext cx="5083048" cy="968983"/>
              </a:xfrm>
              <a:prstGeom prst="rect">
                <a:avLst/>
              </a:prstGeom>
              <a:solidFill>
                <a:schemeClr val="accent2">
                  <a:lumMod val="40000"/>
                  <a:lumOff val="60000"/>
                </a:schemeClr>
              </a:solidFill>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sz="2400" b="1" i="1">
                              <a:latin typeface="Cambria Math" panose="02040503050406030204" pitchFamily="18" charset="0"/>
                            </a:rPr>
                          </m:ctrlPr>
                        </m:naryPr>
                        <m:sub>
                          <m:r>
                            <m:rPr>
                              <m:brk m:alnAt="23"/>
                            </m:rPr>
                            <a:rPr lang="el-GR" sz="2400" b="1">
                              <a:latin typeface="Cambria Math" panose="02040503050406030204" pitchFamily="18" charset="0"/>
                            </a:rPr>
                            <m:t>𝛉</m:t>
                          </m:r>
                          <m:r>
                            <a:rPr lang="en-US" sz="2400" b="1">
                              <a:latin typeface="Cambria Math" panose="02040503050406030204" pitchFamily="18" charset="0"/>
                            </a:rPr>
                            <m:t>=</m:t>
                          </m:r>
                          <m:r>
                            <a:rPr lang="en-US" sz="2400" b="1">
                              <a:latin typeface="Cambria Math" panose="02040503050406030204" pitchFamily="18" charset="0"/>
                            </a:rPr>
                            <m:t>𝟎</m:t>
                          </m:r>
                        </m:sub>
                        <m:sup>
                          <m:r>
                            <a:rPr lang="el-GR" sz="2400" b="1">
                              <a:latin typeface="Cambria Math" panose="02040503050406030204" pitchFamily="18" charset="0"/>
                            </a:rPr>
                            <m:t>𝛑</m:t>
                          </m:r>
                          <m:r>
                            <a:rPr lang="en-US" sz="2400" b="1">
                              <a:latin typeface="Cambria Math" panose="02040503050406030204" pitchFamily="18" charset="0"/>
                            </a:rPr>
                            <m:t>/</m:t>
                          </m:r>
                          <m:r>
                            <a:rPr lang="en-US" sz="2400" b="1">
                              <a:latin typeface="Cambria Math" panose="02040503050406030204" pitchFamily="18" charset="0"/>
                            </a:rPr>
                            <m:t>𝟐</m:t>
                          </m:r>
                        </m:sup>
                        <m:e>
                          <m:nary>
                            <m:naryPr>
                              <m:ctrlPr>
                                <a:rPr lang="en-US" sz="2400" b="1" i="1">
                                  <a:latin typeface="Cambria Math" panose="02040503050406030204" pitchFamily="18" charset="0"/>
                                </a:rPr>
                              </m:ctrlPr>
                            </m:naryPr>
                            <m:sub>
                              <m:r>
                                <m:rPr>
                                  <m:brk m:alnAt="23"/>
                                </m:rPr>
                                <a:rPr lang="en-US" sz="2400" b="1">
                                  <a:latin typeface="Cambria Math" panose="02040503050406030204" pitchFamily="18" charset="0"/>
                                </a:rPr>
                                <m:t>𝐱</m:t>
                              </m:r>
                              <m:r>
                                <a:rPr lang="en-US" sz="2400" b="1">
                                  <a:latin typeface="Cambria Math" panose="02040503050406030204" pitchFamily="18" charset="0"/>
                                </a:rPr>
                                <m:t>=</m:t>
                              </m:r>
                              <m:r>
                                <a:rPr lang="en-US" sz="2400" b="1">
                                  <a:latin typeface="Cambria Math" panose="02040503050406030204" pitchFamily="18" charset="0"/>
                                </a:rPr>
                                <m:t>𝟎</m:t>
                              </m:r>
                            </m:sub>
                            <m:sup>
                              <m:d>
                                <m:dPr>
                                  <m:ctrlPr>
                                    <a:rPr lang="en-US" sz="2400" b="1" i="1">
                                      <a:latin typeface="Cambria Math" panose="02040503050406030204" pitchFamily="18" charset="0"/>
                                    </a:rPr>
                                  </m:ctrlPr>
                                </m:dPr>
                                <m:e>
                                  <m:f>
                                    <m:fPr>
                                      <m:ctrlPr>
                                        <a:rPr lang="en-US" sz="2400" b="1" i="1">
                                          <a:latin typeface="Cambria Math" panose="02040503050406030204" pitchFamily="18" charset="0"/>
                                        </a:rPr>
                                      </m:ctrlPr>
                                    </m:fPr>
                                    <m:num>
                                      <m:r>
                                        <a:rPr lang="en-US" sz="2400" b="1">
                                          <a:latin typeface="Cambria Math" panose="02040503050406030204" pitchFamily="18" charset="0"/>
                                        </a:rPr>
                                        <m:t>𝐋</m:t>
                                      </m:r>
                                    </m:num>
                                    <m:den>
                                      <m:r>
                                        <a:rPr lang="en-US" sz="2400" b="1">
                                          <a:latin typeface="Cambria Math" panose="02040503050406030204" pitchFamily="18" charset="0"/>
                                        </a:rPr>
                                        <m:t>𝟐</m:t>
                                      </m:r>
                                    </m:den>
                                  </m:f>
                                </m:e>
                              </m:d>
                              <m:r>
                                <a:rPr lang="en-US" sz="2400" b="1">
                                  <a:latin typeface="Cambria Math" panose="02040503050406030204" pitchFamily="18" charset="0"/>
                                </a:rPr>
                                <m:t>𝐬𝐢𝐧</m:t>
                              </m:r>
                              <m:r>
                                <a:rPr lang="el-GR" sz="2400" b="1">
                                  <a:latin typeface="Cambria Math" panose="02040503050406030204" pitchFamily="18" charset="0"/>
                                </a:rPr>
                                <m:t>𝛉</m:t>
                              </m:r>
                            </m:sup>
                            <m:e>
                              <m:f>
                                <m:fPr>
                                  <m:ctrlPr>
                                    <a:rPr lang="en-US" sz="2400" b="1" i="1">
                                      <a:latin typeface="Cambria Math" panose="02040503050406030204" pitchFamily="18" charset="0"/>
                                    </a:rPr>
                                  </m:ctrlPr>
                                </m:fPr>
                                <m:num>
                                  <m:r>
                                    <a:rPr lang="en-US" sz="2400" b="1">
                                      <a:latin typeface="Cambria Math" panose="02040503050406030204" pitchFamily="18" charset="0"/>
                                    </a:rPr>
                                    <m:t>𝟒</m:t>
                                  </m:r>
                                </m:num>
                                <m:den>
                                  <m:r>
                                    <a:rPr lang="en-US" sz="2400" b="1">
                                      <a:latin typeface="Cambria Math" panose="02040503050406030204" pitchFamily="18" charset="0"/>
                                    </a:rPr>
                                    <m:t>𝐝</m:t>
                                  </m:r>
                                  <m:r>
                                    <a:rPr lang="el-GR" sz="2400" b="1">
                                      <a:latin typeface="Cambria Math" panose="02040503050406030204" pitchFamily="18" charset="0"/>
                                    </a:rPr>
                                    <m:t>𝛑</m:t>
                                  </m:r>
                                </m:den>
                              </m:f>
                              <m:r>
                                <a:rPr lang="en-US" sz="2400" b="1">
                                  <a:latin typeface="Cambria Math" panose="02040503050406030204" pitchFamily="18" charset="0"/>
                                </a:rPr>
                                <m:t> </m:t>
                              </m:r>
                              <m:r>
                                <a:rPr lang="en-US" sz="2400" b="1">
                                  <a:latin typeface="Cambria Math" panose="02040503050406030204" pitchFamily="18" charset="0"/>
                                </a:rPr>
                                <m:t>𝐝𝐱</m:t>
                              </m:r>
                              <m:r>
                                <a:rPr lang="en-US" sz="2400" b="1">
                                  <a:latin typeface="Cambria Math" panose="02040503050406030204" pitchFamily="18" charset="0"/>
                                </a:rPr>
                                <m:t> </m:t>
                              </m:r>
                              <m:r>
                                <a:rPr lang="en-US" sz="2400" b="1">
                                  <a:latin typeface="Cambria Math" panose="02040503050406030204" pitchFamily="18" charset="0"/>
                                </a:rPr>
                                <m:t>𝐝</m:t>
                              </m:r>
                              <m:r>
                                <a:rPr lang="el-GR" sz="2400" b="1">
                                  <a:latin typeface="Cambria Math" panose="02040503050406030204" pitchFamily="18" charset="0"/>
                                </a:rPr>
                                <m:t>𝛉</m:t>
                              </m:r>
                              <m:r>
                                <a:rPr lang="en-US" sz="2400" b="1">
                                  <a:latin typeface="Cambria Math" panose="02040503050406030204" pitchFamily="18" charset="0"/>
                                </a:rPr>
                                <m:t> = </m:t>
                              </m:r>
                            </m:e>
                          </m:nary>
                        </m:e>
                      </m:nary>
                      <m:r>
                        <a:rPr lang="en-US" sz="2400" b="1">
                          <a:latin typeface="Cambria Math" panose="02040503050406030204" pitchFamily="18" charset="0"/>
                        </a:rPr>
                        <m:t>𝟐𝐋</m:t>
                      </m:r>
                      <m:r>
                        <a:rPr lang="en-US" sz="2400" b="1">
                          <a:latin typeface="Cambria Math" panose="02040503050406030204" pitchFamily="18" charset="0"/>
                        </a:rPr>
                        <m:t>/</m:t>
                      </m:r>
                      <m:r>
                        <a:rPr lang="el-GR" sz="2400" b="1">
                          <a:latin typeface="Cambria Math" panose="02040503050406030204" pitchFamily="18" charset="0"/>
                        </a:rPr>
                        <m:t>𝛑</m:t>
                      </m:r>
                      <m:r>
                        <a:rPr lang="en-US" sz="2400" b="1">
                          <a:latin typeface="Cambria Math" panose="02040503050406030204" pitchFamily="18" charset="0"/>
                        </a:rPr>
                        <m:t>𝐝</m:t>
                      </m:r>
                    </m:oMath>
                  </m:oMathPara>
                </a14:m>
                <a:endParaRPr lang="en-US" sz="2400" b="1" dirty="0"/>
              </a:p>
            </p:txBody>
          </p:sp>
        </mc:Choice>
        <mc:Fallback>
          <p:sp>
            <p:nvSpPr>
              <p:cNvPr id="10" name="TextBox 9"/>
              <p:cNvSpPr txBox="1">
                <a:spLocks noRot="1" noChangeAspect="1" noMove="1" noResize="1" noEditPoints="1" noAdjustHandles="1" noChangeArrowheads="1" noChangeShapeType="1" noTextEdit="1"/>
              </p:cNvSpPr>
              <p:nvPr/>
            </p:nvSpPr>
            <p:spPr>
              <a:xfrm>
                <a:off x="2450412" y="1589153"/>
                <a:ext cx="5083048" cy="968983"/>
              </a:xfrm>
              <a:prstGeom prst="rect">
                <a:avLst/>
              </a:prstGeom>
              <a:blipFill>
                <a:blip r:embed="rId6"/>
                <a:stretch>
                  <a:fillRect/>
                </a:stretch>
              </a:blipFill>
            </p:spPr>
            <p:txBody>
              <a:bodyPr/>
              <a:lstStyle/>
              <a:p>
                <a:r>
                  <a:rPr lang="en-IN">
                    <a:noFill/>
                  </a:rPr>
                  <a:t> </a:t>
                </a:r>
              </a:p>
            </p:txBody>
          </p:sp>
        </mc:Fallback>
      </mc:AlternateContent>
      <p:sp>
        <p:nvSpPr>
          <p:cNvPr id="12" name="TextBox 11"/>
          <p:cNvSpPr txBox="1"/>
          <p:nvPr/>
        </p:nvSpPr>
        <p:spPr>
          <a:xfrm>
            <a:off x="56154" y="4260135"/>
            <a:ext cx="4214813" cy="646331"/>
          </a:xfrm>
          <a:prstGeom prst="rect">
            <a:avLst/>
          </a:prstGeom>
          <a:noFill/>
        </p:spPr>
        <p:txBody>
          <a:bodyPr wrap="square" rtlCol="0">
            <a:spAutoFit/>
          </a:bodyPr>
          <a:lstStyle/>
          <a:p>
            <a:r>
              <a:rPr lang="en-US" b="1" dirty="0"/>
              <a:t>Geometry of needle </a:t>
            </a:r>
          </a:p>
          <a:p>
            <a:r>
              <a:rPr lang="en-US" b="1" dirty="0"/>
              <a:t>position in experiment</a:t>
            </a:r>
          </a:p>
        </p:txBody>
      </p:sp>
      <mc:AlternateContent xmlns:mc="http://schemas.openxmlformats.org/markup-compatibility/2006">
        <mc:Choice xmlns:a14="http://schemas.microsoft.com/office/drawing/2010/main" Requires="a14">
          <p:sp>
            <p:nvSpPr>
              <p:cNvPr id="13" name="TextBox 12"/>
              <p:cNvSpPr txBox="1"/>
              <p:nvPr/>
            </p:nvSpPr>
            <p:spPr>
              <a:xfrm>
                <a:off x="2514580" y="2846130"/>
                <a:ext cx="5525552" cy="628826"/>
              </a:xfrm>
              <a:prstGeom prst="rect">
                <a:avLst/>
              </a:prstGeom>
              <a:noFill/>
            </p:spPr>
            <p:txBody>
              <a:bodyPr wrap="none" lIns="0" tIns="0" rIns="0" bIns="0" rtlCol="0">
                <a:spAutoFit/>
              </a:bodyPr>
              <a:lstStyle/>
              <a:p>
                <a:r>
                  <a:rPr lang="en-US" sz="2800" b="1" dirty="0"/>
                  <a:t>  P =  </a:t>
                </a:r>
                <a14:m>
                  <m:oMath xmlns:m="http://schemas.openxmlformats.org/officeDocument/2006/math">
                    <m:f>
                      <m:fPr>
                        <m:ctrlPr>
                          <a:rPr lang="en-US" sz="2800" b="1" i="1">
                            <a:latin typeface="Cambria Math" panose="02040503050406030204" pitchFamily="18" charset="0"/>
                          </a:rPr>
                        </m:ctrlPr>
                      </m:fPr>
                      <m:num>
                        <m:r>
                          <a:rPr lang="en-US" sz="2800" b="1" i="1">
                            <a:latin typeface="Cambria Math" panose="02040503050406030204" pitchFamily="18" charset="0"/>
                          </a:rPr>
                          <m:t># </m:t>
                        </m:r>
                        <m:r>
                          <a:rPr lang="en-US" sz="2800" b="1" i="1">
                            <a:latin typeface="Cambria Math" panose="02040503050406030204" pitchFamily="18" charset="0"/>
                          </a:rPr>
                          <m:t>𝒏𝒆𝒆𝒅𝒍𝒆𝒔</m:t>
                        </m:r>
                        <m:r>
                          <a:rPr lang="en-US" sz="2800" b="1" i="1">
                            <a:latin typeface="Cambria Math" panose="02040503050406030204" pitchFamily="18" charset="0"/>
                          </a:rPr>
                          <m:t> </m:t>
                        </m:r>
                        <m:r>
                          <a:rPr lang="en-US" sz="2800" b="1" i="1">
                            <a:latin typeface="Cambria Math" panose="02040503050406030204" pitchFamily="18" charset="0"/>
                          </a:rPr>
                          <m:t>𝒄𝒓𝒐𝒔𝒔𝒆𝒅</m:t>
                        </m:r>
                        <m:r>
                          <a:rPr lang="en-US" sz="2800" b="1" i="1">
                            <a:latin typeface="Cambria Math" panose="02040503050406030204" pitchFamily="18" charset="0"/>
                          </a:rPr>
                          <m:t> </m:t>
                        </m:r>
                        <m:r>
                          <a:rPr lang="en-US" sz="2800" b="1" i="1">
                            <a:latin typeface="Cambria Math" panose="02040503050406030204" pitchFamily="18" charset="0"/>
                          </a:rPr>
                          <m:t>𝒕𝒉𝒆</m:t>
                        </m:r>
                        <m:r>
                          <a:rPr lang="en-US" sz="2800" b="1" i="1">
                            <a:latin typeface="Cambria Math" panose="02040503050406030204" pitchFamily="18" charset="0"/>
                          </a:rPr>
                          <m:t> </m:t>
                        </m:r>
                        <m:r>
                          <a:rPr lang="en-US" sz="2800" b="1" i="1">
                            <a:latin typeface="Cambria Math" panose="02040503050406030204" pitchFamily="18" charset="0"/>
                          </a:rPr>
                          <m:t>𝒍𝒊𝒏𝒆</m:t>
                        </m:r>
                      </m:num>
                      <m:den>
                        <m:r>
                          <a:rPr lang="en-US" sz="2800" b="1" i="1">
                            <a:latin typeface="Cambria Math" panose="02040503050406030204" pitchFamily="18" charset="0"/>
                          </a:rPr>
                          <m:t># </m:t>
                        </m:r>
                        <m:r>
                          <a:rPr lang="en-US" sz="2800" b="1" i="1">
                            <a:latin typeface="Cambria Math" panose="02040503050406030204" pitchFamily="18" charset="0"/>
                          </a:rPr>
                          <m:t>𝒕𝒐𝒕𝒂𝒍</m:t>
                        </m:r>
                        <m:r>
                          <a:rPr lang="en-US" sz="2800" b="1" i="1">
                            <a:latin typeface="Cambria Math" panose="02040503050406030204" pitchFamily="18" charset="0"/>
                          </a:rPr>
                          <m:t> </m:t>
                        </m:r>
                        <m:r>
                          <a:rPr lang="en-US" sz="2800" b="1" i="1">
                            <a:latin typeface="Cambria Math" panose="02040503050406030204" pitchFamily="18" charset="0"/>
                          </a:rPr>
                          <m:t>𝒏𝒆𝒆𝒅𝒍𝒆𝒔</m:t>
                        </m:r>
                      </m:den>
                    </m:f>
                  </m:oMath>
                </a14:m>
                <a:r>
                  <a:rPr lang="en-US" sz="2800" b="1" dirty="0"/>
                  <a:t>  = 2L/</a:t>
                </a:r>
                <a:r>
                  <a:rPr lang="el-GR" sz="2800" b="1" dirty="0"/>
                  <a:t>π</a:t>
                </a:r>
                <a:r>
                  <a:rPr lang="en-US" sz="2800" b="1" dirty="0"/>
                  <a:t>d</a:t>
                </a:r>
              </a:p>
            </p:txBody>
          </p:sp>
        </mc:Choice>
        <mc:Fallback>
          <p:sp>
            <p:nvSpPr>
              <p:cNvPr id="13" name="TextBox 12"/>
              <p:cNvSpPr txBox="1">
                <a:spLocks noRot="1" noChangeAspect="1" noMove="1" noResize="1" noEditPoints="1" noAdjustHandles="1" noChangeArrowheads="1" noChangeShapeType="1" noTextEdit="1"/>
              </p:cNvSpPr>
              <p:nvPr/>
            </p:nvSpPr>
            <p:spPr>
              <a:xfrm>
                <a:off x="2514580" y="2846130"/>
                <a:ext cx="5525552" cy="628826"/>
              </a:xfrm>
              <a:prstGeom prst="rect">
                <a:avLst/>
              </a:prstGeom>
              <a:blipFill>
                <a:blip r:embed="rId7"/>
                <a:stretch>
                  <a:fillRect l="-882" r="-992" b="-19417"/>
                </a:stretch>
              </a:blipFill>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14" name="TextBox 13"/>
              <p:cNvSpPr txBox="1"/>
              <p:nvPr/>
            </p:nvSpPr>
            <p:spPr>
              <a:xfrm>
                <a:off x="2425918" y="3670602"/>
                <a:ext cx="1314451" cy="693908"/>
              </a:xfrm>
              <a:prstGeom prst="rect">
                <a:avLst/>
              </a:prstGeom>
              <a:solidFill>
                <a:schemeClr val="accent2">
                  <a:lumMod val="40000"/>
                  <a:lumOff val="60000"/>
                </a:schemeClr>
              </a:solidFill>
              <a:ln>
                <a:no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sz="2400" b="1">
                          <a:latin typeface="Cambria Math" panose="02040503050406030204" pitchFamily="18" charset="0"/>
                          <a:ea typeface="Cambria Math" panose="02040503050406030204" pitchFamily="18" charset="0"/>
                        </a:rPr>
                        <m:t>𝛑</m:t>
                      </m:r>
                      <m:r>
                        <a:rPr lang="en-US" sz="2400" b="1">
                          <a:latin typeface="Cambria Math" panose="02040503050406030204" pitchFamily="18" charset="0"/>
                          <a:ea typeface="Cambria Math" panose="02040503050406030204" pitchFamily="18" charset="0"/>
                        </a:rPr>
                        <m:t>=</m:t>
                      </m:r>
                      <m:f>
                        <m:fPr>
                          <m:ctrlPr>
                            <a:rPr lang="en-US" sz="2400" b="1" i="1">
                              <a:latin typeface="Cambria Math" panose="02040503050406030204" pitchFamily="18" charset="0"/>
                              <a:ea typeface="Cambria Math" panose="02040503050406030204" pitchFamily="18" charset="0"/>
                            </a:rPr>
                          </m:ctrlPr>
                        </m:fPr>
                        <m:num>
                          <m:r>
                            <a:rPr lang="en-US" sz="2400" b="1">
                              <a:latin typeface="Cambria Math" panose="02040503050406030204" pitchFamily="18" charset="0"/>
                              <a:ea typeface="Cambria Math" panose="02040503050406030204" pitchFamily="18" charset="0"/>
                            </a:rPr>
                            <m:t>𝟐𝐋</m:t>
                          </m:r>
                        </m:num>
                        <m:den>
                          <m:r>
                            <a:rPr lang="en-US" sz="2400" b="1">
                              <a:latin typeface="Cambria Math" panose="02040503050406030204" pitchFamily="18" charset="0"/>
                              <a:ea typeface="Cambria Math" panose="02040503050406030204" pitchFamily="18" charset="0"/>
                            </a:rPr>
                            <m:t>𝐏𝐝</m:t>
                          </m:r>
                        </m:den>
                      </m:f>
                    </m:oMath>
                  </m:oMathPara>
                </a14:m>
                <a:endParaRPr lang="en-US" sz="2400" b="1" dirty="0"/>
              </a:p>
            </p:txBody>
          </p:sp>
        </mc:Choice>
        <mc:Fallback>
          <p:sp>
            <p:nvSpPr>
              <p:cNvPr id="14" name="TextBox 13"/>
              <p:cNvSpPr txBox="1">
                <a:spLocks noRot="1" noChangeAspect="1" noMove="1" noResize="1" noEditPoints="1" noAdjustHandles="1" noChangeArrowheads="1" noChangeShapeType="1" noTextEdit="1"/>
              </p:cNvSpPr>
              <p:nvPr/>
            </p:nvSpPr>
            <p:spPr>
              <a:xfrm>
                <a:off x="2425918" y="3670602"/>
                <a:ext cx="1314451" cy="693908"/>
              </a:xfrm>
              <a:prstGeom prst="rect">
                <a:avLst/>
              </a:prstGeom>
              <a:blipFill>
                <a:blip r:embed="rId8"/>
                <a:stretch>
                  <a:fillRect/>
                </a:stretch>
              </a:blipFill>
              <a:ln>
                <a:noFill/>
              </a:ln>
            </p:spPr>
            <p:txBody>
              <a:bodyPr/>
              <a:lstStyle/>
              <a:p>
                <a:r>
                  <a:rPr lang="en-IN">
                    <a:noFill/>
                  </a:rPr>
                  <a:t> </a:t>
                </a:r>
              </a:p>
            </p:txBody>
          </p:sp>
        </mc:Fallback>
      </mc:AlternateContent>
      <p:graphicFrame>
        <p:nvGraphicFramePr>
          <p:cNvPr id="15" name="Table 14"/>
          <p:cNvGraphicFramePr>
            <a:graphicFrameLocks noGrp="1"/>
          </p:cNvGraphicFramePr>
          <p:nvPr>
            <p:extLst>
              <p:ext uri="{D42A27DB-BD31-4B8C-83A1-F6EECF244321}">
                <p14:modId xmlns:p14="http://schemas.microsoft.com/office/powerpoint/2010/main" val="3560383832"/>
              </p:ext>
            </p:extLst>
          </p:nvPr>
        </p:nvGraphicFramePr>
        <p:xfrm>
          <a:off x="5139162" y="3668732"/>
          <a:ext cx="3823855" cy="3148333"/>
        </p:xfrm>
        <a:graphic>
          <a:graphicData uri="http://schemas.openxmlformats.org/drawingml/2006/table">
            <a:tbl>
              <a:tblPr firstRow="1" firstCol="1" bandRow="1">
                <a:tableStyleId>{9DCAF9ED-07DC-4A11-8D7F-57B35C25682E}</a:tableStyleId>
              </a:tblPr>
              <a:tblGrid>
                <a:gridCol w="2111433">
                  <a:extLst>
                    <a:ext uri="{9D8B030D-6E8A-4147-A177-3AD203B41FA5}">
                      <a16:colId xmlns:a16="http://schemas.microsoft.com/office/drawing/2014/main" val="20000"/>
                    </a:ext>
                  </a:extLst>
                </a:gridCol>
                <a:gridCol w="1712422">
                  <a:extLst>
                    <a:ext uri="{9D8B030D-6E8A-4147-A177-3AD203B41FA5}">
                      <a16:colId xmlns:a16="http://schemas.microsoft.com/office/drawing/2014/main" val="20001"/>
                    </a:ext>
                  </a:extLst>
                </a:gridCol>
              </a:tblGrid>
              <a:tr h="415589">
                <a:tc>
                  <a:txBody>
                    <a:bodyPr/>
                    <a:lstStyle/>
                    <a:p>
                      <a:pPr marL="0" marR="0" algn="ctr">
                        <a:lnSpc>
                          <a:spcPct val="130000"/>
                        </a:lnSpc>
                        <a:spcBef>
                          <a:spcPts val="300"/>
                        </a:spcBef>
                        <a:spcAft>
                          <a:spcPts val="300"/>
                        </a:spcAft>
                      </a:pPr>
                      <a:r>
                        <a:rPr lang="en-US" sz="2000" dirty="0">
                          <a:solidFill>
                            <a:sysClr val="windowText" lastClr="000000"/>
                          </a:solidFill>
                          <a:effectLst/>
                        </a:rPr>
                        <a:t>Number of  trials</a:t>
                      </a:r>
                      <a:endParaRPr lang="en-US" sz="1800" dirty="0">
                        <a:solidFill>
                          <a:sysClr val="windowText" lastClr="000000"/>
                        </a:solidFill>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solidFill>
                      <a:schemeClr val="accent2">
                        <a:lumMod val="40000"/>
                        <a:lumOff val="60000"/>
                      </a:schemeClr>
                    </a:solidFill>
                  </a:tcPr>
                </a:tc>
                <a:tc>
                  <a:txBody>
                    <a:bodyPr/>
                    <a:lstStyle/>
                    <a:p>
                      <a:pPr marL="0" marR="0" algn="ctr">
                        <a:lnSpc>
                          <a:spcPct val="130000"/>
                        </a:lnSpc>
                        <a:spcBef>
                          <a:spcPts val="300"/>
                        </a:spcBef>
                        <a:spcAft>
                          <a:spcPts val="300"/>
                        </a:spcAft>
                      </a:pPr>
                      <a:r>
                        <a:rPr lang="en-US" sz="2000" dirty="0">
                          <a:solidFill>
                            <a:sysClr val="windowText" lastClr="000000"/>
                          </a:solidFill>
                          <a:effectLst/>
                        </a:rPr>
                        <a:t>Value of  Pi</a:t>
                      </a:r>
                      <a:endParaRPr lang="en-US" sz="1800" dirty="0">
                        <a:solidFill>
                          <a:sysClr val="windowText" lastClr="000000"/>
                        </a:solidFill>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solidFill>
                      <a:schemeClr val="accent2">
                        <a:lumMod val="40000"/>
                        <a:lumOff val="60000"/>
                      </a:schemeClr>
                    </a:solidFill>
                  </a:tcPr>
                </a:tc>
                <a:extLst>
                  <a:ext uri="{0D108BD9-81ED-4DB2-BD59-A6C34878D82A}">
                    <a16:rowId xmlns:a16="http://schemas.microsoft.com/office/drawing/2014/main" val="10000"/>
                  </a:ext>
                </a:extLst>
              </a:tr>
              <a:tr h="390392">
                <a:tc>
                  <a:txBody>
                    <a:bodyPr/>
                    <a:lstStyle/>
                    <a:p>
                      <a:pPr marL="0" marR="0" algn="ctr">
                        <a:lnSpc>
                          <a:spcPct val="130000"/>
                        </a:lnSpc>
                        <a:spcBef>
                          <a:spcPts val="300"/>
                        </a:spcBef>
                        <a:spcAft>
                          <a:spcPts val="300"/>
                        </a:spcAft>
                      </a:pPr>
                      <a:r>
                        <a:rPr lang="en-US" sz="2000" dirty="0">
                          <a:effectLst/>
                        </a:rPr>
                        <a:t>100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3.26086957</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1"/>
                  </a:ext>
                </a:extLst>
              </a:tr>
              <a:tr h="390392">
                <a:tc>
                  <a:txBody>
                    <a:bodyPr/>
                    <a:lstStyle/>
                    <a:p>
                      <a:pPr marL="0" marR="0" algn="ctr">
                        <a:lnSpc>
                          <a:spcPct val="130000"/>
                        </a:lnSpc>
                        <a:spcBef>
                          <a:spcPts val="300"/>
                        </a:spcBef>
                        <a:spcAft>
                          <a:spcPts val="300"/>
                        </a:spcAft>
                      </a:pPr>
                      <a:r>
                        <a:rPr lang="en-US" sz="2000" dirty="0">
                          <a:effectLst/>
                        </a:rPr>
                        <a:t>1000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3.06122449</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2"/>
                  </a:ext>
                </a:extLst>
              </a:tr>
              <a:tr h="390392">
                <a:tc>
                  <a:txBody>
                    <a:bodyPr/>
                    <a:lstStyle/>
                    <a:p>
                      <a:pPr marL="0" marR="0" algn="ctr">
                        <a:lnSpc>
                          <a:spcPct val="130000"/>
                        </a:lnSpc>
                        <a:spcBef>
                          <a:spcPts val="300"/>
                        </a:spcBef>
                        <a:spcAft>
                          <a:spcPts val="300"/>
                        </a:spcAft>
                      </a:pPr>
                      <a:r>
                        <a:rPr lang="en-US" sz="2000" dirty="0">
                          <a:effectLst/>
                        </a:rPr>
                        <a:t>10000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3.12434909</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3"/>
                  </a:ext>
                </a:extLst>
              </a:tr>
              <a:tr h="390392">
                <a:tc>
                  <a:txBody>
                    <a:bodyPr/>
                    <a:lstStyle/>
                    <a:p>
                      <a:pPr marL="0" marR="0" algn="ctr">
                        <a:lnSpc>
                          <a:spcPct val="130000"/>
                        </a:lnSpc>
                        <a:spcBef>
                          <a:spcPts val="300"/>
                        </a:spcBef>
                        <a:spcAft>
                          <a:spcPts val="300"/>
                        </a:spcAft>
                      </a:pPr>
                      <a:r>
                        <a:rPr lang="en-US" sz="2000" dirty="0">
                          <a:effectLst/>
                        </a:rPr>
                        <a:t>100000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3.14348005</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4"/>
                  </a:ext>
                </a:extLst>
              </a:tr>
              <a:tr h="390392">
                <a:tc>
                  <a:txBody>
                    <a:bodyPr/>
                    <a:lstStyle/>
                    <a:p>
                      <a:pPr marL="0" marR="0" algn="ctr">
                        <a:lnSpc>
                          <a:spcPct val="130000"/>
                        </a:lnSpc>
                        <a:spcBef>
                          <a:spcPts val="300"/>
                        </a:spcBef>
                        <a:spcAft>
                          <a:spcPts val="300"/>
                        </a:spcAft>
                      </a:pPr>
                      <a:r>
                        <a:rPr lang="en-US" sz="2000" dirty="0">
                          <a:effectLst/>
                        </a:rPr>
                        <a:t>1000000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3.13580546</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5"/>
                  </a:ext>
                </a:extLst>
              </a:tr>
              <a:tr h="390392">
                <a:tc>
                  <a:txBody>
                    <a:bodyPr/>
                    <a:lstStyle/>
                    <a:p>
                      <a:pPr marL="0" marR="0" algn="ctr">
                        <a:lnSpc>
                          <a:spcPct val="130000"/>
                        </a:lnSpc>
                        <a:spcBef>
                          <a:spcPts val="300"/>
                        </a:spcBef>
                        <a:spcAft>
                          <a:spcPts val="300"/>
                        </a:spcAft>
                      </a:pPr>
                      <a:r>
                        <a:rPr lang="en-US" sz="2000" dirty="0">
                          <a:effectLst/>
                        </a:rPr>
                        <a:t>10000000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3.14196728</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6"/>
                  </a:ext>
                </a:extLst>
              </a:tr>
              <a:tr h="390392">
                <a:tc>
                  <a:txBody>
                    <a:bodyPr/>
                    <a:lstStyle/>
                    <a:p>
                      <a:pPr marL="0" marR="0" algn="ctr">
                        <a:lnSpc>
                          <a:spcPct val="130000"/>
                        </a:lnSpc>
                        <a:spcBef>
                          <a:spcPts val="300"/>
                        </a:spcBef>
                        <a:spcAft>
                          <a:spcPts val="300"/>
                        </a:spcAft>
                      </a:pPr>
                      <a:r>
                        <a:rPr lang="en-US" sz="2000" dirty="0">
                          <a:effectLst/>
                        </a:rPr>
                        <a:t>100000000</a:t>
                      </a:r>
                      <a:endParaRPr lang="en-US" sz="1800"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tc>
                  <a:txBody>
                    <a:bodyPr/>
                    <a:lstStyle/>
                    <a:p>
                      <a:pPr marL="0" marR="0" algn="ctr">
                        <a:lnSpc>
                          <a:spcPct val="130000"/>
                        </a:lnSpc>
                        <a:spcBef>
                          <a:spcPts val="300"/>
                        </a:spcBef>
                        <a:spcAft>
                          <a:spcPts val="300"/>
                        </a:spcAft>
                      </a:pPr>
                      <a:r>
                        <a:rPr lang="en-US" sz="2000" b="1" dirty="0">
                          <a:effectLst/>
                        </a:rPr>
                        <a:t>3.14205106</a:t>
                      </a:r>
                      <a:endParaRPr lang="en-US" sz="1800" b="1" dirty="0">
                        <a:effectLst/>
                        <a:latin typeface="Arial" panose="020B0604020202020204" pitchFamily="34" charset="0"/>
                        <a:ea typeface="Calibri" panose="020F0502020204030204" pitchFamily="34" charset="0"/>
                        <a:cs typeface="DaunPenh" panose="01010101010101010101" pitchFamily="2" charset="0"/>
                      </a:endParaRPr>
                    </a:p>
                  </a:txBody>
                  <a:tcPr marL="68580" marR="68580" marT="0" marB="0"/>
                </a:tc>
                <a:extLst>
                  <a:ext uri="{0D108BD9-81ED-4DB2-BD59-A6C34878D82A}">
                    <a16:rowId xmlns:a16="http://schemas.microsoft.com/office/drawing/2014/main" val="10007"/>
                  </a:ext>
                </a:extLst>
              </a:tr>
            </a:tbl>
          </a:graphicData>
        </a:graphic>
      </p:graphicFrame>
      <p:sp>
        <p:nvSpPr>
          <p:cNvPr id="3" name="Slide Number Placeholder 2"/>
          <p:cNvSpPr>
            <a:spLocks noGrp="1"/>
          </p:cNvSpPr>
          <p:nvPr>
            <p:ph type="sldNum" sz="quarter" idx="12"/>
          </p:nvPr>
        </p:nvSpPr>
        <p:spPr/>
        <p:txBody>
          <a:bodyPr/>
          <a:lstStyle/>
          <a:p>
            <a:fld id="{69D1AC30-C8F1-4E46-9D07-0E47F1D1D790}" type="slidenum">
              <a:rPr lang="en-US" smtClean="0"/>
              <a:t>6</a:t>
            </a:fld>
            <a:endParaRPr lang="en-US" dirty="0"/>
          </a:p>
        </p:txBody>
      </p:sp>
      <mc:AlternateContent xmlns:mc="http://schemas.openxmlformats.org/markup-compatibility/2006">
        <mc:Choice xmlns:a14="http://schemas.microsoft.com/office/drawing/2010/main" Requires="a14">
          <p:sp>
            <p:nvSpPr>
              <p:cNvPr id="6" name="TextBox 5"/>
              <p:cNvSpPr txBox="1"/>
              <p:nvPr/>
            </p:nvSpPr>
            <p:spPr>
              <a:xfrm>
                <a:off x="371516" y="5394978"/>
                <a:ext cx="1442434" cy="369332"/>
              </a:xfrm>
              <a:prstGeom prst="rect">
                <a:avLst/>
              </a:prstGeom>
              <a:noFill/>
              <a:ln>
                <a:solidFill>
                  <a:schemeClr val="accent1"/>
                </a:solidFill>
              </a:ln>
            </p:spPr>
            <p:txBody>
              <a:bodyPr wrap="square" rtlCol="0">
                <a:spAutoFit/>
              </a:bodyPr>
              <a:lstStyle/>
              <a:p>
                <a14:m>
                  <m:oMath xmlns:m="http://schemas.openxmlformats.org/officeDocument/2006/math">
                    <m:r>
                      <a:rPr lang="en-US" b="1">
                        <a:latin typeface="Cambria Math" panose="02040503050406030204" pitchFamily="18" charset="0"/>
                        <a:ea typeface="Cambria Math" panose="02040503050406030204" pitchFamily="18" charset="0"/>
                      </a:rPr>
                      <m:t>𝛑</m:t>
                    </m:r>
                    <m:r>
                      <a:rPr lang="en-US" b="1" i="1">
                        <a:latin typeface="Cambria Math" panose="02040503050406030204" pitchFamily="18" charset="0"/>
                        <a:ea typeface="Cambria Math" panose="02040503050406030204" pitchFamily="18" charset="0"/>
                      </a:rPr>
                      <m:t> </m:t>
                    </m:r>
                  </m:oMath>
                </a14:m>
                <a:r>
                  <a:rPr lang="en-US" dirty="0"/>
                  <a:t>= 3.141592</a:t>
                </a:r>
                <a:r>
                  <a:rPr lang="el-GR" dirty="0"/>
                  <a:t> </a:t>
                </a:r>
                <a:r>
                  <a:rPr lang="en-US" dirty="0"/>
                  <a:t> </a:t>
                </a:r>
              </a:p>
            </p:txBody>
          </p:sp>
        </mc:Choice>
        <mc:Fallback>
          <p:sp>
            <p:nvSpPr>
              <p:cNvPr id="6" name="TextBox 5"/>
              <p:cNvSpPr txBox="1">
                <a:spLocks noRot="1" noChangeAspect="1" noMove="1" noResize="1" noEditPoints="1" noAdjustHandles="1" noChangeArrowheads="1" noChangeShapeType="1" noTextEdit="1"/>
              </p:cNvSpPr>
              <p:nvPr/>
            </p:nvSpPr>
            <p:spPr>
              <a:xfrm>
                <a:off x="371516" y="5394978"/>
                <a:ext cx="1442434" cy="369332"/>
              </a:xfrm>
              <a:prstGeom prst="rect">
                <a:avLst/>
              </a:prstGeom>
              <a:blipFill>
                <a:blip r:embed="rId9"/>
                <a:stretch>
                  <a:fillRect t="-6349" r="-1255" b="-22222"/>
                </a:stretch>
              </a:blipFill>
              <a:ln>
                <a:solidFill>
                  <a:schemeClr val="accent1"/>
                </a:solidFill>
              </a:ln>
            </p:spPr>
            <p:txBody>
              <a:bodyPr/>
              <a:lstStyle/>
              <a:p>
                <a:r>
                  <a:rPr lang="en-IN">
                    <a:noFill/>
                  </a:rPr>
                  <a:t> </a:t>
                </a:r>
              </a:p>
            </p:txBody>
          </p:sp>
        </mc:Fallback>
      </mc:AlternateContent>
      <mc:AlternateContent xmlns:mc="http://schemas.openxmlformats.org/markup-compatibility/2006">
        <mc:Choice xmlns:a14="http://schemas.microsoft.com/office/drawing/2010/main" Requires="a14">
          <p:sp>
            <p:nvSpPr>
              <p:cNvPr id="7" name="TextBox 6"/>
              <p:cNvSpPr txBox="1"/>
              <p:nvPr/>
            </p:nvSpPr>
            <p:spPr>
              <a:xfrm>
                <a:off x="2561256" y="4507289"/>
                <a:ext cx="2049382" cy="2031325"/>
              </a:xfrm>
              <a:prstGeom prst="rect">
                <a:avLst/>
              </a:prstGeom>
              <a:noFill/>
              <a:ln>
                <a:solidFill>
                  <a:schemeClr val="accent1"/>
                </a:solidFill>
              </a:ln>
            </p:spPr>
            <p:txBody>
              <a:bodyPr wrap="square" rtlCol="0">
                <a:spAutoFit/>
              </a:bodyPr>
              <a:lstStyle/>
              <a:p>
                <a:r>
                  <a:rPr lang="en-US" dirty="0"/>
                  <a:t>In 1901</a:t>
                </a:r>
              </a:p>
              <a:p>
                <a:r>
                  <a:rPr lang="en-US" dirty="0" err="1"/>
                  <a:t>Italianan</a:t>
                </a:r>
                <a:r>
                  <a:rPr lang="en-US" dirty="0"/>
                  <a:t> Mathematician </a:t>
                </a:r>
              </a:p>
              <a:p>
                <a:r>
                  <a:rPr lang="en-US" dirty="0"/>
                  <a:t>Mario </a:t>
                </a:r>
                <a:r>
                  <a:rPr lang="en-US" dirty="0" err="1"/>
                  <a:t>Lazzarini</a:t>
                </a:r>
                <a:endParaRPr lang="en-US" dirty="0"/>
              </a:p>
              <a:p>
                <a:r>
                  <a:rPr lang="en-US" dirty="0"/>
                  <a:t>Tossed needle 3408 time</a:t>
                </a:r>
              </a:p>
              <a:p>
                <a:r>
                  <a:rPr lang="en-US" dirty="0"/>
                  <a:t>Pi </a:t>
                </a:r>
                <a14:m>
                  <m:oMath xmlns:m="http://schemas.openxmlformats.org/officeDocument/2006/math">
                    <m:r>
                      <a:rPr lang="en-US" i="1">
                        <a:latin typeface="Cambria Math" panose="02040503050406030204" pitchFamily="18" charset="0"/>
                      </a:rPr>
                      <m:t>=3.14159292</m:t>
                    </m:r>
                  </m:oMath>
                </a14:m>
                <a:endParaRPr lang="en-US" dirty="0"/>
              </a:p>
            </p:txBody>
          </p:sp>
        </mc:Choice>
        <mc:Fallback>
          <p:sp>
            <p:nvSpPr>
              <p:cNvPr id="7" name="TextBox 6"/>
              <p:cNvSpPr txBox="1">
                <a:spLocks noRot="1" noChangeAspect="1" noMove="1" noResize="1" noEditPoints="1" noAdjustHandles="1" noChangeArrowheads="1" noChangeShapeType="1" noTextEdit="1"/>
              </p:cNvSpPr>
              <p:nvPr/>
            </p:nvSpPr>
            <p:spPr>
              <a:xfrm>
                <a:off x="2561256" y="4507289"/>
                <a:ext cx="2049382" cy="2031325"/>
              </a:xfrm>
              <a:prstGeom prst="rect">
                <a:avLst/>
              </a:prstGeom>
              <a:blipFill>
                <a:blip r:embed="rId10"/>
                <a:stretch>
                  <a:fillRect l="-2071" t="-1190" r="-3254" b="-3274"/>
                </a:stretch>
              </a:blipFill>
              <a:ln>
                <a:solidFill>
                  <a:schemeClr val="accent1"/>
                </a:solidFill>
              </a:ln>
            </p:spPr>
            <p:txBody>
              <a:bodyPr/>
              <a:lstStyle/>
              <a:p>
                <a:r>
                  <a:rPr lang="en-IN">
                    <a:noFill/>
                  </a:rPr>
                  <a:t> </a:t>
                </a:r>
              </a:p>
            </p:txBody>
          </p:sp>
        </mc:Fallback>
      </mc:AlternateContent>
    </p:spTree>
    <p:extLst>
      <p:ext uri="{BB962C8B-B14F-4D97-AF65-F5344CB8AC3E}">
        <p14:creationId xmlns:p14="http://schemas.microsoft.com/office/powerpoint/2010/main" val="2063298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xit" presetSubtype="0" fill="hold" nodeType="clickEffect">
                                  <p:stCondLst>
                                    <p:cond delay="0"/>
                                  </p:stCondLst>
                                  <p:childTnLst>
                                    <p:set>
                                      <p:cBhvr>
                                        <p:cTn id="6" dur="1" fill="hold">
                                          <p:stCondLst>
                                            <p:cond delay="0"/>
                                          </p:stCondLst>
                                        </p:cTn>
                                        <p:tgtEl>
                                          <p:spTgt spid="9"/>
                                        </p:tgtEl>
                                        <p:attrNameLst>
                                          <p:attrName>style.visibility</p:attrName>
                                        </p:attrNameLst>
                                      </p:cBhvr>
                                      <p:to>
                                        <p:strVal val="hidden"/>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6"/>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6" grpId="0" animBg="1"/>
      <p:bldP spid="10" grpId="0" animBg="1"/>
      <p:bldP spid="13" grpId="0"/>
      <p:bldP spid="14" grpId="0" animBg="1"/>
      <p:bldP spid="7"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69D1AC30-C8F1-4E46-9D07-0E47F1D1D790}" type="slidenum">
              <a:rPr lang="en-US" smtClean="0"/>
              <a:t>7</a:t>
            </a:fld>
            <a:endParaRPr lang="en-US" dirty="0"/>
          </a:p>
        </p:txBody>
      </p:sp>
      <p:sp>
        <p:nvSpPr>
          <p:cNvPr id="5" name="Rectangle 4"/>
          <p:cNvSpPr/>
          <p:nvPr/>
        </p:nvSpPr>
        <p:spPr>
          <a:xfrm>
            <a:off x="699298" y="1555346"/>
            <a:ext cx="6787352" cy="2862322"/>
          </a:xfrm>
          <a:prstGeom prst="rect">
            <a:avLst/>
          </a:prstGeom>
        </p:spPr>
        <p:txBody>
          <a:bodyPr wrap="square">
            <a:spAutoFit/>
          </a:bodyPr>
          <a:lstStyle/>
          <a:p>
            <a:pPr marL="800100" lvl="1" indent="-342900">
              <a:lnSpc>
                <a:spcPct val="150000"/>
              </a:lnSpc>
              <a:buFont typeface="Arial" panose="020B0604020202020204" pitchFamily="34" charset="0"/>
              <a:buChar char="•"/>
            </a:pPr>
            <a:r>
              <a:rPr lang="en-US" sz="2400" dirty="0"/>
              <a:t> Random number generator</a:t>
            </a:r>
          </a:p>
          <a:p>
            <a:pPr marL="800100" lvl="1" indent="-342900">
              <a:lnSpc>
                <a:spcPct val="150000"/>
              </a:lnSpc>
              <a:buFont typeface="Arial" panose="020B0604020202020204" pitchFamily="34" charset="0"/>
              <a:buChar char="•"/>
            </a:pPr>
            <a:r>
              <a:rPr lang="en-US" sz="2400" dirty="0"/>
              <a:t>Sampling of Probability distribution functions </a:t>
            </a:r>
          </a:p>
          <a:p>
            <a:pPr marL="800100" lvl="1" indent="-342900">
              <a:lnSpc>
                <a:spcPct val="150000"/>
              </a:lnSpc>
              <a:buFont typeface="Arial" panose="020B0604020202020204" pitchFamily="34" charset="0"/>
              <a:buChar char="•"/>
            </a:pPr>
            <a:r>
              <a:rPr lang="en-US" sz="2400" dirty="0"/>
              <a:t>Scoring /tally specification</a:t>
            </a:r>
          </a:p>
          <a:p>
            <a:pPr marL="800100" lvl="1" indent="-342900">
              <a:lnSpc>
                <a:spcPct val="150000"/>
              </a:lnSpc>
              <a:buFont typeface="Arial" panose="020B0604020202020204" pitchFamily="34" charset="0"/>
              <a:buChar char="•"/>
            </a:pPr>
            <a:r>
              <a:rPr lang="en-US" sz="2400" dirty="0"/>
              <a:t>Error estimation ( 1/ √N,  N = number of trials )</a:t>
            </a:r>
          </a:p>
          <a:p>
            <a:pPr marL="800100" lvl="1" indent="-342900">
              <a:lnSpc>
                <a:spcPct val="150000"/>
              </a:lnSpc>
              <a:buFont typeface="Arial" panose="020B0604020202020204" pitchFamily="34" charset="0"/>
              <a:buChar char="•"/>
            </a:pPr>
            <a:r>
              <a:rPr lang="en-US" sz="2400" dirty="0"/>
              <a:t>Parallelization and </a:t>
            </a:r>
            <a:r>
              <a:rPr lang="en-US" sz="2400" dirty="0" err="1"/>
              <a:t>vectorization</a:t>
            </a:r>
            <a:r>
              <a:rPr lang="en-US" sz="2400" dirty="0"/>
              <a:t> </a:t>
            </a:r>
          </a:p>
        </p:txBody>
      </p:sp>
      <p:sp>
        <p:nvSpPr>
          <p:cNvPr id="7" name="Title 1"/>
          <p:cNvSpPr txBox="1">
            <a:spLocks/>
          </p:cNvSpPr>
          <p:nvPr/>
        </p:nvSpPr>
        <p:spPr>
          <a:xfrm>
            <a:off x="457200" y="365127"/>
            <a:ext cx="7886700" cy="735012"/>
          </a:xfrm>
          <a:prstGeom prst="rect">
            <a:avLst/>
          </a:prstGeom>
        </p:spPr>
        <p:txBody>
          <a:bodyPr vert="horz" lIns="91440" tIns="45720" rIns="91440" bIns="45720" rtlCol="0" anchor="ctr">
            <a:normAutofit fontScale="85000" lnSpcReduction="100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Basic elements of Monte Carlo method:</a:t>
            </a:r>
          </a:p>
        </p:txBody>
      </p:sp>
    </p:spTree>
    <p:extLst>
      <p:ext uri="{BB962C8B-B14F-4D97-AF65-F5344CB8AC3E}">
        <p14:creationId xmlns:p14="http://schemas.microsoft.com/office/powerpoint/2010/main" val="151221066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457200" y="365127"/>
            <a:ext cx="7886700" cy="73501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Pseudo Random number Generator :</a:t>
            </a:r>
          </a:p>
        </p:txBody>
      </p:sp>
      <p:sp>
        <p:nvSpPr>
          <p:cNvPr id="5" name="TextBox 4"/>
          <p:cNvSpPr txBox="1"/>
          <p:nvPr/>
        </p:nvSpPr>
        <p:spPr>
          <a:xfrm>
            <a:off x="457199" y="1100141"/>
            <a:ext cx="7527472" cy="461665"/>
          </a:xfrm>
          <a:prstGeom prst="rect">
            <a:avLst/>
          </a:prstGeom>
          <a:noFill/>
        </p:spPr>
        <p:txBody>
          <a:bodyPr wrap="square" rtlCol="0">
            <a:spAutoFit/>
          </a:bodyPr>
          <a:lstStyle/>
          <a:p>
            <a:r>
              <a:rPr lang="en-US" sz="2400" b="1" i="1" dirty="0">
                <a:solidFill>
                  <a:srgbClr val="C00000"/>
                </a:solidFill>
              </a:rPr>
              <a:t>Optimization of Computer time.</a:t>
            </a:r>
          </a:p>
        </p:txBody>
      </p:sp>
      <p:sp>
        <p:nvSpPr>
          <p:cNvPr id="6" name="Rectangle 5"/>
          <p:cNvSpPr/>
          <p:nvPr/>
        </p:nvSpPr>
        <p:spPr>
          <a:xfrm>
            <a:off x="457199" y="1508018"/>
            <a:ext cx="8392888" cy="4708981"/>
          </a:xfrm>
          <a:prstGeom prst="rect">
            <a:avLst/>
          </a:prstGeom>
        </p:spPr>
        <p:txBody>
          <a:bodyPr wrap="square">
            <a:spAutoFit/>
          </a:bodyPr>
          <a:lstStyle/>
          <a:p>
            <a:pPr marL="342900" indent="-342900" algn="just">
              <a:buFont typeface="Arial" panose="020B0604020202020204" pitchFamily="34" charset="0"/>
              <a:buChar char="•"/>
            </a:pPr>
            <a:r>
              <a:rPr lang="en-US" sz="2400" b="1" dirty="0"/>
              <a:t>Random numbers are the back bone of all the Monte Carlo methods .</a:t>
            </a:r>
          </a:p>
          <a:p>
            <a:pPr marL="342900" indent="-342900" algn="just">
              <a:buFont typeface="Arial" panose="020B0604020202020204" pitchFamily="34" charset="0"/>
              <a:buChar char="•"/>
            </a:pPr>
            <a:r>
              <a:rPr lang="en-US" sz="2400" b="1" dirty="0"/>
              <a:t>Monte Carlo simulation make use of random numbers generated by computer algorithms . </a:t>
            </a:r>
          </a:p>
          <a:p>
            <a:pPr marL="342900" indent="-342900" algn="just">
              <a:buFont typeface="Arial" panose="020B0604020202020204" pitchFamily="34" charset="0"/>
              <a:buChar char="•"/>
            </a:pPr>
            <a:endParaRPr lang="en-US" sz="2400" b="1" dirty="0"/>
          </a:p>
          <a:p>
            <a:pPr algn="just">
              <a:lnSpc>
                <a:spcPct val="150000"/>
              </a:lnSpc>
            </a:pPr>
            <a:r>
              <a:rPr lang="en-US" sz="2400" b="1" i="1" dirty="0">
                <a:solidFill>
                  <a:srgbClr val="C00000"/>
                </a:solidFill>
              </a:rPr>
              <a:t>Required properties of Pseudo Random number generators</a:t>
            </a:r>
          </a:p>
          <a:p>
            <a:pPr marL="342900" indent="-342900" algn="just">
              <a:lnSpc>
                <a:spcPct val="150000"/>
              </a:lnSpc>
              <a:buFont typeface="Arial" panose="020B0604020202020204" pitchFamily="34" charset="0"/>
              <a:buChar char="•"/>
            </a:pPr>
            <a:r>
              <a:rPr lang="en-US" sz="2400" b="1" dirty="0"/>
              <a:t>        Uniformity</a:t>
            </a:r>
          </a:p>
          <a:p>
            <a:pPr marL="342900" indent="-342900" algn="just">
              <a:lnSpc>
                <a:spcPct val="150000"/>
              </a:lnSpc>
              <a:buFont typeface="Arial" panose="020B0604020202020204" pitchFamily="34" charset="0"/>
              <a:buChar char="•"/>
            </a:pPr>
            <a:r>
              <a:rPr lang="en-US" sz="2400" b="1" dirty="0"/>
              <a:t>        Long Period</a:t>
            </a:r>
          </a:p>
          <a:p>
            <a:pPr marL="342900" indent="-342900">
              <a:lnSpc>
                <a:spcPct val="150000"/>
              </a:lnSpc>
              <a:buFont typeface="Arial" panose="020B0604020202020204" pitchFamily="34" charset="0"/>
              <a:buChar char="•"/>
            </a:pPr>
            <a:r>
              <a:rPr lang="en-US" sz="2400" b="1"/>
              <a:t>        Reproducibility</a:t>
            </a:r>
            <a:endParaRPr lang="en-US" sz="2400" b="1" dirty="0"/>
          </a:p>
          <a:p>
            <a:pPr marL="342900" indent="-342900">
              <a:lnSpc>
                <a:spcPct val="150000"/>
              </a:lnSpc>
              <a:buFont typeface="Arial" panose="020B0604020202020204" pitchFamily="34" charset="0"/>
              <a:buChar char="•"/>
            </a:pPr>
            <a:r>
              <a:rPr lang="en-US" sz="2400" b="1" dirty="0"/>
              <a:t>        Minimum number of Arithmetic steps </a:t>
            </a:r>
          </a:p>
        </p:txBody>
      </p:sp>
      <p:sp>
        <p:nvSpPr>
          <p:cNvPr id="2" name="Slide Number Placeholder 1"/>
          <p:cNvSpPr>
            <a:spLocks noGrp="1"/>
          </p:cNvSpPr>
          <p:nvPr>
            <p:ph type="sldNum" sz="quarter" idx="12"/>
          </p:nvPr>
        </p:nvSpPr>
        <p:spPr/>
        <p:txBody>
          <a:bodyPr/>
          <a:lstStyle/>
          <a:p>
            <a:fld id="{69D1AC30-C8F1-4E46-9D07-0E47F1D1D790}" type="slidenum">
              <a:rPr lang="en-US" smtClean="0"/>
              <a:t>8</a:t>
            </a:fld>
            <a:endParaRPr lang="en-US" dirty="0"/>
          </a:p>
        </p:txBody>
      </p:sp>
    </p:spTree>
    <p:extLst>
      <p:ext uri="{BB962C8B-B14F-4D97-AF65-F5344CB8AC3E}">
        <p14:creationId xmlns:p14="http://schemas.microsoft.com/office/powerpoint/2010/main" val="383297012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Table 3"/>
          <p:cNvGraphicFramePr>
            <a:graphicFrameLocks noGrp="1"/>
          </p:cNvGraphicFramePr>
          <p:nvPr>
            <p:extLst>
              <p:ext uri="{D42A27DB-BD31-4B8C-83A1-F6EECF244321}">
                <p14:modId xmlns:p14="http://schemas.microsoft.com/office/powerpoint/2010/main" val="3907704031"/>
              </p:ext>
            </p:extLst>
          </p:nvPr>
        </p:nvGraphicFramePr>
        <p:xfrm>
          <a:off x="25760" y="40341"/>
          <a:ext cx="9092485" cy="6681324"/>
        </p:xfrm>
        <a:graphic>
          <a:graphicData uri="http://schemas.openxmlformats.org/drawingml/2006/table">
            <a:tbl>
              <a:tblPr>
                <a:tableStyleId>{5C22544A-7EE6-4342-B048-85BDC9FD1C3A}</a:tableStyleId>
              </a:tblPr>
              <a:tblGrid>
                <a:gridCol w="4583550">
                  <a:extLst>
                    <a:ext uri="{9D8B030D-6E8A-4147-A177-3AD203B41FA5}">
                      <a16:colId xmlns:a16="http://schemas.microsoft.com/office/drawing/2014/main" val="20000"/>
                    </a:ext>
                  </a:extLst>
                </a:gridCol>
                <a:gridCol w="2077347">
                  <a:extLst>
                    <a:ext uri="{9D8B030D-6E8A-4147-A177-3AD203B41FA5}">
                      <a16:colId xmlns:a16="http://schemas.microsoft.com/office/drawing/2014/main" val="20001"/>
                    </a:ext>
                  </a:extLst>
                </a:gridCol>
                <a:gridCol w="1097282">
                  <a:extLst>
                    <a:ext uri="{9D8B030D-6E8A-4147-A177-3AD203B41FA5}">
                      <a16:colId xmlns:a16="http://schemas.microsoft.com/office/drawing/2014/main" val="20002"/>
                    </a:ext>
                  </a:extLst>
                </a:gridCol>
                <a:gridCol w="1334306">
                  <a:extLst>
                    <a:ext uri="{9D8B030D-6E8A-4147-A177-3AD203B41FA5}">
                      <a16:colId xmlns:a16="http://schemas.microsoft.com/office/drawing/2014/main" val="20003"/>
                    </a:ext>
                  </a:extLst>
                </a:gridCol>
              </a:tblGrid>
              <a:tr h="504396">
                <a:tc>
                  <a:txBody>
                    <a:bodyPr/>
                    <a:lstStyle/>
                    <a:p>
                      <a:pPr marL="0" marR="0" algn="ctr">
                        <a:lnSpc>
                          <a:spcPct val="105000"/>
                        </a:lnSpc>
                        <a:spcBef>
                          <a:spcPts val="1200"/>
                        </a:spcBef>
                        <a:spcAft>
                          <a:spcPts val="0"/>
                        </a:spcAft>
                      </a:pPr>
                      <a:r>
                        <a:rPr lang="en-US" sz="2400" b="1" dirty="0">
                          <a:effectLst/>
                        </a:rPr>
                        <a:t>Description</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800"/>
                        </a:spcAft>
                      </a:pPr>
                      <a:r>
                        <a:rPr lang="en-US" sz="1050" dirty="0">
                          <a:effectLst/>
                        </a:rPr>
                        <a:t> </a:t>
                      </a:r>
                      <a:r>
                        <a:rPr lang="en-US" sz="2400" b="1" dirty="0">
                          <a:effectLst/>
                        </a:rPr>
                        <a:t>Seeds</a:t>
                      </a:r>
                      <a:r>
                        <a:rPr lang="en-US" sz="2400" dirty="0">
                          <a:effectLst/>
                        </a:rPr>
                        <a:t> </a:t>
                      </a:r>
                      <a:r>
                        <a:rPr lang="en-US" sz="1050" dirty="0">
                          <a:effectLst/>
                        </a:rPr>
                        <a:t>                                                                </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800"/>
                        </a:spcAft>
                      </a:pPr>
                      <a:r>
                        <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rPr>
                        <a:t>Period</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0"/>
                        </a:spcAft>
                      </a:pPr>
                      <a:r>
                        <a:rPr lang="en-US" sz="2000" b="1" dirty="0">
                          <a:effectLst/>
                        </a:rPr>
                        <a:t>Average</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536383">
                <a:tc>
                  <a:txBody>
                    <a:bodyPr/>
                    <a:lstStyle/>
                    <a:p>
                      <a:pPr marL="342900" marR="0" lvl="0" indent="-342900" algn="l">
                        <a:lnSpc>
                          <a:spcPct val="105000"/>
                        </a:lnSpc>
                        <a:spcBef>
                          <a:spcPts val="0"/>
                        </a:spcBef>
                        <a:spcAft>
                          <a:spcPts val="0"/>
                        </a:spcAft>
                        <a:buSzPts val="1200"/>
                        <a:buFont typeface="+mj-lt"/>
                        <a:buAutoNum type="arabicPeriod"/>
                      </a:pPr>
                      <a:r>
                        <a:rPr lang="en-US" sz="2000" b="1" dirty="0">
                          <a:solidFill>
                            <a:srgbClr val="C00000"/>
                          </a:solidFill>
                          <a:effectLst/>
                        </a:rPr>
                        <a:t>r4_random ( s1, s2, s3 ).</a:t>
                      </a:r>
                      <a:endParaRPr lang="en-US" sz="2400" b="1" dirty="0">
                        <a:solidFill>
                          <a:srgbClr val="C00000"/>
                        </a:solidFill>
                        <a:effectLst/>
                      </a:endParaRPr>
                    </a:p>
                    <a:p>
                      <a:pPr marL="347980" marR="0" algn="l">
                        <a:lnSpc>
                          <a:spcPct val="105000"/>
                        </a:lnSpc>
                        <a:spcBef>
                          <a:spcPts val="0"/>
                        </a:spcBef>
                        <a:spcAft>
                          <a:spcPts val="0"/>
                        </a:spcAft>
                      </a:pPr>
                      <a:r>
                        <a:rPr lang="en-US" sz="1200" dirty="0">
                          <a:effectLst/>
                        </a:rPr>
                        <a:t>  </a:t>
                      </a:r>
                      <a:r>
                        <a:rPr lang="en-US" sz="1400" dirty="0">
                          <a:effectLst/>
                        </a:rPr>
                        <a:t>Linear Congruential 32 bit generator.</a:t>
                      </a:r>
                      <a:r>
                        <a:rPr lang="en-US" sz="1400" baseline="30000" dirty="0">
                          <a:effectLst/>
                        </a:rPr>
                        <a:t>[1]</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b="1" dirty="0">
                          <a:effectLst/>
                        </a:rPr>
                        <a:t> </a:t>
                      </a:r>
                      <a:r>
                        <a:rPr lang="en-US" sz="1600" b="1" u="sng" dirty="0">
                          <a:effectLst/>
                        </a:rPr>
                        <a:t>No of Seeds: 3</a:t>
                      </a:r>
                      <a:endParaRPr lang="en-US" sz="2000" b="1" u="sng" dirty="0">
                        <a:effectLst/>
                      </a:endParaRPr>
                    </a:p>
                    <a:p>
                      <a:pPr marL="0" marR="0" algn="ctr">
                        <a:lnSpc>
                          <a:spcPct val="105000"/>
                        </a:lnSpc>
                        <a:spcBef>
                          <a:spcPts val="0"/>
                        </a:spcBef>
                        <a:spcAft>
                          <a:spcPts val="0"/>
                        </a:spcAft>
                      </a:pPr>
                      <a:r>
                        <a:rPr lang="en-US" sz="1600" b="1" dirty="0">
                          <a:effectLst/>
                        </a:rPr>
                        <a:t> 1&lt; S1, S2, S3 &lt; 30000</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lnSpc>
                          <a:spcPct val="100000"/>
                        </a:lnSpc>
                        <a:spcAft>
                          <a:spcPts val="0"/>
                        </a:spcAft>
                      </a:pPr>
                      <a:r>
                        <a:rPr lang="en-US" sz="2000" b="1" dirty="0">
                          <a:effectLst/>
                        </a:rPr>
                        <a:t>6.9x10</a:t>
                      </a:r>
                      <a:r>
                        <a:rPr lang="en-US" sz="2000" b="1" baseline="30000" dirty="0">
                          <a:effectLst/>
                        </a:rPr>
                        <a:t>12</a:t>
                      </a:r>
                      <a:endParaRPr lang="en-US" sz="1800" b="1" dirty="0">
                        <a:effectLst/>
                      </a:endParaRPr>
                    </a:p>
                    <a:p>
                      <a:pPr marL="0" marR="0" algn="ctr">
                        <a:lnSpc>
                          <a:spcPct val="105000"/>
                        </a:lnSpc>
                        <a:spcBef>
                          <a:spcPts val="0"/>
                        </a:spcBef>
                        <a:spcAft>
                          <a:spcPts val="0"/>
                        </a:spcAft>
                      </a:pPr>
                      <a:r>
                        <a:rPr lang="en-US" sz="1000" dirty="0">
                          <a:effectLst/>
                        </a:rPr>
                        <a:t> </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l">
                        <a:lnSpc>
                          <a:spcPct val="105000"/>
                        </a:lnSpc>
                        <a:spcBef>
                          <a:spcPts val="0"/>
                        </a:spcBef>
                        <a:spcAft>
                          <a:spcPts val="0"/>
                        </a:spcAft>
                      </a:pPr>
                      <a:endParaRPr lang="en-US" sz="1000" dirty="0">
                        <a:effectLst/>
                      </a:endParaRPr>
                    </a:p>
                    <a:p>
                      <a:pPr marL="0" marR="0" algn="ctr">
                        <a:lnSpc>
                          <a:spcPct val="105000"/>
                        </a:lnSpc>
                        <a:spcBef>
                          <a:spcPts val="0"/>
                        </a:spcBef>
                        <a:spcAft>
                          <a:spcPts val="0"/>
                        </a:spcAft>
                      </a:pPr>
                      <a:r>
                        <a:rPr lang="en-US" sz="2000" b="1" dirty="0">
                          <a:effectLst/>
                        </a:rPr>
                        <a:t>0.4998</a:t>
                      </a:r>
                      <a:endParaRPr lang="en-US" sz="1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1"/>
                  </a:ext>
                </a:extLst>
              </a:tr>
              <a:tr h="600989">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2.       </a:t>
                      </a:r>
                      <a:r>
                        <a:rPr lang="en-US" sz="2000" b="1" dirty="0">
                          <a:solidFill>
                            <a:srgbClr val="C00000"/>
                          </a:solidFill>
                          <a:effectLst/>
                        </a:rPr>
                        <a:t>r4_uni ( s1, s2 ).</a:t>
                      </a:r>
                      <a:endParaRPr lang="en-US" sz="2400" b="1" dirty="0">
                        <a:solidFill>
                          <a:srgbClr val="C00000"/>
                        </a:solidFill>
                        <a:effectLst/>
                      </a:endParaRPr>
                    </a:p>
                    <a:p>
                      <a:pPr marL="347980" marR="0" algn="l">
                        <a:lnSpc>
                          <a:spcPct val="105000"/>
                        </a:lnSpc>
                        <a:spcBef>
                          <a:spcPts val="0"/>
                        </a:spcBef>
                        <a:spcAft>
                          <a:spcPts val="0"/>
                        </a:spcAft>
                      </a:pPr>
                      <a:r>
                        <a:rPr lang="en-US" sz="1200" dirty="0">
                          <a:effectLst/>
                        </a:rPr>
                        <a:t>  </a:t>
                      </a:r>
                      <a:r>
                        <a:rPr lang="en-US" sz="1400" dirty="0">
                          <a:effectLst/>
                        </a:rPr>
                        <a:t>Linear Congruential 32 bit generator.</a:t>
                      </a:r>
                      <a:r>
                        <a:rPr lang="en-US" sz="1400" baseline="30000" dirty="0">
                          <a:effectLst/>
                        </a:rPr>
                        <a:t>[1]</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b="1" u="sng" dirty="0">
                          <a:effectLst/>
                        </a:rPr>
                        <a:t>No of Seeds: 2</a:t>
                      </a:r>
                      <a:endParaRPr lang="en-US" sz="2000" b="1" u="sng" dirty="0">
                        <a:effectLst/>
                      </a:endParaRPr>
                    </a:p>
                    <a:p>
                      <a:pPr marL="0" marR="0" algn="ctr">
                        <a:lnSpc>
                          <a:spcPct val="105000"/>
                        </a:lnSpc>
                        <a:spcBef>
                          <a:spcPts val="0"/>
                        </a:spcBef>
                        <a:spcAft>
                          <a:spcPts val="0"/>
                        </a:spcAft>
                      </a:pPr>
                      <a:r>
                        <a:rPr lang="en-US" sz="1600" b="1" dirty="0">
                          <a:effectLst/>
                        </a:rPr>
                        <a:t>  1&lt; S1,S2 &lt;2147483562</a:t>
                      </a:r>
                      <a:endParaRPr lang="en-US" sz="2000" b="1" dirty="0">
                        <a:effectLst/>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l">
                        <a:lnSpc>
                          <a:spcPct val="200000"/>
                        </a:lnSpc>
                        <a:spcBef>
                          <a:spcPts val="1200"/>
                        </a:spcBef>
                        <a:spcAft>
                          <a:spcPts val="0"/>
                        </a:spcAft>
                      </a:pPr>
                      <a:r>
                        <a:rPr lang="en-US" sz="1050" dirty="0">
                          <a:effectLst/>
                        </a:rPr>
                        <a:t>    </a:t>
                      </a:r>
                      <a:r>
                        <a:rPr lang="en-US" sz="2000" b="1" dirty="0">
                          <a:effectLst/>
                        </a:rPr>
                        <a:t>2.3x10</a:t>
                      </a:r>
                      <a:r>
                        <a:rPr lang="en-US" sz="2000" b="1" baseline="30000" dirty="0">
                          <a:effectLst/>
                        </a:rPr>
                        <a:t>18</a:t>
                      </a:r>
                      <a:endParaRPr lang="en-US" sz="1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0.5000</a:t>
                      </a:r>
                      <a:endParaRPr lang="en-US" sz="105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2"/>
                  </a:ext>
                </a:extLst>
              </a:tr>
              <a:tr h="623526">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3.        </a:t>
                      </a:r>
                      <a:r>
                        <a:rPr lang="en-US" sz="2000" b="1" dirty="0">
                          <a:solidFill>
                            <a:srgbClr val="C00000"/>
                          </a:solidFill>
                          <a:effectLst/>
                        </a:rPr>
                        <a:t>r8_random ( s1, s2, s3 ).</a:t>
                      </a:r>
                      <a:endParaRPr lang="en-US" sz="2400" b="1" dirty="0">
                        <a:solidFill>
                          <a:srgbClr val="C00000"/>
                        </a:solidFill>
                        <a:effectLst/>
                      </a:endParaRPr>
                    </a:p>
                    <a:p>
                      <a:pPr marL="347980" marR="0" algn="l">
                        <a:lnSpc>
                          <a:spcPct val="105000"/>
                        </a:lnSpc>
                        <a:spcBef>
                          <a:spcPts val="0"/>
                        </a:spcBef>
                        <a:spcAft>
                          <a:spcPts val="0"/>
                        </a:spcAft>
                      </a:pPr>
                      <a:r>
                        <a:rPr lang="en-US" sz="1200" dirty="0">
                          <a:effectLst/>
                        </a:rPr>
                        <a:t>  </a:t>
                      </a:r>
                      <a:r>
                        <a:rPr lang="en-US" sz="1400" dirty="0">
                          <a:effectLst/>
                        </a:rPr>
                        <a:t>Linear Congruential 64 bit generator.</a:t>
                      </a:r>
                      <a:r>
                        <a:rPr lang="en-US" sz="1400" baseline="30000" dirty="0">
                          <a:effectLst/>
                        </a:rPr>
                        <a:t>[1]</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dirty="0">
                          <a:effectLst/>
                        </a:rPr>
                        <a:t> </a:t>
                      </a:r>
                      <a:r>
                        <a:rPr lang="en-US" sz="1600" b="1" u="sng" dirty="0">
                          <a:effectLst/>
                        </a:rPr>
                        <a:t>No of Seeds: 3</a:t>
                      </a:r>
                    </a:p>
                    <a:p>
                      <a:pPr marL="0" marR="0" algn="ctr">
                        <a:lnSpc>
                          <a:spcPct val="105000"/>
                        </a:lnSpc>
                        <a:spcBef>
                          <a:spcPts val="0"/>
                        </a:spcBef>
                        <a:spcAft>
                          <a:spcPts val="0"/>
                        </a:spcAft>
                      </a:pPr>
                      <a:r>
                        <a:rPr lang="en-US" sz="1600" b="1" dirty="0">
                          <a:effectLst/>
                        </a:rPr>
                        <a:t> 1 &lt; S1, S2, S3 &lt; 30000</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l">
                        <a:lnSpc>
                          <a:spcPct val="100000"/>
                        </a:lnSpc>
                        <a:spcBef>
                          <a:spcPts val="1200"/>
                        </a:spcBef>
                        <a:spcAft>
                          <a:spcPts val="0"/>
                        </a:spcAft>
                      </a:pPr>
                      <a:endParaRPr lang="en-US" sz="1000" b="0" baseline="0" dirty="0">
                        <a:effectLst/>
                      </a:endParaRPr>
                    </a:p>
                    <a:p>
                      <a:pPr marL="0" marR="0" algn="l">
                        <a:lnSpc>
                          <a:spcPct val="100000"/>
                        </a:lnSpc>
                        <a:spcBef>
                          <a:spcPts val="1200"/>
                        </a:spcBef>
                        <a:spcAft>
                          <a:spcPts val="0"/>
                        </a:spcAft>
                      </a:pPr>
                      <a:r>
                        <a:rPr lang="en-US" sz="1050" b="1" baseline="0" dirty="0">
                          <a:effectLst/>
                        </a:rPr>
                        <a:t> </a:t>
                      </a:r>
                      <a:r>
                        <a:rPr lang="en-US" sz="2000" b="1" dirty="0">
                          <a:effectLst/>
                        </a:rPr>
                        <a:t>6.9x10</a:t>
                      </a:r>
                      <a:r>
                        <a:rPr lang="en-US" sz="2000" b="1" baseline="30000" dirty="0">
                          <a:effectLst/>
                        </a:rPr>
                        <a:t>12</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0.4998</a:t>
                      </a:r>
                      <a:endParaRPr lang="en-US" sz="1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3"/>
                  </a:ext>
                </a:extLst>
              </a:tr>
              <a:tr h="587374">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4</a:t>
                      </a:r>
                      <a:r>
                        <a:rPr lang="en-US" sz="1400" b="1" dirty="0">
                          <a:solidFill>
                            <a:srgbClr val="C00000"/>
                          </a:solidFill>
                          <a:effectLst/>
                        </a:rPr>
                        <a:t>.        </a:t>
                      </a:r>
                      <a:r>
                        <a:rPr lang="en-US" sz="2000" b="1" dirty="0">
                          <a:solidFill>
                            <a:srgbClr val="C00000"/>
                          </a:solidFill>
                          <a:effectLst/>
                        </a:rPr>
                        <a:t>r8_uni ( s1, s2 ).</a:t>
                      </a:r>
                      <a:endParaRPr lang="en-US" sz="2400" b="1" dirty="0">
                        <a:solidFill>
                          <a:srgbClr val="C00000"/>
                        </a:solidFill>
                        <a:effectLst/>
                      </a:endParaRPr>
                    </a:p>
                    <a:p>
                      <a:pPr marL="347980" marR="0" algn="l">
                        <a:lnSpc>
                          <a:spcPct val="105000"/>
                        </a:lnSpc>
                        <a:spcBef>
                          <a:spcPts val="0"/>
                        </a:spcBef>
                        <a:spcAft>
                          <a:spcPts val="0"/>
                        </a:spcAft>
                      </a:pPr>
                      <a:r>
                        <a:rPr lang="en-US" sz="1400" dirty="0">
                          <a:effectLst/>
                        </a:rPr>
                        <a:t>  Linear Congruential 64 bit generator.</a:t>
                      </a:r>
                      <a:r>
                        <a:rPr lang="en-US" sz="1400" baseline="30000" dirty="0">
                          <a:effectLst/>
                        </a:rPr>
                        <a:t>[1]</a:t>
                      </a:r>
                      <a:endParaRPr lang="en-US" sz="1600" dirty="0">
                        <a:effectLst/>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u="sng" dirty="0">
                          <a:effectLst/>
                        </a:rPr>
                        <a:t> </a:t>
                      </a:r>
                      <a:r>
                        <a:rPr lang="en-US" sz="1600" b="1" u="sng" dirty="0">
                          <a:effectLst/>
                        </a:rPr>
                        <a:t>No of Seeds:2</a:t>
                      </a:r>
                    </a:p>
                    <a:p>
                      <a:pPr marL="0" marR="0" algn="ctr">
                        <a:lnSpc>
                          <a:spcPct val="105000"/>
                        </a:lnSpc>
                        <a:spcBef>
                          <a:spcPts val="0"/>
                        </a:spcBef>
                        <a:spcAft>
                          <a:spcPts val="0"/>
                        </a:spcAft>
                      </a:pPr>
                      <a:r>
                        <a:rPr lang="en-US" sz="1600" b="1" dirty="0">
                          <a:effectLst/>
                        </a:rPr>
                        <a:t> 1&lt; S1,S2 &lt;2147483562</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1000" dirty="0">
                          <a:effectLst/>
                        </a:rPr>
                        <a:t>  </a:t>
                      </a:r>
                      <a:r>
                        <a:rPr lang="en-US" sz="2000" b="1" dirty="0">
                          <a:effectLst/>
                        </a:rPr>
                        <a:t>2.3x10</a:t>
                      </a:r>
                      <a:r>
                        <a:rPr lang="en-US" sz="2000" b="1" baseline="30000" dirty="0">
                          <a:effectLst/>
                        </a:rPr>
                        <a:t>18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0.5000</a:t>
                      </a:r>
                      <a:endParaRPr lang="en-US" sz="1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4"/>
                  </a:ext>
                </a:extLst>
              </a:tr>
              <a:tr h="763256">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5.        </a:t>
                      </a:r>
                      <a:r>
                        <a:rPr lang="en-US" sz="2000" b="1" dirty="0">
                          <a:solidFill>
                            <a:srgbClr val="C00000"/>
                          </a:solidFill>
                          <a:effectLst/>
                        </a:rPr>
                        <a:t>r4_uniform_01 ( seed2 ).</a:t>
                      </a:r>
                      <a:endParaRPr lang="en-US" sz="2400" b="1" dirty="0">
                        <a:solidFill>
                          <a:srgbClr val="C00000"/>
                        </a:solidFill>
                        <a:effectLst/>
                      </a:endParaRPr>
                    </a:p>
                    <a:p>
                      <a:pPr marL="436245" marR="0" algn="l">
                        <a:lnSpc>
                          <a:spcPct val="105000"/>
                        </a:lnSpc>
                        <a:spcBef>
                          <a:spcPts val="0"/>
                        </a:spcBef>
                        <a:spcAft>
                          <a:spcPts val="0"/>
                        </a:spcAft>
                      </a:pPr>
                      <a:r>
                        <a:rPr lang="en-US" sz="1400" dirty="0">
                          <a:effectLst/>
                        </a:rPr>
                        <a:t>Multiplicative pseudo random number generator.</a:t>
                      </a:r>
                      <a:r>
                        <a:rPr lang="en-US" sz="1400" baseline="30000" dirty="0">
                          <a:effectLst/>
                        </a:rPr>
                        <a:t>[2] [3] [4] [5]</a:t>
                      </a:r>
                      <a:r>
                        <a:rPr lang="en-US" sz="1400" dirty="0">
                          <a:effectLst/>
                        </a:rPr>
                        <a:t> 32 bit generator</a:t>
                      </a:r>
                      <a:endParaRPr lang="en-US" sz="16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800" dirty="0">
                          <a:effectLst/>
                        </a:rPr>
                        <a:t> </a:t>
                      </a:r>
                      <a:r>
                        <a:rPr lang="en-US" sz="1600" b="1" u="sng" dirty="0">
                          <a:effectLst/>
                        </a:rPr>
                        <a:t>No of Seeds: 1</a:t>
                      </a:r>
                    </a:p>
                    <a:p>
                      <a:pPr marL="0" marR="0" algn="ctr">
                        <a:lnSpc>
                          <a:spcPct val="105000"/>
                        </a:lnSpc>
                        <a:spcBef>
                          <a:spcPts val="0"/>
                        </a:spcBef>
                        <a:spcAft>
                          <a:spcPts val="0"/>
                        </a:spcAft>
                      </a:pPr>
                      <a:r>
                        <a:rPr lang="en-US" sz="1600" b="1" dirty="0">
                          <a:effectLst/>
                        </a:rPr>
                        <a:t> 1&lt;  S1  &lt;2147483562</a:t>
                      </a: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000" dirty="0">
                          <a:effectLst/>
                        </a:rPr>
                        <a:t> </a:t>
                      </a:r>
                    </a:p>
                    <a:p>
                      <a:pPr marL="119380" marR="0" algn="ctr">
                        <a:lnSpc>
                          <a:spcPct val="105000"/>
                        </a:lnSpc>
                        <a:spcBef>
                          <a:spcPts val="0"/>
                        </a:spcBef>
                        <a:spcAft>
                          <a:spcPts val="0"/>
                        </a:spcAft>
                      </a:pPr>
                      <a:r>
                        <a:rPr lang="en-US" sz="1800" dirty="0">
                          <a:effectLst/>
                        </a:rPr>
                        <a:t>NA</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0.4997</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5"/>
                  </a:ext>
                </a:extLst>
              </a:tr>
              <a:tr h="771645">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6</a:t>
                      </a:r>
                      <a:r>
                        <a:rPr lang="en-US" sz="1400" b="1" dirty="0">
                          <a:solidFill>
                            <a:srgbClr val="C00000"/>
                          </a:solidFill>
                          <a:effectLst/>
                        </a:rPr>
                        <a:t>.       </a:t>
                      </a:r>
                      <a:r>
                        <a:rPr lang="en-US" sz="2000" b="1" dirty="0">
                          <a:solidFill>
                            <a:srgbClr val="C00000"/>
                          </a:solidFill>
                          <a:effectLst/>
                        </a:rPr>
                        <a:t>r8_uniform_01 ( seed3 ). </a:t>
                      </a:r>
                    </a:p>
                    <a:p>
                      <a:pPr marL="0" marR="0" lvl="0" indent="0" algn="ctr">
                        <a:lnSpc>
                          <a:spcPct val="107000"/>
                        </a:lnSpc>
                        <a:spcBef>
                          <a:spcPts val="0"/>
                        </a:spcBef>
                        <a:spcAft>
                          <a:spcPts val="0"/>
                        </a:spcAft>
                        <a:buSzPts val="1200"/>
                        <a:buFont typeface="+mj-lt"/>
                        <a:buNone/>
                      </a:pPr>
                      <a:r>
                        <a:rPr lang="en-US" sz="1400" b="0" dirty="0">
                          <a:effectLst/>
                        </a:rPr>
                        <a:t>           Multiplicative pseudo random</a:t>
                      </a:r>
                      <a:r>
                        <a:rPr lang="en-US" sz="1400" b="0" baseline="0" dirty="0">
                          <a:effectLst/>
                        </a:rPr>
                        <a:t> </a:t>
                      </a:r>
                      <a:r>
                        <a:rPr lang="en-US" sz="1400" b="0" dirty="0">
                          <a:effectLst/>
                        </a:rPr>
                        <a:t>number generator.</a:t>
                      </a:r>
                      <a:r>
                        <a:rPr lang="en-US" sz="1400" b="0" baseline="30000" dirty="0">
                          <a:effectLst/>
                        </a:rPr>
                        <a:t>[2] [3] [4] [5]</a:t>
                      </a:r>
                      <a:r>
                        <a:rPr lang="en-US" sz="1400" b="0" dirty="0">
                          <a:effectLst/>
                        </a:rPr>
                        <a:t>  64  bit generator</a:t>
                      </a:r>
                      <a:endParaRPr lang="en-US" sz="1400" b="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dirty="0">
                          <a:effectLst/>
                        </a:rPr>
                        <a:t> </a:t>
                      </a:r>
                      <a:r>
                        <a:rPr lang="en-US" sz="1600" b="1" u="sng" dirty="0">
                          <a:effectLst/>
                        </a:rPr>
                        <a:t>No of Seeds: 1</a:t>
                      </a:r>
                    </a:p>
                    <a:p>
                      <a:pPr marL="0" marR="0" algn="ctr">
                        <a:lnSpc>
                          <a:spcPct val="105000"/>
                        </a:lnSpc>
                        <a:spcBef>
                          <a:spcPts val="0"/>
                        </a:spcBef>
                        <a:spcAft>
                          <a:spcPts val="0"/>
                        </a:spcAft>
                      </a:pPr>
                      <a:r>
                        <a:rPr lang="en-US" sz="1600" b="1" dirty="0">
                          <a:effectLst/>
                        </a:rPr>
                        <a:t> 1&lt; S1 &lt;2147483562</a:t>
                      </a:r>
                    </a:p>
                    <a:p>
                      <a:pPr marL="0" marR="0" algn="ctr">
                        <a:lnSpc>
                          <a:spcPct val="105000"/>
                        </a:lnSpc>
                        <a:spcBef>
                          <a:spcPts val="0"/>
                        </a:spcBef>
                        <a:spcAft>
                          <a:spcPts val="800"/>
                        </a:spcAft>
                      </a:pPr>
                      <a:r>
                        <a:rPr lang="en-US" sz="1000" dirty="0">
                          <a:effectLst/>
                        </a:rPr>
                        <a:t> </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000" dirty="0">
                          <a:effectLst/>
                        </a:rPr>
                        <a:t> </a:t>
                      </a:r>
                    </a:p>
                    <a:p>
                      <a:pPr marL="119380" marR="0" algn="ctr">
                        <a:lnSpc>
                          <a:spcPct val="105000"/>
                        </a:lnSpc>
                        <a:spcBef>
                          <a:spcPts val="0"/>
                        </a:spcBef>
                        <a:spcAft>
                          <a:spcPts val="800"/>
                        </a:spcAft>
                      </a:pPr>
                      <a:r>
                        <a:rPr lang="en-US" sz="1800" dirty="0">
                          <a:effectLst/>
                        </a:rPr>
                        <a:t>NA</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0.4997</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6"/>
                  </a:ext>
                </a:extLst>
              </a:tr>
              <a:tr h="771645">
                <a:tc>
                  <a:txBody>
                    <a:bodyPr/>
                    <a:lstStyle/>
                    <a:p>
                      <a:pPr marL="0" marR="0" lvl="0" indent="0" algn="l">
                        <a:lnSpc>
                          <a:spcPct val="107000"/>
                        </a:lnSpc>
                        <a:spcBef>
                          <a:spcPts val="0"/>
                        </a:spcBef>
                        <a:spcAft>
                          <a:spcPts val="0"/>
                        </a:spcAft>
                        <a:buSzPts val="1200"/>
                        <a:buFont typeface="+mj-lt"/>
                        <a:buNone/>
                      </a:pPr>
                      <a:r>
                        <a:rPr lang="en-US" sz="1200" b="1" dirty="0">
                          <a:solidFill>
                            <a:srgbClr val="C00000"/>
                          </a:solidFill>
                          <a:effectLst/>
                        </a:rPr>
                        <a:t>7.       </a:t>
                      </a:r>
                      <a:r>
                        <a:rPr lang="en-US" sz="2000" b="1" dirty="0">
                          <a:solidFill>
                            <a:srgbClr val="C00000"/>
                          </a:solidFill>
                          <a:effectLst/>
                        </a:rPr>
                        <a:t>r8_uniform_02 ( seed1 ).</a:t>
                      </a:r>
                    </a:p>
                    <a:p>
                      <a:pPr marL="0" marR="0" lvl="0" indent="0" algn="ctr">
                        <a:lnSpc>
                          <a:spcPct val="107000"/>
                        </a:lnSpc>
                        <a:spcBef>
                          <a:spcPts val="0"/>
                        </a:spcBef>
                        <a:spcAft>
                          <a:spcPts val="0"/>
                        </a:spcAft>
                        <a:buSzPts val="1200"/>
                        <a:buFont typeface="+mj-lt"/>
                        <a:buNone/>
                      </a:pPr>
                      <a:r>
                        <a:rPr lang="en-US" sz="1200" b="1" dirty="0">
                          <a:effectLst/>
                        </a:rPr>
                        <a:t>           </a:t>
                      </a:r>
                      <a:r>
                        <a:rPr lang="en-US" sz="1400" dirty="0">
                          <a:effectLst/>
                        </a:rPr>
                        <a:t>Multiplicative pseudo random number generator.</a:t>
                      </a:r>
                      <a:r>
                        <a:rPr lang="en-US" sz="1400" baseline="30000" dirty="0">
                          <a:effectLst/>
                        </a:rPr>
                        <a:t>[2] [3] [4] [5] </a:t>
                      </a:r>
                      <a:r>
                        <a:rPr lang="en-US" sz="1400" dirty="0">
                          <a:effectLst/>
                        </a:rPr>
                        <a:t> 64 bit generator</a:t>
                      </a:r>
                      <a:endParaRPr lang="en-US" sz="16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600" dirty="0">
                          <a:effectLst/>
                        </a:rPr>
                        <a:t> </a:t>
                      </a:r>
                      <a:r>
                        <a:rPr lang="en-US" sz="1600" b="1" u="sng" dirty="0">
                          <a:effectLst/>
                        </a:rPr>
                        <a:t>No of Seeds:1</a:t>
                      </a:r>
                    </a:p>
                    <a:p>
                      <a:pPr marL="0" marR="0" algn="ctr">
                        <a:lnSpc>
                          <a:spcPct val="105000"/>
                        </a:lnSpc>
                        <a:spcBef>
                          <a:spcPts val="0"/>
                        </a:spcBef>
                        <a:spcAft>
                          <a:spcPts val="0"/>
                        </a:spcAft>
                      </a:pPr>
                      <a:r>
                        <a:rPr lang="en-US" sz="1600" b="1" dirty="0">
                          <a:effectLst/>
                        </a:rPr>
                        <a:t> 1&lt; S1 &lt;2147483562</a:t>
                      </a: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000" dirty="0">
                          <a:effectLst/>
                        </a:rPr>
                        <a:t> </a:t>
                      </a:r>
                    </a:p>
                    <a:p>
                      <a:pPr marL="119380" marR="0" algn="ctr">
                        <a:lnSpc>
                          <a:spcPct val="105000"/>
                        </a:lnSpc>
                        <a:spcBef>
                          <a:spcPts val="0"/>
                        </a:spcBef>
                        <a:spcAft>
                          <a:spcPts val="800"/>
                        </a:spcAft>
                      </a:pPr>
                      <a:r>
                        <a:rPr lang="en-US" sz="1800" dirty="0">
                          <a:effectLst/>
                        </a:rPr>
                        <a:t>NA</a:t>
                      </a:r>
                      <a:endParaRPr lang="en-US" sz="10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0.4997</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7"/>
                  </a:ext>
                </a:extLst>
              </a:tr>
              <a:tr h="751236">
                <a:tc>
                  <a:txBody>
                    <a:bodyPr/>
                    <a:lstStyle/>
                    <a:p>
                      <a:pPr marL="228600" marR="0" lvl="0" indent="-228600" algn="l">
                        <a:lnSpc>
                          <a:spcPct val="100000"/>
                        </a:lnSpc>
                        <a:spcBef>
                          <a:spcPts val="0"/>
                        </a:spcBef>
                        <a:spcAft>
                          <a:spcPts val="800"/>
                        </a:spcAft>
                        <a:buSzPts val="1200"/>
                        <a:buFont typeface="+mj-lt"/>
                        <a:buAutoNum type="arabicPeriod" startAt="8"/>
                      </a:pPr>
                      <a:r>
                        <a:rPr lang="en-US" sz="2000" b="1" dirty="0">
                          <a:solidFill>
                            <a:srgbClr val="C00000"/>
                          </a:solidFill>
                          <a:effectLst/>
                        </a:rPr>
                        <a:t>    </a:t>
                      </a:r>
                      <a:r>
                        <a:rPr lang="en-US" sz="2000" b="1" dirty="0" err="1">
                          <a:solidFill>
                            <a:srgbClr val="C00000"/>
                          </a:solidFill>
                          <a:effectLst/>
                        </a:rPr>
                        <a:t>ranC</a:t>
                      </a:r>
                      <a:r>
                        <a:rPr lang="en-US" sz="2000" b="1" dirty="0">
                          <a:solidFill>
                            <a:srgbClr val="C00000"/>
                          </a:solidFill>
                          <a:effectLst/>
                        </a:rPr>
                        <a:t>( </a:t>
                      </a:r>
                      <a:r>
                        <a:rPr lang="en-US" sz="2000" b="1" dirty="0" err="1">
                          <a:solidFill>
                            <a:srgbClr val="C00000"/>
                          </a:solidFill>
                          <a:effectLst/>
                        </a:rPr>
                        <a:t>idumC</a:t>
                      </a:r>
                      <a:r>
                        <a:rPr lang="en-US" sz="2000" b="1" dirty="0">
                          <a:solidFill>
                            <a:srgbClr val="C00000"/>
                          </a:solidFill>
                          <a:effectLst/>
                        </a:rPr>
                        <a:t> ).</a:t>
                      </a:r>
                      <a:r>
                        <a:rPr lang="en-US" sz="2400" b="1" baseline="0" dirty="0">
                          <a:solidFill>
                            <a:srgbClr val="C00000"/>
                          </a:solidFill>
                          <a:effectLst/>
                        </a:rPr>
                        <a:t>                                  </a:t>
                      </a:r>
                      <a:r>
                        <a:rPr lang="en-US" sz="1200" dirty="0">
                          <a:effectLst/>
                        </a:rPr>
                        <a:t>Multiplicative pseudo random number generator.</a:t>
                      </a:r>
                      <a:r>
                        <a:rPr lang="en-US" sz="1200" baseline="30000" dirty="0">
                          <a:effectLst/>
                        </a:rPr>
                        <a:t>[6]</a:t>
                      </a:r>
                      <a:r>
                        <a:rPr lang="en-US" sz="1200" dirty="0">
                          <a:effectLst/>
                        </a:rPr>
                        <a:t> </a:t>
                      </a:r>
                      <a:r>
                        <a:rPr lang="en-US" sz="1400" dirty="0">
                          <a:effectLst/>
                        </a:rPr>
                        <a:t> </a:t>
                      </a:r>
                      <a:r>
                        <a:rPr lang="en-US" sz="1200" dirty="0">
                          <a:effectLst/>
                        </a:rPr>
                        <a:t>It is a</a:t>
                      </a:r>
                      <a:r>
                        <a:rPr lang="en-US" sz="1200" baseline="0" dirty="0">
                          <a:effectLst/>
                        </a:rPr>
                        <a:t>  </a:t>
                      </a:r>
                      <a:r>
                        <a:rPr lang="en-US" sz="1200" dirty="0">
                          <a:effectLst/>
                        </a:rPr>
                        <a:t>32                        </a:t>
                      </a:r>
                      <a:r>
                        <a:rPr lang="en-US" sz="1200" baseline="0" dirty="0">
                          <a:effectLst/>
                        </a:rPr>
                        <a:t>        </a:t>
                      </a:r>
                      <a:r>
                        <a:rPr lang="en-US" sz="1200" dirty="0">
                          <a:effectLst/>
                        </a:rPr>
                        <a:t>bit generator, and it uses intrinsic MIN MAX functions.</a:t>
                      </a:r>
                      <a:endParaRPr lang="en-US" sz="1400" dirty="0">
                        <a:effectLst/>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900" dirty="0">
                          <a:effectLst/>
                        </a:rPr>
                        <a:t> </a:t>
                      </a:r>
                      <a:r>
                        <a:rPr lang="en-US" sz="1400" b="1" u="sng" dirty="0">
                          <a:effectLst/>
                        </a:rPr>
                        <a:t>No of Seeds:1</a:t>
                      </a:r>
                      <a:endParaRPr lang="en-US" sz="1800" b="1" u="sng" dirty="0">
                        <a:effectLst/>
                      </a:endParaRPr>
                    </a:p>
                    <a:p>
                      <a:pPr marL="0" marR="0" algn="ctr">
                        <a:lnSpc>
                          <a:spcPct val="105000"/>
                        </a:lnSpc>
                        <a:spcBef>
                          <a:spcPts val="0"/>
                        </a:spcBef>
                        <a:spcAft>
                          <a:spcPts val="0"/>
                        </a:spcAft>
                      </a:pPr>
                      <a:r>
                        <a:rPr lang="en-US" sz="1400" b="1" dirty="0">
                          <a:effectLst/>
                        </a:rPr>
                        <a:t> </a:t>
                      </a:r>
                      <a:r>
                        <a:rPr lang="en-US" sz="1600" b="1" dirty="0">
                          <a:effectLst/>
                        </a:rPr>
                        <a:t>S1 = Negative integer</a:t>
                      </a:r>
                      <a:endParaRPr lang="en-US" sz="18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000" dirty="0">
                          <a:effectLst/>
                        </a:rPr>
                        <a:t> </a:t>
                      </a:r>
                    </a:p>
                    <a:p>
                      <a:pPr marL="119380" marR="0" algn="ctr">
                        <a:lnSpc>
                          <a:spcPct val="105000"/>
                        </a:lnSpc>
                        <a:spcBef>
                          <a:spcPts val="0"/>
                        </a:spcBef>
                        <a:spcAft>
                          <a:spcPts val="800"/>
                        </a:spcAft>
                      </a:pPr>
                      <a:r>
                        <a:rPr lang="en-US" sz="2000" b="1" dirty="0">
                          <a:effectLst/>
                        </a:rPr>
                        <a:t>&gt;2x10</a:t>
                      </a:r>
                      <a:r>
                        <a:rPr lang="en-US" sz="2000" b="1" baseline="30000" dirty="0">
                          <a:effectLst/>
                        </a:rPr>
                        <a:t>18</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0.4999</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8"/>
                  </a:ext>
                </a:extLst>
              </a:tr>
              <a:tr h="757246">
                <a:tc>
                  <a:txBody>
                    <a:bodyPr/>
                    <a:lstStyle/>
                    <a:p>
                      <a:pPr marL="228600" marR="0" lvl="0" indent="-228600" algn="l">
                        <a:lnSpc>
                          <a:spcPct val="105000"/>
                        </a:lnSpc>
                        <a:spcBef>
                          <a:spcPts val="0"/>
                        </a:spcBef>
                        <a:spcAft>
                          <a:spcPts val="800"/>
                        </a:spcAft>
                        <a:buSzPts val="1200"/>
                        <a:buFont typeface="+mj-lt"/>
                        <a:buAutoNum type="arabicPeriod" startAt="9"/>
                      </a:pPr>
                      <a:r>
                        <a:rPr lang="en-US" sz="2000" b="1" dirty="0">
                          <a:solidFill>
                            <a:srgbClr val="C00000"/>
                          </a:solidFill>
                          <a:effectLst/>
                        </a:rPr>
                        <a:t>    </a:t>
                      </a:r>
                      <a:r>
                        <a:rPr lang="en-US" sz="2000" b="1" dirty="0" err="1">
                          <a:solidFill>
                            <a:srgbClr val="C00000"/>
                          </a:solidFill>
                          <a:effectLst/>
                        </a:rPr>
                        <a:t>ranE</a:t>
                      </a:r>
                      <a:r>
                        <a:rPr lang="en-US" sz="2000" b="1" dirty="0">
                          <a:solidFill>
                            <a:srgbClr val="C00000"/>
                          </a:solidFill>
                          <a:effectLst/>
                        </a:rPr>
                        <a:t>( </a:t>
                      </a:r>
                      <a:r>
                        <a:rPr lang="en-US" sz="2000" b="1" dirty="0" err="1">
                          <a:solidFill>
                            <a:srgbClr val="C00000"/>
                          </a:solidFill>
                          <a:effectLst/>
                        </a:rPr>
                        <a:t>idumE</a:t>
                      </a:r>
                      <a:r>
                        <a:rPr lang="en-US" sz="2000" b="1" dirty="0">
                          <a:solidFill>
                            <a:srgbClr val="C00000"/>
                          </a:solidFill>
                          <a:effectLst/>
                        </a:rPr>
                        <a:t> )</a:t>
                      </a:r>
                      <a:r>
                        <a:rPr lang="en-US" sz="2000" b="1" baseline="0" dirty="0">
                          <a:solidFill>
                            <a:srgbClr val="C00000"/>
                          </a:solidFill>
                          <a:effectLst/>
                        </a:rPr>
                        <a:t>                                                                     </a:t>
                      </a:r>
                      <a:r>
                        <a:rPr lang="en-US" sz="2400" b="1" dirty="0">
                          <a:effectLst/>
                        </a:rPr>
                        <a:t> </a:t>
                      </a:r>
                      <a:r>
                        <a:rPr lang="en-US" sz="1200" dirty="0">
                          <a:effectLst/>
                        </a:rPr>
                        <a:t>Multiplicative pseudo random number generator. </a:t>
                      </a:r>
                      <a:r>
                        <a:rPr lang="en-US" sz="1200" baseline="30000" dirty="0">
                          <a:effectLst/>
                        </a:rPr>
                        <a:t>[6]</a:t>
                      </a:r>
                      <a:r>
                        <a:rPr lang="en-US" sz="1200" dirty="0">
                          <a:effectLst/>
                        </a:rPr>
                        <a:t> Uses absolute value function and is a 32 bit generator.</a:t>
                      </a:r>
                      <a:endParaRPr lang="en-US" sz="12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0"/>
                        </a:spcAft>
                      </a:pPr>
                      <a:r>
                        <a:rPr lang="en-US" sz="800" dirty="0">
                          <a:effectLst/>
                        </a:rPr>
                        <a:t> </a:t>
                      </a:r>
                      <a:endParaRPr lang="en-US" sz="1000" dirty="0">
                        <a:effectLst/>
                      </a:endParaRPr>
                    </a:p>
                    <a:p>
                      <a:pPr marL="0" marR="0" algn="ctr">
                        <a:lnSpc>
                          <a:spcPct val="105000"/>
                        </a:lnSpc>
                        <a:spcBef>
                          <a:spcPts val="0"/>
                        </a:spcBef>
                        <a:spcAft>
                          <a:spcPts val="0"/>
                        </a:spcAft>
                      </a:pPr>
                      <a:r>
                        <a:rPr lang="en-US" sz="1600" b="1" u="sng" dirty="0">
                          <a:effectLst/>
                        </a:rPr>
                        <a:t>No of Seeds:1</a:t>
                      </a:r>
                    </a:p>
                    <a:p>
                      <a:pPr marL="0" marR="0" algn="ctr">
                        <a:lnSpc>
                          <a:spcPct val="105000"/>
                        </a:lnSpc>
                        <a:spcBef>
                          <a:spcPts val="0"/>
                        </a:spcBef>
                        <a:spcAft>
                          <a:spcPts val="0"/>
                        </a:spcAft>
                      </a:pPr>
                      <a:r>
                        <a:rPr lang="en-US" sz="1600" b="1" dirty="0">
                          <a:effectLst/>
                        </a:rPr>
                        <a:t> S1 = Negative integer </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119380" marR="0" algn="ctr">
                        <a:lnSpc>
                          <a:spcPct val="105000"/>
                        </a:lnSpc>
                        <a:spcBef>
                          <a:spcPts val="0"/>
                        </a:spcBef>
                        <a:spcAft>
                          <a:spcPts val="800"/>
                        </a:spcAft>
                      </a:pPr>
                      <a:r>
                        <a:rPr lang="en-US" sz="1050" dirty="0">
                          <a:effectLst/>
                        </a:rPr>
                        <a:t> </a:t>
                      </a:r>
                    </a:p>
                    <a:p>
                      <a:pPr marL="119380" marR="0" algn="ctr">
                        <a:lnSpc>
                          <a:spcPct val="105000"/>
                        </a:lnSpc>
                        <a:spcBef>
                          <a:spcPts val="0"/>
                        </a:spcBef>
                        <a:spcAft>
                          <a:spcPts val="800"/>
                        </a:spcAft>
                      </a:pPr>
                      <a:r>
                        <a:rPr lang="en-US" sz="2000" b="1" dirty="0">
                          <a:effectLst/>
                        </a:rPr>
                        <a:t>&gt;2x10</a:t>
                      </a:r>
                      <a:r>
                        <a:rPr lang="en-US" sz="2000" b="1" baseline="30000" dirty="0">
                          <a:effectLst/>
                        </a:rPr>
                        <a:t>18</a:t>
                      </a:r>
                      <a:endParaRPr lang="en-US" sz="2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1000" dirty="0">
                          <a:effectLst/>
                        </a:rPr>
                        <a:t> </a:t>
                      </a:r>
                    </a:p>
                    <a:p>
                      <a:pPr marL="0" marR="0" algn="ctr">
                        <a:lnSpc>
                          <a:spcPct val="105000"/>
                        </a:lnSpc>
                        <a:spcBef>
                          <a:spcPts val="0"/>
                        </a:spcBef>
                        <a:spcAft>
                          <a:spcPts val="0"/>
                        </a:spcAft>
                      </a:pPr>
                      <a:r>
                        <a:rPr lang="en-US" sz="2000" b="1" dirty="0">
                          <a:effectLst/>
                        </a:rPr>
                        <a:t>0.5003</a:t>
                      </a:r>
                      <a:endParaRPr lang="en-US" sz="10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2" name="Slide Number Placeholder 1"/>
          <p:cNvSpPr>
            <a:spLocks noGrp="1"/>
          </p:cNvSpPr>
          <p:nvPr>
            <p:ph type="sldNum" sz="quarter" idx="12"/>
          </p:nvPr>
        </p:nvSpPr>
        <p:spPr/>
        <p:txBody>
          <a:bodyPr/>
          <a:lstStyle/>
          <a:p>
            <a:fld id="{69D1AC30-C8F1-4E46-9D07-0E47F1D1D790}" type="slidenum">
              <a:rPr lang="en-US" smtClean="0"/>
              <a:t>9</a:t>
            </a:fld>
            <a:endParaRPr lang="en-US" dirty="0"/>
          </a:p>
        </p:txBody>
      </p:sp>
    </p:spTree>
    <p:extLst>
      <p:ext uri="{BB962C8B-B14F-4D97-AF65-F5344CB8AC3E}">
        <p14:creationId xmlns:p14="http://schemas.microsoft.com/office/powerpoint/2010/main" val="66861731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457200" y="365127"/>
            <a:ext cx="7886700" cy="735012"/>
          </a:xfrm>
          <a:prstGeom prst="rect">
            <a:avLst/>
          </a:prstGeom>
        </p:spPr>
        <p:txBody>
          <a:bodyPr vert="horz" lIns="91440" tIns="45720" rIns="91440" bIns="45720" rtlCol="0" anchor="ctr">
            <a:normAutofit fontScale="92500"/>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Pseudo Random number Generator :</a:t>
            </a:r>
          </a:p>
        </p:txBody>
      </p:sp>
      <p:sp>
        <p:nvSpPr>
          <p:cNvPr id="8" name="TextBox 7"/>
          <p:cNvSpPr txBox="1"/>
          <p:nvPr/>
        </p:nvSpPr>
        <p:spPr>
          <a:xfrm>
            <a:off x="457199" y="1100141"/>
            <a:ext cx="7527472" cy="461665"/>
          </a:xfrm>
          <a:prstGeom prst="rect">
            <a:avLst/>
          </a:prstGeom>
          <a:noFill/>
        </p:spPr>
        <p:txBody>
          <a:bodyPr wrap="square" rtlCol="0">
            <a:spAutoFit/>
          </a:bodyPr>
          <a:lstStyle/>
          <a:p>
            <a:r>
              <a:rPr lang="en-US" sz="2400" b="1" i="1" dirty="0">
                <a:solidFill>
                  <a:srgbClr val="C00000"/>
                </a:solidFill>
              </a:rPr>
              <a:t>Results of 9 Pseudo Random number generators:</a:t>
            </a:r>
          </a:p>
        </p:txBody>
      </p:sp>
      <p:sp>
        <p:nvSpPr>
          <p:cNvPr id="3" name="Slide Number Placeholder 2"/>
          <p:cNvSpPr>
            <a:spLocks noGrp="1"/>
          </p:cNvSpPr>
          <p:nvPr>
            <p:ph type="sldNum" sz="quarter" idx="12"/>
          </p:nvPr>
        </p:nvSpPr>
        <p:spPr/>
        <p:txBody>
          <a:bodyPr/>
          <a:lstStyle/>
          <a:p>
            <a:fld id="{69D1AC30-C8F1-4E46-9D07-0E47F1D1D790}" type="slidenum">
              <a:rPr lang="en-US" smtClean="0"/>
              <a:t>10</a:t>
            </a:fld>
            <a:endParaRPr lang="en-US" dirty="0"/>
          </a:p>
        </p:txBody>
      </p:sp>
      <p:pic>
        <p:nvPicPr>
          <p:cNvPr id="4" name="Picture 3"/>
          <p:cNvPicPr>
            <a:picLocks noChangeAspect="1"/>
          </p:cNvPicPr>
          <p:nvPr/>
        </p:nvPicPr>
        <p:blipFill>
          <a:blip r:embed="rId2"/>
          <a:stretch>
            <a:fillRect/>
          </a:stretch>
        </p:blipFill>
        <p:spPr>
          <a:xfrm>
            <a:off x="2205020" y="1740397"/>
            <a:ext cx="6796106" cy="4798516"/>
          </a:xfrm>
          <a:prstGeom prst="rect">
            <a:avLst/>
          </a:prstGeom>
        </p:spPr>
      </p:pic>
      <p:sp>
        <p:nvSpPr>
          <p:cNvPr id="5" name="Rectangle 4"/>
          <p:cNvSpPr/>
          <p:nvPr/>
        </p:nvSpPr>
        <p:spPr>
          <a:xfrm>
            <a:off x="597683" y="2466433"/>
            <a:ext cx="3131359" cy="360575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900"/>
              </a:spcBef>
            </a:pPr>
            <a:r>
              <a:rPr lang="en-US" sz="2000" b="1" dirty="0">
                <a:solidFill>
                  <a:srgbClr val="C00000"/>
                </a:solidFill>
              </a:rPr>
              <a:t>1. r4_random ( s1, s2, s3 ).</a:t>
            </a:r>
          </a:p>
          <a:p>
            <a:pPr>
              <a:spcBef>
                <a:spcPts val="900"/>
              </a:spcBef>
            </a:pPr>
            <a:r>
              <a:rPr lang="en-US" sz="2000" b="1" dirty="0">
                <a:solidFill>
                  <a:srgbClr val="C00000"/>
                </a:solidFill>
              </a:rPr>
              <a:t>2. r4_uni ( s1, s2 ).</a:t>
            </a:r>
          </a:p>
          <a:p>
            <a:pPr>
              <a:spcBef>
                <a:spcPts val="900"/>
              </a:spcBef>
            </a:pPr>
            <a:r>
              <a:rPr lang="en-US" sz="2000" b="1" dirty="0">
                <a:solidFill>
                  <a:srgbClr val="C00000"/>
                </a:solidFill>
              </a:rPr>
              <a:t>3. r8_random ( s1, s2, s3 ).</a:t>
            </a:r>
          </a:p>
          <a:p>
            <a:pPr>
              <a:spcBef>
                <a:spcPts val="900"/>
              </a:spcBef>
            </a:pPr>
            <a:r>
              <a:rPr lang="en-US" sz="2000" b="1" dirty="0">
                <a:solidFill>
                  <a:srgbClr val="C00000"/>
                </a:solidFill>
              </a:rPr>
              <a:t>4. r8_uni ( s1, s2 ).</a:t>
            </a:r>
          </a:p>
          <a:p>
            <a:pPr>
              <a:spcBef>
                <a:spcPts val="900"/>
              </a:spcBef>
            </a:pPr>
            <a:r>
              <a:rPr lang="en-US" sz="2000" b="1" dirty="0">
                <a:solidFill>
                  <a:srgbClr val="C00000"/>
                </a:solidFill>
              </a:rPr>
              <a:t>5. r4_uniform_01 ( seed2 ).</a:t>
            </a:r>
          </a:p>
          <a:p>
            <a:pPr>
              <a:spcBef>
                <a:spcPts val="900"/>
              </a:spcBef>
            </a:pPr>
            <a:r>
              <a:rPr lang="en-US" sz="2000" b="1" dirty="0">
                <a:solidFill>
                  <a:srgbClr val="C00000"/>
                </a:solidFill>
              </a:rPr>
              <a:t>6. r8_uniform_01 ( seed3 ). </a:t>
            </a:r>
          </a:p>
          <a:p>
            <a:pPr>
              <a:spcBef>
                <a:spcPts val="900"/>
              </a:spcBef>
            </a:pPr>
            <a:r>
              <a:rPr lang="en-US" sz="2000" b="1" dirty="0">
                <a:solidFill>
                  <a:srgbClr val="C00000"/>
                </a:solidFill>
              </a:rPr>
              <a:t>7. r8_uniform_02 ( seed1 ).</a:t>
            </a:r>
          </a:p>
          <a:p>
            <a:pPr>
              <a:spcBef>
                <a:spcPts val="900"/>
              </a:spcBef>
            </a:pPr>
            <a:r>
              <a:rPr lang="en-US" sz="2000" b="1" dirty="0">
                <a:solidFill>
                  <a:srgbClr val="C00000"/>
                </a:solidFill>
              </a:rPr>
              <a:t>8. </a:t>
            </a:r>
            <a:r>
              <a:rPr lang="en-US" sz="2000" b="1" dirty="0" err="1">
                <a:solidFill>
                  <a:srgbClr val="C00000"/>
                </a:solidFill>
              </a:rPr>
              <a:t>ranC</a:t>
            </a:r>
            <a:r>
              <a:rPr lang="en-US" sz="2000" b="1" dirty="0">
                <a:solidFill>
                  <a:srgbClr val="C00000"/>
                </a:solidFill>
              </a:rPr>
              <a:t>( </a:t>
            </a:r>
            <a:r>
              <a:rPr lang="en-US" sz="2000" b="1" dirty="0" err="1">
                <a:solidFill>
                  <a:srgbClr val="C00000"/>
                </a:solidFill>
              </a:rPr>
              <a:t>idumC</a:t>
            </a:r>
            <a:r>
              <a:rPr lang="en-US" sz="2000" b="1" dirty="0">
                <a:solidFill>
                  <a:srgbClr val="C00000"/>
                </a:solidFill>
              </a:rPr>
              <a:t> ).</a:t>
            </a:r>
          </a:p>
          <a:p>
            <a:pPr>
              <a:spcBef>
                <a:spcPts val="900"/>
              </a:spcBef>
            </a:pPr>
            <a:r>
              <a:rPr lang="en-US" sz="2000" b="1" dirty="0">
                <a:solidFill>
                  <a:srgbClr val="C00000"/>
                </a:solidFill>
              </a:rPr>
              <a:t>9. </a:t>
            </a:r>
            <a:r>
              <a:rPr lang="en-US" sz="2000" b="1" dirty="0" err="1">
                <a:solidFill>
                  <a:srgbClr val="C00000"/>
                </a:solidFill>
              </a:rPr>
              <a:t>ranE</a:t>
            </a:r>
            <a:r>
              <a:rPr lang="en-US" sz="2000" b="1" dirty="0">
                <a:solidFill>
                  <a:srgbClr val="C00000"/>
                </a:solidFill>
              </a:rPr>
              <a:t>( </a:t>
            </a:r>
            <a:r>
              <a:rPr lang="en-US" sz="2000" b="1" dirty="0" err="1">
                <a:solidFill>
                  <a:srgbClr val="C00000"/>
                </a:solidFill>
              </a:rPr>
              <a:t>idumE</a:t>
            </a:r>
            <a:r>
              <a:rPr lang="en-US" sz="2000" b="1" dirty="0">
                <a:solidFill>
                  <a:srgbClr val="C00000"/>
                </a:solidFill>
              </a:rPr>
              <a:t> ) </a:t>
            </a:r>
          </a:p>
        </p:txBody>
      </p:sp>
    </p:spTree>
    <p:extLst>
      <p:ext uri="{BB962C8B-B14F-4D97-AF65-F5344CB8AC3E}">
        <p14:creationId xmlns:p14="http://schemas.microsoft.com/office/powerpoint/2010/main" val="174928893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1"/>
          <p:cNvSpPr txBox="1">
            <a:spLocks/>
          </p:cNvSpPr>
          <p:nvPr/>
        </p:nvSpPr>
        <p:spPr>
          <a:xfrm>
            <a:off x="457200" y="365127"/>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Memory Allocation:</a:t>
            </a:r>
          </a:p>
        </p:txBody>
      </p:sp>
      <p:sp>
        <p:nvSpPr>
          <p:cNvPr id="10" name="TextBox 9"/>
          <p:cNvSpPr txBox="1"/>
          <p:nvPr/>
        </p:nvSpPr>
        <p:spPr>
          <a:xfrm>
            <a:off x="336855" y="1100141"/>
            <a:ext cx="7527472" cy="461665"/>
          </a:xfrm>
          <a:prstGeom prst="rect">
            <a:avLst/>
          </a:prstGeom>
          <a:noFill/>
        </p:spPr>
        <p:txBody>
          <a:bodyPr wrap="square" rtlCol="0">
            <a:spAutoFit/>
          </a:bodyPr>
          <a:lstStyle/>
          <a:p>
            <a:r>
              <a:rPr lang="en-US" sz="2400" b="1" i="1" dirty="0">
                <a:solidFill>
                  <a:srgbClr val="C00000"/>
                </a:solidFill>
              </a:rPr>
              <a:t>Optimization of memory in radiation transport problem :</a:t>
            </a:r>
          </a:p>
        </p:txBody>
      </p:sp>
      <p:sp>
        <p:nvSpPr>
          <p:cNvPr id="13" name="Rectangle 12"/>
          <p:cNvSpPr/>
          <p:nvPr/>
        </p:nvSpPr>
        <p:spPr>
          <a:xfrm>
            <a:off x="5818594" y="4074513"/>
            <a:ext cx="1456842" cy="1453841"/>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Hydrogen</a:t>
            </a:r>
          </a:p>
          <a:p>
            <a:pPr algn="ctr"/>
            <a:r>
              <a:rPr lang="en-US" sz="2000" b="1" dirty="0">
                <a:solidFill>
                  <a:schemeClr val="tx1"/>
                </a:solidFill>
              </a:rPr>
              <a:t>.</a:t>
            </a:r>
          </a:p>
          <a:p>
            <a:pPr algn="ctr"/>
            <a:r>
              <a:rPr lang="en-US" sz="2000" b="1" dirty="0">
                <a:solidFill>
                  <a:schemeClr val="tx1"/>
                </a:solidFill>
              </a:rPr>
              <a:t>Few thousands</a:t>
            </a:r>
          </a:p>
        </p:txBody>
      </p:sp>
      <p:sp>
        <p:nvSpPr>
          <p:cNvPr id="15" name="Rectangle 14"/>
          <p:cNvSpPr/>
          <p:nvPr/>
        </p:nvSpPr>
        <p:spPr>
          <a:xfrm>
            <a:off x="7379015" y="4074512"/>
            <a:ext cx="1354396" cy="2646964"/>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Uranium</a:t>
            </a:r>
          </a:p>
          <a:p>
            <a:pPr algn="ctr"/>
            <a:r>
              <a:rPr lang="en-US" sz="2000" b="1" dirty="0">
                <a:solidFill>
                  <a:schemeClr val="tx1"/>
                </a:solidFill>
              </a:rPr>
              <a:t>.</a:t>
            </a:r>
          </a:p>
          <a:p>
            <a:pPr algn="ctr"/>
            <a:r>
              <a:rPr lang="en-US" sz="2000" b="1" dirty="0">
                <a:solidFill>
                  <a:schemeClr val="tx1"/>
                </a:solidFill>
              </a:rPr>
              <a:t>.</a:t>
            </a:r>
          </a:p>
          <a:p>
            <a:pPr algn="ctr"/>
            <a:r>
              <a:rPr lang="en-US" sz="2000" b="1" dirty="0">
                <a:solidFill>
                  <a:schemeClr val="tx1"/>
                </a:solidFill>
              </a:rPr>
              <a:t>.</a:t>
            </a:r>
          </a:p>
          <a:p>
            <a:pPr algn="ctr"/>
            <a:r>
              <a:rPr lang="en-US" sz="2000" b="1" dirty="0">
                <a:solidFill>
                  <a:schemeClr val="tx1"/>
                </a:solidFill>
              </a:rPr>
              <a:t>.</a:t>
            </a:r>
          </a:p>
          <a:p>
            <a:pPr algn="ctr"/>
            <a:r>
              <a:rPr lang="en-US" sz="2000" b="1" dirty="0">
                <a:solidFill>
                  <a:schemeClr val="tx1"/>
                </a:solidFill>
              </a:rPr>
              <a:t>.</a:t>
            </a:r>
          </a:p>
          <a:p>
            <a:pPr algn="ctr"/>
            <a:r>
              <a:rPr lang="en-US" sz="2000" b="1" dirty="0">
                <a:solidFill>
                  <a:schemeClr val="tx1">
                    <a:lumMod val="95000"/>
                    <a:lumOff val="5000"/>
                  </a:schemeClr>
                </a:solidFill>
              </a:rPr>
              <a:t>Few Millions</a:t>
            </a:r>
          </a:p>
        </p:txBody>
      </p:sp>
      <p:pic>
        <p:nvPicPr>
          <p:cNvPr id="8" name="Picture 7"/>
          <p:cNvPicPr>
            <a:picLocks noChangeAspect="1"/>
          </p:cNvPicPr>
          <p:nvPr/>
        </p:nvPicPr>
        <p:blipFill>
          <a:blip r:embed="rId3"/>
          <a:stretch>
            <a:fillRect/>
          </a:stretch>
        </p:blipFill>
        <p:spPr>
          <a:xfrm>
            <a:off x="397013" y="3134616"/>
            <a:ext cx="5246814" cy="3231516"/>
          </a:xfrm>
          <a:prstGeom prst="rect">
            <a:avLst/>
          </a:prstGeom>
          <a:ln>
            <a:solidFill>
              <a:schemeClr val="accent1"/>
            </a:solidFill>
          </a:ln>
        </p:spPr>
      </p:pic>
      <p:sp>
        <p:nvSpPr>
          <p:cNvPr id="2" name="TextBox 1"/>
          <p:cNvSpPr txBox="1"/>
          <p:nvPr/>
        </p:nvSpPr>
        <p:spPr>
          <a:xfrm>
            <a:off x="5817464" y="3599137"/>
            <a:ext cx="2915949" cy="400110"/>
          </a:xfrm>
          <a:prstGeom prst="rect">
            <a:avLst/>
          </a:prstGeom>
          <a:solidFill>
            <a:schemeClr val="accent2">
              <a:lumMod val="40000"/>
              <a:lumOff val="60000"/>
            </a:schemeClr>
          </a:solidFill>
          <a:ln>
            <a:solidFill>
              <a:schemeClr val="accent1"/>
            </a:solidFill>
          </a:ln>
        </p:spPr>
        <p:txBody>
          <a:bodyPr wrap="square" rtlCol="0">
            <a:spAutoFit/>
          </a:bodyPr>
          <a:lstStyle/>
          <a:p>
            <a:pPr algn="ctr"/>
            <a:r>
              <a:rPr lang="en-US" sz="2000" b="1" dirty="0"/>
              <a:t>Data files</a:t>
            </a:r>
          </a:p>
        </p:txBody>
      </p:sp>
      <p:sp>
        <p:nvSpPr>
          <p:cNvPr id="11" name="TextBox 10"/>
          <p:cNvSpPr txBox="1"/>
          <p:nvPr/>
        </p:nvSpPr>
        <p:spPr>
          <a:xfrm>
            <a:off x="397013" y="2508212"/>
            <a:ext cx="5262856" cy="461665"/>
          </a:xfrm>
          <a:prstGeom prst="rect">
            <a:avLst/>
          </a:prstGeom>
          <a:solidFill>
            <a:schemeClr val="bg1"/>
          </a:solidFill>
          <a:ln>
            <a:solidFill>
              <a:schemeClr val="accent1"/>
            </a:solidFill>
          </a:ln>
        </p:spPr>
        <p:txBody>
          <a:bodyPr wrap="square" rtlCol="0">
            <a:spAutoFit/>
          </a:bodyPr>
          <a:lstStyle/>
          <a:p>
            <a:r>
              <a:rPr lang="en-US" sz="2400" dirty="0"/>
              <a:t>For </a:t>
            </a:r>
            <a:r>
              <a:rPr lang="en-US" sz="2400" b="1" i="1" dirty="0">
                <a:solidFill>
                  <a:srgbClr val="FF0000"/>
                </a:solidFill>
              </a:rPr>
              <a:t>Neutron</a:t>
            </a:r>
            <a:r>
              <a:rPr lang="en-US" sz="2400" dirty="0"/>
              <a:t> transport problem: </a:t>
            </a:r>
          </a:p>
        </p:txBody>
      </p:sp>
      <p:sp>
        <p:nvSpPr>
          <p:cNvPr id="6" name="Slide Number Placeholder 5"/>
          <p:cNvSpPr>
            <a:spLocks noGrp="1"/>
          </p:cNvSpPr>
          <p:nvPr>
            <p:ph type="sldNum" sz="quarter" idx="12"/>
          </p:nvPr>
        </p:nvSpPr>
        <p:spPr/>
        <p:txBody>
          <a:bodyPr/>
          <a:lstStyle/>
          <a:p>
            <a:fld id="{6E310DD8-4D23-494A-9745-A7BA26DAFE5D}" type="slidenum">
              <a:rPr lang="en-US" smtClean="0">
                <a:solidFill>
                  <a:prstClr val="black">
                    <a:tint val="75000"/>
                  </a:prstClr>
                </a:solidFill>
              </a:rPr>
              <a:pPr/>
              <a:t>11</a:t>
            </a:fld>
            <a:endParaRPr lang="en-US" dirty="0">
              <a:solidFill>
                <a:prstClr val="black">
                  <a:tint val="75000"/>
                </a:prstClr>
              </a:solidFill>
            </a:endParaRPr>
          </a:p>
        </p:txBody>
      </p:sp>
      <p:sp>
        <p:nvSpPr>
          <p:cNvPr id="3" name="TextBox 2"/>
          <p:cNvSpPr txBox="1"/>
          <p:nvPr/>
        </p:nvSpPr>
        <p:spPr>
          <a:xfrm>
            <a:off x="397013" y="1619017"/>
            <a:ext cx="8336398" cy="707886"/>
          </a:xfrm>
          <a:prstGeom prst="rect">
            <a:avLst/>
          </a:prstGeom>
          <a:noFill/>
          <a:ln>
            <a:solidFill>
              <a:schemeClr val="accent1"/>
            </a:solidFill>
          </a:ln>
        </p:spPr>
        <p:txBody>
          <a:bodyPr wrap="square" rtlCol="0">
            <a:spAutoFit/>
          </a:bodyPr>
          <a:lstStyle/>
          <a:p>
            <a:pPr marL="285750" indent="-285750">
              <a:buFont typeface="Arial" panose="020B0604020202020204" pitchFamily="34" charset="0"/>
              <a:buChar char="•"/>
            </a:pPr>
            <a:r>
              <a:rPr lang="en-US" sz="2000" b="1" dirty="0"/>
              <a:t>Monte Carlo simulation requires the interaction probabilities of radiation  with matter</a:t>
            </a:r>
          </a:p>
        </p:txBody>
      </p:sp>
      <p:sp>
        <p:nvSpPr>
          <p:cNvPr id="4" name="Rectangle 3"/>
          <p:cNvSpPr/>
          <p:nvPr/>
        </p:nvSpPr>
        <p:spPr>
          <a:xfrm>
            <a:off x="5796663" y="2508212"/>
            <a:ext cx="2936748" cy="1015663"/>
          </a:xfrm>
          <a:prstGeom prst="rect">
            <a:avLst/>
          </a:prstGeom>
          <a:ln>
            <a:solidFill>
              <a:schemeClr val="accent1"/>
            </a:solidFill>
          </a:ln>
        </p:spPr>
        <p:txBody>
          <a:bodyPr wrap="square">
            <a:spAutoFit/>
          </a:bodyPr>
          <a:lstStyle/>
          <a:p>
            <a:r>
              <a:rPr lang="en-US" sz="2000" b="1" dirty="0"/>
              <a:t>The data table of nuclides contains large number of data points in it.</a:t>
            </a:r>
          </a:p>
        </p:txBody>
      </p:sp>
    </p:spTree>
    <p:extLst>
      <p:ext uri="{BB962C8B-B14F-4D97-AF65-F5344CB8AC3E}">
        <p14:creationId xmlns:p14="http://schemas.microsoft.com/office/powerpoint/2010/main" val="195086739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372200" y="1264602"/>
            <a:ext cx="8369594" cy="1138773"/>
          </a:xfrm>
          <a:prstGeom prst="rect">
            <a:avLst/>
          </a:prstGeom>
          <a:noFill/>
          <a:ln>
            <a:solidFill>
              <a:schemeClr val="accent1"/>
            </a:solidFill>
          </a:ln>
        </p:spPr>
        <p:txBody>
          <a:bodyPr wrap="square" rtlCol="0">
            <a:spAutoFit/>
          </a:bodyPr>
          <a:lstStyle/>
          <a:p>
            <a:r>
              <a:rPr lang="en-US" sz="2400" b="1" i="1" dirty="0">
                <a:solidFill>
                  <a:prstClr val="black"/>
                </a:solidFill>
              </a:rPr>
              <a:t>Static Allocation :</a:t>
            </a:r>
          </a:p>
          <a:p>
            <a:r>
              <a:rPr lang="en-US" sz="2000" dirty="0">
                <a:solidFill>
                  <a:prstClr val="black"/>
                </a:solidFill>
              </a:rPr>
              <a:t>Size of the memory allocated is fixed, can not be altered during the execution.                                                       </a:t>
            </a:r>
          </a:p>
          <a:p>
            <a:r>
              <a:rPr lang="en-US" sz="2000" b="1" i="1" dirty="0">
                <a:solidFill>
                  <a:prstClr val="black"/>
                </a:solidFill>
              </a:rPr>
              <a:t>        </a:t>
            </a:r>
            <a:r>
              <a:rPr lang="en-US" sz="2000" b="1" i="1" dirty="0">
                <a:solidFill>
                  <a:srgbClr val="FF0000"/>
                </a:solidFill>
              </a:rPr>
              <a:t> Fortran: </a:t>
            </a:r>
            <a:r>
              <a:rPr lang="en-US" sz="2400" b="1" i="1" dirty="0">
                <a:solidFill>
                  <a:srgbClr val="C00000"/>
                </a:solidFill>
              </a:rPr>
              <a:t>-------------- </a:t>
            </a:r>
            <a:r>
              <a:rPr lang="en-US" sz="2400" b="1" i="1" dirty="0">
                <a:solidFill>
                  <a:srgbClr val="FF0000"/>
                </a:solidFill>
              </a:rPr>
              <a:t>Allocate</a:t>
            </a:r>
            <a:r>
              <a:rPr lang="en-US" sz="2400" b="1" i="1" dirty="0">
                <a:solidFill>
                  <a:prstClr val="black">
                    <a:lumMod val="50000"/>
                    <a:lumOff val="50000"/>
                  </a:prstClr>
                </a:solidFill>
              </a:rPr>
              <a:t> </a:t>
            </a:r>
            <a:r>
              <a:rPr lang="en-US" sz="2400" b="1" i="1" dirty="0">
                <a:solidFill>
                  <a:srgbClr val="C00000"/>
                </a:solidFill>
              </a:rPr>
              <a:t>(Array(3,3))-----------------</a:t>
            </a:r>
          </a:p>
        </p:txBody>
      </p:sp>
      <p:sp>
        <p:nvSpPr>
          <p:cNvPr id="5" name="TextBox 4"/>
          <p:cNvSpPr txBox="1"/>
          <p:nvPr/>
        </p:nvSpPr>
        <p:spPr>
          <a:xfrm>
            <a:off x="386948" y="2561231"/>
            <a:ext cx="8354846" cy="338554"/>
          </a:xfrm>
          <a:prstGeom prst="rect">
            <a:avLst/>
          </a:prstGeom>
          <a:solidFill>
            <a:schemeClr val="accent4">
              <a:lumMod val="60000"/>
              <a:lumOff val="40000"/>
            </a:schemeClr>
          </a:solidFill>
          <a:ln>
            <a:solidFill>
              <a:schemeClr val="accent1"/>
            </a:solidFill>
          </a:ln>
        </p:spPr>
        <p:txBody>
          <a:bodyPr wrap="square" rtlCol="0">
            <a:spAutoFit/>
          </a:bodyPr>
          <a:lstStyle/>
          <a:p>
            <a:pPr algn="ctr"/>
            <a:r>
              <a:rPr lang="en-US" sz="1600" b="1" i="1" dirty="0">
                <a:solidFill>
                  <a:srgbClr val="C00000"/>
                </a:solidFill>
              </a:rPr>
              <a:t>                                         </a:t>
            </a:r>
            <a:r>
              <a:rPr lang="en-US" sz="1600" b="1" i="1" dirty="0">
                <a:ln>
                  <a:solidFill>
                    <a:schemeClr val="tx1"/>
                  </a:solidFill>
                </a:ln>
                <a:latin typeface="Calibri Light" panose="020F0302020204030204" pitchFamily="34" charset="0"/>
              </a:rPr>
              <a:t>Allocated Memory</a:t>
            </a:r>
          </a:p>
        </p:txBody>
      </p:sp>
      <p:sp>
        <p:nvSpPr>
          <p:cNvPr id="7" name="Rectangle 6"/>
          <p:cNvSpPr/>
          <p:nvPr/>
        </p:nvSpPr>
        <p:spPr>
          <a:xfrm>
            <a:off x="372200" y="2558240"/>
            <a:ext cx="2105530" cy="345425"/>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Hydrogen</a:t>
            </a:r>
          </a:p>
        </p:txBody>
      </p:sp>
      <p:sp>
        <p:nvSpPr>
          <p:cNvPr id="10" name="TextBox 9"/>
          <p:cNvSpPr txBox="1"/>
          <p:nvPr/>
        </p:nvSpPr>
        <p:spPr>
          <a:xfrm>
            <a:off x="372200" y="3560502"/>
            <a:ext cx="8369594" cy="1877437"/>
          </a:xfrm>
          <a:prstGeom prst="rect">
            <a:avLst/>
          </a:prstGeom>
          <a:noFill/>
          <a:ln w="12700">
            <a:solidFill>
              <a:schemeClr val="accent1"/>
            </a:solidFill>
          </a:ln>
        </p:spPr>
        <p:txBody>
          <a:bodyPr wrap="square" rtlCol="0">
            <a:spAutoFit/>
          </a:bodyPr>
          <a:lstStyle/>
          <a:p>
            <a:r>
              <a:rPr lang="en-US" sz="2400" b="1" i="1" dirty="0"/>
              <a:t>Dynamic Allocation :</a:t>
            </a:r>
          </a:p>
          <a:p>
            <a:r>
              <a:rPr lang="en-US" sz="2000" dirty="0">
                <a:solidFill>
                  <a:prstClr val="black"/>
                </a:solidFill>
              </a:rPr>
              <a:t>The size and the amount of storage can be altered during the execution of the program</a:t>
            </a:r>
          </a:p>
          <a:p>
            <a:r>
              <a:rPr lang="en-US" sz="2400" b="1" dirty="0">
                <a:solidFill>
                  <a:srgbClr val="C00000"/>
                </a:solidFill>
              </a:rPr>
              <a:t>--------  Real , Dimension ( : , : ) ,</a:t>
            </a:r>
            <a:r>
              <a:rPr lang="en-US" sz="2400" b="1" dirty="0">
                <a:solidFill>
                  <a:prstClr val="white">
                    <a:lumMod val="50000"/>
                  </a:prstClr>
                </a:solidFill>
              </a:rPr>
              <a:t> </a:t>
            </a:r>
            <a:r>
              <a:rPr lang="en-US" sz="2800" b="1" dirty="0" err="1">
                <a:solidFill>
                  <a:srgbClr val="FF0000"/>
                </a:solidFill>
              </a:rPr>
              <a:t>Allocatable</a:t>
            </a:r>
            <a:r>
              <a:rPr lang="en-US" sz="2400" b="1" dirty="0">
                <a:solidFill>
                  <a:prstClr val="white">
                    <a:lumMod val="50000"/>
                  </a:prstClr>
                </a:solidFill>
              </a:rPr>
              <a:t> </a:t>
            </a:r>
            <a:r>
              <a:rPr lang="en-US" sz="2400" b="1" dirty="0">
                <a:solidFill>
                  <a:srgbClr val="C00000"/>
                </a:solidFill>
              </a:rPr>
              <a:t>: : Array -----</a:t>
            </a:r>
            <a:r>
              <a:rPr lang="en-US" sz="2400" b="1" i="1" dirty="0">
                <a:solidFill>
                  <a:srgbClr val="FF0000"/>
                </a:solidFill>
              </a:rPr>
              <a:t>Fortran: </a:t>
            </a:r>
            <a:r>
              <a:rPr lang="en-US" sz="2400" b="1" dirty="0">
                <a:solidFill>
                  <a:srgbClr val="C00000"/>
                </a:solidFill>
              </a:rPr>
              <a:t>---------  Allocate ( Array ( N , N ) ) -------- </a:t>
            </a:r>
            <a:endParaRPr lang="en-US" sz="2400" dirty="0">
              <a:solidFill>
                <a:prstClr val="black"/>
              </a:solidFill>
            </a:endParaRPr>
          </a:p>
        </p:txBody>
      </p:sp>
      <p:sp>
        <p:nvSpPr>
          <p:cNvPr id="13" name="TextBox 12"/>
          <p:cNvSpPr txBox="1"/>
          <p:nvPr/>
        </p:nvSpPr>
        <p:spPr>
          <a:xfrm>
            <a:off x="372200" y="5651697"/>
            <a:ext cx="8369594" cy="369332"/>
          </a:xfrm>
          <a:prstGeom prst="rect">
            <a:avLst/>
          </a:prstGeom>
          <a:solidFill>
            <a:schemeClr val="accent6">
              <a:lumMod val="60000"/>
              <a:lumOff val="40000"/>
            </a:schemeClr>
          </a:solidFill>
          <a:ln>
            <a:solidFill>
              <a:schemeClr val="accent1"/>
            </a:solidFill>
          </a:ln>
        </p:spPr>
        <p:txBody>
          <a:bodyPr wrap="square" rtlCol="0">
            <a:spAutoFit/>
          </a:bodyPr>
          <a:lstStyle/>
          <a:p>
            <a:pPr algn="ctr"/>
            <a:r>
              <a:rPr lang="en-US" b="1" i="1" dirty="0">
                <a:solidFill>
                  <a:schemeClr val="bg1"/>
                </a:solidFill>
              </a:rPr>
              <a:t>                                          </a:t>
            </a:r>
            <a:r>
              <a:rPr lang="en-US" b="1" i="1" dirty="0"/>
              <a:t>Free Memory</a:t>
            </a:r>
          </a:p>
        </p:txBody>
      </p:sp>
      <p:sp>
        <p:nvSpPr>
          <p:cNvPr id="11" name="Rectangle 10"/>
          <p:cNvSpPr/>
          <p:nvPr/>
        </p:nvSpPr>
        <p:spPr>
          <a:xfrm>
            <a:off x="372200" y="5651697"/>
            <a:ext cx="2105530" cy="369332"/>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Hydrogen</a:t>
            </a:r>
          </a:p>
        </p:txBody>
      </p:sp>
      <p:sp>
        <p:nvSpPr>
          <p:cNvPr id="2" name="Rectangle 1"/>
          <p:cNvSpPr/>
          <p:nvPr/>
        </p:nvSpPr>
        <p:spPr>
          <a:xfrm>
            <a:off x="386948" y="6234791"/>
            <a:ext cx="8354846" cy="337461"/>
          </a:xfrm>
          <a:prstGeom prst="rect">
            <a:avLst/>
          </a:prstGeom>
          <a:solidFill>
            <a:schemeClr val="accent6">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p:cNvSpPr/>
          <p:nvPr/>
        </p:nvSpPr>
        <p:spPr>
          <a:xfrm>
            <a:off x="386948" y="6234791"/>
            <a:ext cx="6544794" cy="337461"/>
          </a:xfrm>
          <a:prstGeom prst="rect">
            <a:avLst/>
          </a:prstGeom>
          <a:solidFill>
            <a:srgbClr val="69A4D9"/>
          </a:solidFill>
          <a:ln>
            <a:solidFill>
              <a:srgbClr val="6B98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solidFill>
                  <a:schemeClr val="tx1"/>
                </a:solidFill>
              </a:rPr>
              <a:t>     Uranium</a:t>
            </a:r>
          </a:p>
        </p:txBody>
      </p:sp>
      <p:sp>
        <p:nvSpPr>
          <p:cNvPr id="3" name="Rectangle 2"/>
          <p:cNvSpPr/>
          <p:nvPr/>
        </p:nvSpPr>
        <p:spPr>
          <a:xfrm>
            <a:off x="387408" y="3042855"/>
            <a:ext cx="8369594" cy="340564"/>
          </a:xfrm>
          <a:prstGeom prst="rect">
            <a:avLst/>
          </a:prstGeom>
          <a:solidFill>
            <a:schemeClr val="accent4">
              <a:lumMod val="60000"/>
              <a:lumOff val="4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p:cNvSpPr/>
          <p:nvPr/>
        </p:nvSpPr>
        <p:spPr>
          <a:xfrm>
            <a:off x="401696" y="3045959"/>
            <a:ext cx="6544794" cy="337461"/>
          </a:xfrm>
          <a:prstGeom prst="rect">
            <a:avLst/>
          </a:prstGeom>
          <a:solidFill>
            <a:srgbClr val="69A4D9"/>
          </a:solidFill>
          <a:ln>
            <a:solidFill>
              <a:srgbClr val="6B98C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en-US" sz="2400" b="1" dirty="0"/>
              <a:t>     </a:t>
            </a:r>
            <a:r>
              <a:rPr lang="en-US" sz="2400" b="1" dirty="0">
                <a:solidFill>
                  <a:schemeClr val="tx1"/>
                </a:solidFill>
              </a:rPr>
              <a:t>Uranium</a:t>
            </a:r>
          </a:p>
        </p:txBody>
      </p:sp>
      <p:sp>
        <p:nvSpPr>
          <p:cNvPr id="15" name="Title 1"/>
          <p:cNvSpPr txBox="1">
            <a:spLocks/>
          </p:cNvSpPr>
          <p:nvPr/>
        </p:nvSpPr>
        <p:spPr>
          <a:xfrm>
            <a:off x="457200" y="365127"/>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Memory Allocation:</a:t>
            </a:r>
          </a:p>
        </p:txBody>
      </p:sp>
      <p:sp>
        <p:nvSpPr>
          <p:cNvPr id="16" name="TextBox 15"/>
          <p:cNvSpPr txBox="1"/>
          <p:nvPr/>
        </p:nvSpPr>
        <p:spPr>
          <a:xfrm>
            <a:off x="372200" y="5651697"/>
            <a:ext cx="8369594" cy="369332"/>
          </a:xfrm>
          <a:prstGeom prst="rect">
            <a:avLst/>
          </a:prstGeom>
          <a:solidFill>
            <a:schemeClr val="accent6">
              <a:lumMod val="60000"/>
              <a:lumOff val="40000"/>
            </a:schemeClr>
          </a:solidFill>
          <a:ln>
            <a:solidFill>
              <a:schemeClr val="accent1"/>
            </a:solidFill>
          </a:ln>
        </p:spPr>
        <p:txBody>
          <a:bodyPr wrap="square" rtlCol="0">
            <a:spAutoFit/>
          </a:bodyPr>
          <a:lstStyle/>
          <a:p>
            <a:pPr algn="ctr"/>
            <a:r>
              <a:rPr lang="en-US" b="1" i="1" dirty="0">
                <a:solidFill>
                  <a:schemeClr val="bg1"/>
                </a:solidFill>
              </a:rPr>
              <a:t>                                          </a:t>
            </a:r>
            <a:r>
              <a:rPr lang="en-US" b="1" i="1" dirty="0"/>
              <a:t>Free Memory</a:t>
            </a:r>
          </a:p>
        </p:txBody>
      </p:sp>
      <p:sp>
        <p:nvSpPr>
          <p:cNvPr id="17" name="TextBox 16"/>
          <p:cNvSpPr txBox="1"/>
          <p:nvPr/>
        </p:nvSpPr>
        <p:spPr>
          <a:xfrm>
            <a:off x="364826" y="6218853"/>
            <a:ext cx="8369594" cy="369332"/>
          </a:xfrm>
          <a:prstGeom prst="rect">
            <a:avLst/>
          </a:prstGeom>
          <a:solidFill>
            <a:schemeClr val="accent6">
              <a:lumMod val="60000"/>
              <a:lumOff val="40000"/>
            </a:schemeClr>
          </a:solidFill>
          <a:ln>
            <a:solidFill>
              <a:schemeClr val="accent1"/>
            </a:solidFill>
          </a:ln>
        </p:spPr>
        <p:txBody>
          <a:bodyPr wrap="square" rtlCol="0">
            <a:spAutoFit/>
          </a:bodyPr>
          <a:lstStyle/>
          <a:p>
            <a:pPr algn="ctr"/>
            <a:r>
              <a:rPr lang="en-US" b="1" i="1" dirty="0">
                <a:solidFill>
                  <a:schemeClr val="bg1"/>
                </a:solidFill>
              </a:rPr>
              <a:t>                                          </a:t>
            </a:r>
            <a:r>
              <a:rPr lang="en-US" b="1" i="1" dirty="0"/>
              <a:t>Free Memory</a:t>
            </a:r>
          </a:p>
        </p:txBody>
      </p:sp>
      <p:sp>
        <p:nvSpPr>
          <p:cNvPr id="14" name="TextBox 13"/>
          <p:cNvSpPr txBox="1"/>
          <p:nvPr/>
        </p:nvSpPr>
        <p:spPr>
          <a:xfrm>
            <a:off x="386948" y="5579982"/>
            <a:ext cx="3895000" cy="461665"/>
          </a:xfrm>
          <a:prstGeom prst="rect">
            <a:avLst/>
          </a:prstGeom>
          <a:noFill/>
        </p:spPr>
        <p:txBody>
          <a:bodyPr wrap="square" rtlCol="0">
            <a:spAutoFit/>
          </a:bodyPr>
          <a:lstStyle/>
          <a:p>
            <a:r>
              <a:rPr lang="en-US" sz="2400" b="1" i="1" dirty="0" err="1">
                <a:solidFill>
                  <a:srgbClr val="FF0000"/>
                </a:solidFill>
              </a:rPr>
              <a:t>Deallocate</a:t>
            </a:r>
            <a:endParaRPr lang="en-US" sz="2400" b="1" i="1" dirty="0">
              <a:solidFill>
                <a:srgbClr val="FF0000"/>
              </a:solidFill>
            </a:endParaRPr>
          </a:p>
        </p:txBody>
      </p:sp>
    </p:spTree>
    <p:extLst>
      <p:ext uri="{BB962C8B-B14F-4D97-AF65-F5344CB8AC3E}">
        <p14:creationId xmlns:p14="http://schemas.microsoft.com/office/powerpoint/2010/main" val="26617225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3"/>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7"/>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2"/>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13"/>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grpId="0" nodeType="clickEffect">
                                  <p:stCondLst>
                                    <p:cond delay="0"/>
                                  </p:stCondLst>
                                  <p:childTnLst>
                                    <p:set>
                                      <p:cBhvr>
                                        <p:cTn id="30" dur="1" fill="hold">
                                          <p:stCondLst>
                                            <p:cond delay="0"/>
                                          </p:stCondLst>
                                        </p:cTn>
                                        <p:tgtEl>
                                          <p:spTgt spid="16"/>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17"/>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7" grpId="0" animBg="1"/>
      <p:bldP spid="13" grpId="0" animBg="1"/>
      <p:bldP spid="11" grpId="0" animBg="1"/>
      <p:bldP spid="2" grpId="0" animBg="1"/>
      <p:bldP spid="12" grpId="0" animBg="1"/>
      <p:bldP spid="3" grpId="0" animBg="1"/>
      <p:bldP spid="9" grpId="0" animBg="1"/>
      <p:bldP spid="16" grpId="0" animBg="1"/>
      <p:bldP spid="17" grpId="0" animBg="1"/>
      <p:bldP spid="1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 name="Rectangle 44"/>
          <p:cNvSpPr/>
          <p:nvPr/>
        </p:nvSpPr>
        <p:spPr>
          <a:xfrm>
            <a:off x="7080850" y="2404554"/>
            <a:ext cx="1267616" cy="256599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ectangle 3"/>
          <p:cNvSpPr/>
          <p:nvPr/>
        </p:nvSpPr>
        <p:spPr>
          <a:xfrm>
            <a:off x="5331262" y="2432840"/>
            <a:ext cx="1311203" cy="2565993"/>
          </a:xfrm>
          <a:prstGeom prst="rect">
            <a:avLst/>
          </a:prstGeom>
          <a:solidFill>
            <a:schemeClr val="accent1">
              <a:lumMod val="20000"/>
              <a:lumOff val="8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3200"/>
          </a:p>
        </p:txBody>
      </p:sp>
      <p:sp>
        <p:nvSpPr>
          <p:cNvPr id="7" name="Title 1"/>
          <p:cNvSpPr txBox="1">
            <a:spLocks/>
          </p:cNvSpPr>
          <p:nvPr/>
        </p:nvSpPr>
        <p:spPr>
          <a:xfrm>
            <a:off x="448573" y="468571"/>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Radiation transport problem:</a:t>
            </a:r>
          </a:p>
        </p:txBody>
      </p:sp>
      <p:sp>
        <p:nvSpPr>
          <p:cNvPr id="8" name="TextBox 7"/>
          <p:cNvSpPr txBox="1"/>
          <p:nvPr/>
        </p:nvSpPr>
        <p:spPr>
          <a:xfrm>
            <a:off x="448573" y="1050561"/>
            <a:ext cx="7527472" cy="461665"/>
          </a:xfrm>
          <a:prstGeom prst="rect">
            <a:avLst/>
          </a:prstGeom>
          <a:noFill/>
        </p:spPr>
        <p:txBody>
          <a:bodyPr wrap="square" rtlCol="0">
            <a:spAutoFit/>
          </a:bodyPr>
          <a:lstStyle/>
          <a:p>
            <a:r>
              <a:rPr lang="en-US" sz="2400" b="1" i="1" dirty="0">
                <a:solidFill>
                  <a:srgbClr val="C00000"/>
                </a:solidFill>
              </a:rPr>
              <a:t>more than one nuclide in target </a:t>
            </a:r>
            <a:endParaRPr lang="en-US" sz="2000" b="1" i="1" dirty="0">
              <a:solidFill>
                <a:srgbClr val="C00000"/>
              </a:solidFill>
            </a:endParaRPr>
          </a:p>
        </p:txBody>
      </p:sp>
      <p:sp>
        <p:nvSpPr>
          <p:cNvPr id="2" name="Slide Number Placeholder 1"/>
          <p:cNvSpPr>
            <a:spLocks noGrp="1"/>
          </p:cNvSpPr>
          <p:nvPr>
            <p:ph type="sldNum" sz="quarter" idx="12"/>
          </p:nvPr>
        </p:nvSpPr>
        <p:spPr/>
        <p:txBody>
          <a:bodyPr/>
          <a:lstStyle/>
          <a:p>
            <a:fld id="{6E310DD8-4D23-494A-9745-A7BA26DAFE5D}" type="slidenum">
              <a:rPr lang="en-US" smtClean="0">
                <a:solidFill>
                  <a:prstClr val="black">
                    <a:tint val="75000"/>
                  </a:prstClr>
                </a:solidFill>
              </a:rPr>
              <a:pPr/>
              <a:t>13</a:t>
            </a:fld>
            <a:endParaRPr lang="en-US" dirty="0">
              <a:solidFill>
                <a:prstClr val="black">
                  <a:tint val="75000"/>
                </a:prstClr>
              </a:solidFill>
            </a:endParaRPr>
          </a:p>
        </p:txBody>
      </p:sp>
      <p:sp>
        <p:nvSpPr>
          <p:cNvPr id="46" name="Rectangle 45"/>
          <p:cNvSpPr/>
          <p:nvPr/>
        </p:nvSpPr>
        <p:spPr>
          <a:xfrm>
            <a:off x="5380588" y="2829471"/>
            <a:ext cx="1217167" cy="650871"/>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Nuclide</a:t>
            </a:r>
          </a:p>
          <a:p>
            <a:pPr algn="ctr"/>
            <a:r>
              <a:rPr lang="en-US" sz="2400" b="1" dirty="0">
                <a:solidFill>
                  <a:schemeClr val="tx1"/>
                </a:solidFill>
              </a:rPr>
              <a:t>1</a:t>
            </a:r>
            <a:endParaRPr lang="en-US" sz="4800" b="1" dirty="0">
              <a:solidFill>
                <a:schemeClr val="tx1"/>
              </a:solidFill>
            </a:endParaRPr>
          </a:p>
        </p:txBody>
      </p:sp>
      <p:sp>
        <p:nvSpPr>
          <p:cNvPr id="47" name="Rectangle 46"/>
          <p:cNvSpPr/>
          <p:nvPr/>
        </p:nvSpPr>
        <p:spPr>
          <a:xfrm>
            <a:off x="7106920" y="2806285"/>
            <a:ext cx="1217167" cy="650871"/>
          </a:xfrm>
          <a:prstGeom prst="rect">
            <a:avLst/>
          </a:prstGeom>
          <a:solidFill>
            <a:schemeClr val="accent1">
              <a:lumMod val="20000"/>
              <a:lumOff val="80000"/>
            </a:schemeClr>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Nuclide</a:t>
            </a:r>
          </a:p>
          <a:p>
            <a:pPr algn="ctr"/>
            <a:r>
              <a:rPr lang="en-US" sz="2400" b="1" dirty="0">
                <a:solidFill>
                  <a:schemeClr val="tx1"/>
                </a:solidFill>
              </a:rPr>
              <a:t>2</a:t>
            </a:r>
            <a:endParaRPr lang="en-US" sz="4800" b="1" dirty="0">
              <a:solidFill>
                <a:schemeClr val="tx1"/>
              </a:solidFill>
            </a:endParaRPr>
          </a:p>
        </p:txBody>
      </p:sp>
      <p:sp>
        <p:nvSpPr>
          <p:cNvPr id="48" name="Rectangle 47"/>
          <p:cNvSpPr/>
          <p:nvPr/>
        </p:nvSpPr>
        <p:spPr>
          <a:xfrm>
            <a:off x="3878180" y="5549766"/>
            <a:ext cx="5233737" cy="444647"/>
          </a:xfrm>
          <a:prstGeom prst="rect">
            <a:avLst/>
          </a:prstGeom>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dirty="0"/>
              <a:t>Large number of  points of energy.</a:t>
            </a:r>
          </a:p>
        </p:txBody>
      </p:sp>
      <p:cxnSp>
        <p:nvCxnSpPr>
          <p:cNvPr id="50" name="Straight Arrow Connector 49"/>
          <p:cNvCxnSpPr/>
          <p:nvPr/>
        </p:nvCxnSpPr>
        <p:spPr>
          <a:xfrm flipH="1" flipV="1">
            <a:off x="5986862" y="4629150"/>
            <a:ext cx="95354" cy="98077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p:cNvCxnSpPr/>
          <p:nvPr/>
        </p:nvCxnSpPr>
        <p:spPr>
          <a:xfrm flipH="1" flipV="1">
            <a:off x="7739565" y="4629150"/>
            <a:ext cx="92242" cy="980774"/>
          </a:xfrm>
          <a:prstGeom prst="straightConnector1">
            <a:avLst/>
          </a:prstGeom>
          <a:ln w="76200">
            <a:tailEnd type="triangl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p:nvPicPr>
        <p:blipFill>
          <a:blip r:embed="rId3"/>
          <a:stretch>
            <a:fillRect/>
          </a:stretch>
        </p:blipFill>
        <p:spPr>
          <a:xfrm>
            <a:off x="204465" y="1945473"/>
            <a:ext cx="4876800" cy="3295650"/>
          </a:xfrm>
          <a:prstGeom prst="rect">
            <a:avLst/>
          </a:prstGeom>
        </p:spPr>
      </p:pic>
      <p:sp>
        <p:nvSpPr>
          <p:cNvPr id="9" name="Rectangle 8"/>
          <p:cNvSpPr/>
          <p:nvPr/>
        </p:nvSpPr>
        <p:spPr>
          <a:xfrm>
            <a:off x="5331261" y="1956873"/>
            <a:ext cx="3016889" cy="461665"/>
          </a:xfrm>
          <a:prstGeom prst="rect">
            <a:avLst/>
          </a:prstGeom>
          <a:ln>
            <a:solidFill>
              <a:schemeClr val="accent1"/>
            </a:solidFill>
          </a:ln>
        </p:spPr>
        <p:txBody>
          <a:bodyPr wrap="square">
            <a:spAutoFit/>
          </a:bodyPr>
          <a:lstStyle/>
          <a:p>
            <a:r>
              <a:rPr lang="en-US" sz="2400" dirty="0"/>
              <a:t>Data files of  Nuclides </a:t>
            </a:r>
          </a:p>
        </p:txBody>
      </p:sp>
    </p:spTree>
    <p:extLst>
      <p:ext uri="{BB962C8B-B14F-4D97-AF65-F5344CB8AC3E}">
        <p14:creationId xmlns:p14="http://schemas.microsoft.com/office/powerpoint/2010/main" val="373080753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 name="Rectangle 52"/>
          <p:cNvSpPr/>
          <p:nvPr/>
        </p:nvSpPr>
        <p:spPr>
          <a:xfrm>
            <a:off x="6602468" y="2732395"/>
            <a:ext cx="1131832" cy="408163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2" name="Rectangle 51"/>
          <p:cNvSpPr/>
          <p:nvPr/>
        </p:nvSpPr>
        <p:spPr>
          <a:xfrm>
            <a:off x="2565410" y="2300825"/>
            <a:ext cx="1084877" cy="36136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1" name="Rectangle 50"/>
          <p:cNvSpPr/>
          <p:nvPr/>
        </p:nvSpPr>
        <p:spPr>
          <a:xfrm>
            <a:off x="609806" y="2312882"/>
            <a:ext cx="1136793" cy="36015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1"/>
          <p:cNvSpPr txBox="1">
            <a:spLocks/>
          </p:cNvSpPr>
          <p:nvPr/>
        </p:nvSpPr>
        <p:spPr>
          <a:xfrm>
            <a:off x="448573" y="468571"/>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Unionized energy grid:</a:t>
            </a:r>
          </a:p>
        </p:txBody>
      </p:sp>
      <p:sp>
        <p:nvSpPr>
          <p:cNvPr id="5" name="Rectangle 4"/>
          <p:cNvSpPr/>
          <p:nvPr/>
        </p:nvSpPr>
        <p:spPr>
          <a:xfrm>
            <a:off x="448573" y="1222283"/>
            <a:ext cx="3526928" cy="523220"/>
          </a:xfrm>
          <a:prstGeom prst="rect">
            <a:avLst/>
          </a:prstGeom>
        </p:spPr>
        <p:txBody>
          <a:bodyPr wrap="none">
            <a:spAutoFit/>
          </a:bodyPr>
          <a:lstStyle/>
          <a:p>
            <a:r>
              <a:rPr lang="en-US" sz="2800" b="1" u="sng" dirty="0"/>
              <a:t>If two energy grids are</a:t>
            </a:r>
          </a:p>
        </p:txBody>
      </p:sp>
      <p:sp>
        <p:nvSpPr>
          <p:cNvPr id="6" name="TextBox 5"/>
          <p:cNvSpPr txBox="1"/>
          <p:nvPr/>
        </p:nvSpPr>
        <p:spPr>
          <a:xfrm>
            <a:off x="321714" y="1821723"/>
            <a:ext cx="8331637" cy="461665"/>
          </a:xfrm>
          <a:prstGeom prst="rect">
            <a:avLst/>
          </a:prstGeom>
          <a:noFill/>
        </p:spPr>
        <p:txBody>
          <a:bodyPr wrap="square" rtlCol="0">
            <a:spAutoFit/>
          </a:bodyPr>
          <a:lstStyle/>
          <a:p>
            <a:r>
              <a:rPr lang="en-US" sz="2400" dirty="0"/>
              <a:t>                                                                            n(N1)+n(N2)-n(N1</a:t>
            </a:r>
            <a:r>
              <a:rPr lang="en-US" sz="2400" i="1" dirty="0">
                <a:solidFill>
                  <a:srgbClr val="FF0000"/>
                </a:solidFill>
              </a:rPr>
              <a:t>∩</a:t>
            </a:r>
            <a:r>
              <a:rPr lang="en-US" sz="2400" dirty="0"/>
              <a:t>N2)</a:t>
            </a:r>
          </a:p>
        </p:txBody>
      </p:sp>
      <p:sp>
        <p:nvSpPr>
          <p:cNvPr id="11" name="Rectangle 10"/>
          <p:cNvSpPr/>
          <p:nvPr/>
        </p:nvSpPr>
        <p:spPr>
          <a:xfrm>
            <a:off x="321714" y="5914462"/>
            <a:ext cx="1611339" cy="461665"/>
          </a:xfrm>
          <a:prstGeom prst="rect">
            <a:avLst/>
          </a:prstGeom>
        </p:spPr>
        <p:txBody>
          <a:bodyPr wrap="none">
            <a:spAutoFit/>
          </a:bodyPr>
          <a:lstStyle/>
          <a:p>
            <a:r>
              <a:rPr lang="en-US" sz="2400" b="1" i="1" dirty="0">
                <a:solidFill>
                  <a:srgbClr val="C00000"/>
                </a:solidFill>
              </a:rPr>
              <a:t>[n(N1) = 5] </a:t>
            </a:r>
            <a:endParaRPr lang="en-US" sz="2400" b="1" dirty="0"/>
          </a:p>
        </p:txBody>
      </p:sp>
      <p:sp>
        <p:nvSpPr>
          <p:cNvPr id="12" name="Rectangle 11"/>
          <p:cNvSpPr/>
          <p:nvPr/>
        </p:nvSpPr>
        <p:spPr>
          <a:xfrm>
            <a:off x="2263593" y="5907096"/>
            <a:ext cx="1611339" cy="461665"/>
          </a:xfrm>
          <a:prstGeom prst="rect">
            <a:avLst/>
          </a:prstGeom>
        </p:spPr>
        <p:txBody>
          <a:bodyPr wrap="none">
            <a:spAutoFit/>
          </a:bodyPr>
          <a:lstStyle/>
          <a:p>
            <a:r>
              <a:rPr lang="en-US" sz="2400" b="1" i="1" dirty="0">
                <a:solidFill>
                  <a:srgbClr val="C00000"/>
                </a:solidFill>
              </a:rPr>
              <a:t>[n(N2) = 5]</a:t>
            </a:r>
            <a:r>
              <a:rPr lang="en-US" sz="2400" b="1" dirty="0"/>
              <a:t> </a:t>
            </a:r>
          </a:p>
        </p:txBody>
      </p:sp>
      <p:sp>
        <p:nvSpPr>
          <p:cNvPr id="16" name="TextBox 15"/>
          <p:cNvSpPr txBox="1"/>
          <p:nvPr/>
        </p:nvSpPr>
        <p:spPr>
          <a:xfrm>
            <a:off x="313853" y="2288874"/>
            <a:ext cx="8601076" cy="461665"/>
          </a:xfrm>
          <a:prstGeom prst="rect">
            <a:avLst/>
          </a:prstGeom>
          <a:noFill/>
        </p:spPr>
        <p:txBody>
          <a:bodyPr wrap="square" rtlCol="0">
            <a:spAutoFit/>
          </a:bodyPr>
          <a:lstStyle/>
          <a:p>
            <a:r>
              <a:rPr lang="en-US" sz="2400" dirty="0"/>
              <a:t>                                                                                    Unionized Energy</a:t>
            </a:r>
          </a:p>
        </p:txBody>
      </p:sp>
      <p:sp>
        <p:nvSpPr>
          <p:cNvPr id="2" name="Slide Number Placeholder 1"/>
          <p:cNvSpPr>
            <a:spLocks noGrp="1"/>
          </p:cNvSpPr>
          <p:nvPr>
            <p:ph type="sldNum" sz="quarter" idx="12"/>
          </p:nvPr>
        </p:nvSpPr>
        <p:spPr/>
        <p:txBody>
          <a:bodyPr/>
          <a:lstStyle/>
          <a:p>
            <a:fld id="{6E310DD8-4D23-494A-9745-A7BA26DAFE5D}" type="slidenum">
              <a:rPr lang="en-US" smtClean="0">
                <a:solidFill>
                  <a:prstClr val="black">
                    <a:tint val="75000"/>
                  </a:prstClr>
                </a:solidFill>
              </a:rPr>
              <a:pPr/>
              <a:t>14</a:t>
            </a:fld>
            <a:endParaRPr lang="en-US" dirty="0">
              <a:solidFill>
                <a:prstClr val="black">
                  <a:tint val="75000"/>
                </a:prstClr>
              </a:solidFill>
            </a:endParaRPr>
          </a:p>
        </p:txBody>
      </p:sp>
      <p:sp>
        <p:nvSpPr>
          <p:cNvPr id="17" name="Rectangle 16"/>
          <p:cNvSpPr/>
          <p:nvPr/>
        </p:nvSpPr>
        <p:spPr>
          <a:xfrm>
            <a:off x="763860" y="3041651"/>
            <a:ext cx="777740" cy="49458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18" name="Rectangle 17"/>
          <p:cNvSpPr/>
          <p:nvPr/>
        </p:nvSpPr>
        <p:spPr>
          <a:xfrm>
            <a:off x="763860" y="3595765"/>
            <a:ext cx="777740" cy="49458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19" name="Rectangle 18"/>
          <p:cNvSpPr/>
          <p:nvPr/>
        </p:nvSpPr>
        <p:spPr>
          <a:xfrm>
            <a:off x="764727" y="4145721"/>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20" name="Rectangle 19"/>
          <p:cNvSpPr/>
          <p:nvPr/>
        </p:nvSpPr>
        <p:spPr>
          <a:xfrm>
            <a:off x="764727" y="5256643"/>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21" name="Rectangle 20"/>
          <p:cNvSpPr/>
          <p:nvPr/>
        </p:nvSpPr>
        <p:spPr>
          <a:xfrm>
            <a:off x="764727" y="4708855"/>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22" name="Rectangle 21"/>
          <p:cNvSpPr/>
          <p:nvPr/>
        </p:nvSpPr>
        <p:spPr>
          <a:xfrm>
            <a:off x="2726663" y="5238406"/>
            <a:ext cx="777740" cy="49458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E-7</a:t>
            </a:r>
          </a:p>
        </p:txBody>
      </p:sp>
      <p:sp>
        <p:nvSpPr>
          <p:cNvPr id="23" name="Rectangle 22"/>
          <p:cNvSpPr/>
          <p:nvPr/>
        </p:nvSpPr>
        <p:spPr>
          <a:xfrm>
            <a:off x="2726663" y="4687089"/>
            <a:ext cx="777740" cy="49458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E-6</a:t>
            </a:r>
          </a:p>
        </p:txBody>
      </p:sp>
      <p:sp>
        <p:nvSpPr>
          <p:cNvPr id="24" name="Rectangle 23"/>
          <p:cNvSpPr/>
          <p:nvPr/>
        </p:nvSpPr>
        <p:spPr>
          <a:xfrm>
            <a:off x="2727530" y="3034276"/>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25" name="Rectangle 24"/>
          <p:cNvSpPr/>
          <p:nvPr/>
        </p:nvSpPr>
        <p:spPr>
          <a:xfrm>
            <a:off x="2727530" y="4137641"/>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26" name="Rectangle 25"/>
          <p:cNvSpPr/>
          <p:nvPr/>
        </p:nvSpPr>
        <p:spPr>
          <a:xfrm>
            <a:off x="2727530" y="3591433"/>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27" name="Rectangle 26"/>
          <p:cNvSpPr/>
          <p:nvPr/>
        </p:nvSpPr>
        <p:spPr>
          <a:xfrm>
            <a:off x="6792327" y="2847563"/>
            <a:ext cx="790214" cy="49458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28" name="Rectangle 27"/>
          <p:cNvSpPr/>
          <p:nvPr/>
        </p:nvSpPr>
        <p:spPr>
          <a:xfrm>
            <a:off x="6792327" y="3390640"/>
            <a:ext cx="790214" cy="494589"/>
          </a:xfrm>
          <a:prstGeom prst="rect">
            <a:avLst/>
          </a:prstGeom>
          <a:solidFill>
            <a:schemeClr val="accent1">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29" name="Rectangle 28"/>
          <p:cNvSpPr/>
          <p:nvPr/>
        </p:nvSpPr>
        <p:spPr>
          <a:xfrm>
            <a:off x="6799701" y="6166941"/>
            <a:ext cx="790214" cy="49458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E-7</a:t>
            </a:r>
          </a:p>
        </p:txBody>
      </p:sp>
      <p:sp>
        <p:nvSpPr>
          <p:cNvPr id="30" name="Rectangle 29"/>
          <p:cNvSpPr/>
          <p:nvPr/>
        </p:nvSpPr>
        <p:spPr>
          <a:xfrm>
            <a:off x="6799701" y="5603948"/>
            <a:ext cx="790214" cy="494589"/>
          </a:xfrm>
          <a:prstGeom prst="rect">
            <a:avLst/>
          </a:prstGeom>
          <a:solidFill>
            <a:schemeClr val="bg1">
              <a:lumMod val="8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E-6</a:t>
            </a:r>
          </a:p>
        </p:txBody>
      </p:sp>
      <p:sp>
        <p:nvSpPr>
          <p:cNvPr id="31" name="Rectangle 30"/>
          <p:cNvSpPr/>
          <p:nvPr/>
        </p:nvSpPr>
        <p:spPr>
          <a:xfrm>
            <a:off x="6804801" y="5050010"/>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32" name="Rectangle 31"/>
          <p:cNvSpPr/>
          <p:nvPr/>
        </p:nvSpPr>
        <p:spPr>
          <a:xfrm>
            <a:off x="6804801" y="4494391"/>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33" name="Rectangle 32"/>
          <p:cNvSpPr/>
          <p:nvPr/>
        </p:nvSpPr>
        <p:spPr>
          <a:xfrm>
            <a:off x="6805668" y="3937569"/>
            <a:ext cx="777740" cy="494589"/>
          </a:xfrm>
          <a:prstGeom prst="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14" name="Rectangle 13"/>
          <p:cNvSpPr/>
          <p:nvPr/>
        </p:nvSpPr>
        <p:spPr>
          <a:xfrm>
            <a:off x="4391925" y="6352370"/>
            <a:ext cx="2039341" cy="461665"/>
          </a:xfrm>
          <a:prstGeom prst="rect">
            <a:avLst/>
          </a:prstGeom>
        </p:spPr>
        <p:txBody>
          <a:bodyPr wrap="none">
            <a:spAutoFit/>
          </a:bodyPr>
          <a:lstStyle/>
          <a:p>
            <a:r>
              <a:rPr lang="en-US" sz="2400" b="1" i="1" dirty="0">
                <a:solidFill>
                  <a:srgbClr val="C00000"/>
                </a:solidFill>
              </a:rPr>
              <a:t>n(N1 U N2) = 7</a:t>
            </a:r>
          </a:p>
        </p:txBody>
      </p:sp>
      <p:sp>
        <p:nvSpPr>
          <p:cNvPr id="3" name="Rectangle 2"/>
          <p:cNvSpPr/>
          <p:nvPr/>
        </p:nvSpPr>
        <p:spPr>
          <a:xfrm>
            <a:off x="4089803" y="1308052"/>
            <a:ext cx="3216119" cy="4805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Overlapping</a:t>
            </a:r>
          </a:p>
        </p:txBody>
      </p:sp>
      <p:sp>
        <p:nvSpPr>
          <p:cNvPr id="7" name="Rectangle 6"/>
          <p:cNvSpPr/>
          <p:nvPr/>
        </p:nvSpPr>
        <p:spPr>
          <a:xfrm>
            <a:off x="2000108" y="4255522"/>
            <a:ext cx="351378" cy="369332"/>
          </a:xfrm>
          <a:prstGeom prst="rect">
            <a:avLst/>
          </a:prstGeom>
        </p:spPr>
        <p:txBody>
          <a:bodyPr wrap="none">
            <a:spAutoFit/>
          </a:bodyPr>
          <a:lstStyle/>
          <a:p>
            <a:r>
              <a:rPr lang="en-US" b="1" dirty="0">
                <a:latin typeface="Aharoni" panose="02010803020104030203" pitchFamily="2" charset="-79"/>
                <a:cs typeface="Aharoni" panose="02010803020104030203" pitchFamily="2" charset="-79"/>
              </a:rPr>
              <a:t>U</a:t>
            </a:r>
            <a:endParaRPr lang="en-US" dirty="0"/>
          </a:p>
        </p:txBody>
      </p:sp>
      <p:sp>
        <p:nvSpPr>
          <p:cNvPr id="34" name="Rectangle 33"/>
          <p:cNvSpPr/>
          <p:nvPr/>
        </p:nvSpPr>
        <p:spPr>
          <a:xfrm>
            <a:off x="645731" y="2348675"/>
            <a:ext cx="1064941" cy="5094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1</a:t>
            </a:r>
          </a:p>
        </p:txBody>
      </p:sp>
      <p:sp>
        <p:nvSpPr>
          <p:cNvPr id="35" name="Rectangle 34"/>
          <p:cNvSpPr/>
          <p:nvPr/>
        </p:nvSpPr>
        <p:spPr>
          <a:xfrm>
            <a:off x="2578905" y="2351154"/>
            <a:ext cx="1045963" cy="486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2</a:t>
            </a:r>
            <a:endParaRPr lang="en-US" sz="4400" b="1" dirty="0">
              <a:solidFill>
                <a:schemeClr val="tx1"/>
              </a:solidFill>
            </a:endParaRPr>
          </a:p>
        </p:txBody>
      </p:sp>
    </p:spTree>
    <p:extLst>
      <p:ext uri="{BB962C8B-B14F-4D97-AF65-F5344CB8AC3E}">
        <p14:creationId xmlns:p14="http://schemas.microsoft.com/office/powerpoint/2010/main" val="23466907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 name="Rectangle 34"/>
          <p:cNvSpPr/>
          <p:nvPr/>
        </p:nvSpPr>
        <p:spPr>
          <a:xfrm>
            <a:off x="6602468" y="2732397"/>
            <a:ext cx="1131832" cy="3182065"/>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Rectangle 30"/>
          <p:cNvSpPr/>
          <p:nvPr/>
        </p:nvSpPr>
        <p:spPr>
          <a:xfrm>
            <a:off x="2565410" y="2300825"/>
            <a:ext cx="1084877" cy="36136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 name="Rectangle 31"/>
          <p:cNvSpPr/>
          <p:nvPr/>
        </p:nvSpPr>
        <p:spPr>
          <a:xfrm>
            <a:off x="609806" y="2312882"/>
            <a:ext cx="1136793" cy="36015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Slide Number Placeholder 3"/>
          <p:cNvSpPr>
            <a:spLocks noGrp="1"/>
          </p:cNvSpPr>
          <p:nvPr>
            <p:ph type="sldNum" sz="quarter" idx="12"/>
          </p:nvPr>
        </p:nvSpPr>
        <p:spPr/>
        <p:txBody>
          <a:bodyPr/>
          <a:lstStyle/>
          <a:p>
            <a:fld id="{6E310DD8-4D23-494A-9745-A7BA26DAFE5D}" type="slidenum">
              <a:rPr lang="en-US" smtClean="0">
                <a:solidFill>
                  <a:prstClr val="black">
                    <a:tint val="75000"/>
                  </a:prstClr>
                </a:solidFill>
              </a:rPr>
              <a:pPr/>
              <a:t>15</a:t>
            </a:fld>
            <a:endParaRPr lang="en-US" dirty="0">
              <a:solidFill>
                <a:prstClr val="black">
                  <a:tint val="75000"/>
                </a:prstClr>
              </a:solidFill>
            </a:endParaRPr>
          </a:p>
        </p:txBody>
      </p:sp>
      <p:sp>
        <p:nvSpPr>
          <p:cNvPr id="5" name="Title 1"/>
          <p:cNvSpPr txBox="1">
            <a:spLocks/>
          </p:cNvSpPr>
          <p:nvPr/>
        </p:nvSpPr>
        <p:spPr>
          <a:xfrm>
            <a:off x="448573" y="468571"/>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Unionized energy grid:</a:t>
            </a:r>
          </a:p>
        </p:txBody>
      </p:sp>
      <p:sp>
        <p:nvSpPr>
          <p:cNvPr id="6" name="Rectangle 5"/>
          <p:cNvSpPr/>
          <p:nvPr/>
        </p:nvSpPr>
        <p:spPr>
          <a:xfrm>
            <a:off x="448573" y="1222283"/>
            <a:ext cx="3526928" cy="523220"/>
          </a:xfrm>
          <a:prstGeom prst="rect">
            <a:avLst/>
          </a:prstGeom>
        </p:spPr>
        <p:txBody>
          <a:bodyPr wrap="none">
            <a:spAutoFit/>
          </a:bodyPr>
          <a:lstStyle/>
          <a:p>
            <a:r>
              <a:rPr lang="en-US" sz="2800" b="1" u="sng" dirty="0"/>
              <a:t>If two energy grids are</a:t>
            </a:r>
          </a:p>
        </p:txBody>
      </p:sp>
      <p:sp>
        <p:nvSpPr>
          <p:cNvPr id="7" name="TextBox 6"/>
          <p:cNvSpPr txBox="1"/>
          <p:nvPr/>
        </p:nvSpPr>
        <p:spPr>
          <a:xfrm>
            <a:off x="5990881" y="2291778"/>
            <a:ext cx="2460472" cy="461665"/>
          </a:xfrm>
          <a:prstGeom prst="rect">
            <a:avLst/>
          </a:prstGeom>
          <a:noFill/>
        </p:spPr>
        <p:txBody>
          <a:bodyPr wrap="square" rtlCol="0">
            <a:spAutoFit/>
          </a:bodyPr>
          <a:lstStyle/>
          <a:p>
            <a:r>
              <a:rPr lang="en-US" sz="2400" dirty="0"/>
              <a:t>Unionized Energy</a:t>
            </a:r>
          </a:p>
        </p:txBody>
      </p:sp>
      <p:sp>
        <p:nvSpPr>
          <p:cNvPr id="8" name="Rectangle 7"/>
          <p:cNvSpPr/>
          <p:nvPr/>
        </p:nvSpPr>
        <p:spPr>
          <a:xfrm>
            <a:off x="763860" y="3038478"/>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9" name="Rectangle 8"/>
          <p:cNvSpPr/>
          <p:nvPr/>
        </p:nvSpPr>
        <p:spPr>
          <a:xfrm>
            <a:off x="763860" y="3580916"/>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10" name="Rectangle 9"/>
          <p:cNvSpPr/>
          <p:nvPr/>
        </p:nvSpPr>
        <p:spPr>
          <a:xfrm>
            <a:off x="764727" y="4128156"/>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11" name="Rectangle 10"/>
          <p:cNvSpPr/>
          <p:nvPr/>
        </p:nvSpPr>
        <p:spPr>
          <a:xfrm>
            <a:off x="764727" y="5243736"/>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12" name="Rectangle 11"/>
          <p:cNvSpPr/>
          <p:nvPr/>
        </p:nvSpPr>
        <p:spPr>
          <a:xfrm>
            <a:off x="764727" y="4683916"/>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13" name="Rectangle 12"/>
          <p:cNvSpPr/>
          <p:nvPr/>
        </p:nvSpPr>
        <p:spPr>
          <a:xfrm>
            <a:off x="2726663" y="5232161"/>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14" name="Rectangle 13"/>
          <p:cNvSpPr/>
          <p:nvPr/>
        </p:nvSpPr>
        <p:spPr>
          <a:xfrm>
            <a:off x="2726663" y="4683916"/>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15" name="Rectangle 14"/>
          <p:cNvSpPr/>
          <p:nvPr/>
        </p:nvSpPr>
        <p:spPr>
          <a:xfrm>
            <a:off x="2727530" y="3038477"/>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16" name="Rectangle 15"/>
          <p:cNvSpPr/>
          <p:nvPr/>
        </p:nvSpPr>
        <p:spPr>
          <a:xfrm>
            <a:off x="2727530" y="4127094"/>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17" name="Rectangle 16"/>
          <p:cNvSpPr/>
          <p:nvPr/>
        </p:nvSpPr>
        <p:spPr>
          <a:xfrm>
            <a:off x="2727530" y="3588260"/>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18" name="Rectangle 17"/>
          <p:cNvSpPr/>
          <p:nvPr/>
        </p:nvSpPr>
        <p:spPr>
          <a:xfrm>
            <a:off x="6784119" y="2901670"/>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19" name="Rectangle 18"/>
          <p:cNvSpPr/>
          <p:nvPr/>
        </p:nvSpPr>
        <p:spPr>
          <a:xfrm>
            <a:off x="6790892" y="3448183"/>
            <a:ext cx="787296"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20" name="Rectangle 19"/>
          <p:cNvSpPr/>
          <p:nvPr/>
        </p:nvSpPr>
        <p:spPr>
          <a:xfrm>
            <a:off x="6784119" y="5099812"/>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21" name="Rectangle 20"/>
          <p:cNvSpPr/>
          <p:nvPr/>
        </p:nvSpPr>
        <p:spPr>
          <a:xfrm>
            <a:off x="6787037" y="4552381"/>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22" name="Rectangle 21"/>
          <p:cNvSpPr/>
          <p:nvPr/>
        </p:nvSpPr>
        <p:spPr>
          <a:xfrm>
            <a:off x="6787904" y="3995112"/>
            <a:ext cx="777740" cy="494589"/>
          </a:xfrm>
          <a:prstGeom prst="rect">
            <a:avLst/>
          </a:prstGeom>
          <a:solidFill>
            <a:schemeClr val="accent6">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23" name="Rectangle 22"/>
          <p:cNvSpPr/>
          <p:nvPr/>
        </p:nvSpPr>
        <p:spPr>
          <a:xfrm>
            <a:off x="4418611" y="5983401"/>
            <a:ext cx="2039341" cy="461665"/>
          </a:xfrm>
          <a:prstGeom prst="rect">
            <a:avLst/>
          </a:prstGeom>
        </p:spPr>
        <p:txBody>
          <a:bodyPr wrap="none">
            <a:spAutoFit/>
          </a:bodyPr>
          <a:lstStyle/>
          <a:p>
            <a:r>
              <a:rPr lang="en-US" sz="2400" b="1" i="1" dirty="0">
                <a:solidFill>
                  <a:srgbClr val="C00000"/>
                </a:solidFill>
              </a:rPr>
              <a:t>n(N1 U N2) = 5</a:t>
            </a:r>
          </a:p>
        </p:txBody>
      </p:sp>
      <p:sp>
        <p:nvSpPr>
          <p:cNvPr id="24" name="Rectangle 23"/>
          <p:cNvSpPr/>
          <p:nvPr/>
        </p:nvSpPr>
        <p:spPr>
          <a:xfrm>
            <a:off x="4172436" y="1336273"/>
            <a:ext cx="3216119" cy="4805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Identical</a:t>
            </a:r>
          </a:p>
        </p:txBody>
      </p:sp>
      <p:sp>
        <p:nvSpPr>
          <p:cNvPr id="25" name="Rectangle 24"/>
          <p:cNvSpPr/>
          <p:nvPr/>
        </p:nvSpPr>
        <p:spPr>
          <a:xfrm>
            <a:off x="321714" y="5914462"/>
            <a:ext cx="1611339" cy="461665"/>
          </a:xfrm>
          <a:prstGeom prst="rect">
            <a:avLst/>
          </a:prstGeom>
        </p:spPr>
        <p:txBody>
          <a:bodyPr wrap="none">
            <a:spAutoFit/>
          </a:bodyPr>
          <a:lstStyle/>
          <a:p>
            <a:r>
              <a:rPr lang="en-US" sz="2400" b="1" i="1" dirty="0">
                <a:solidFill>
                  <a:srgbClr val="C00000"/>
                </a:solidFill>
              </a:rPr>
              <a:t>[n(N1) = 5] </a:t>
            </a:r>
            <a:endParaRPr lang="en-US" sz="2400" b="1" dirty="0"/>
          </a:p>
        </p:txBody>
      </p:sp>
      <p:sp>
        <p:nvSpPr>
          <p:cNvPr id="26" name="Rectangle 25"/>
          <p:cNvSpPr/>
          <p:nvPr/>
        </p:nvSpPr>
        <p:spPr>
          <a:xfrm>
            <a:off x="2263593" y="5907096"/>
            <a:ext cx="1611339" cy="461665"/>
          </a:xfrm>
          <a:prstGeom prst="rect">
            <a:avLst/>
          </a:prstGeom>
        </p:spPr>
        <p:txBody>
          <a:bodyPr wrap="none">
            <a:spAutoFit/>
          </a:bodyPr>
          <a:lstStyle/>
          <a:p>
            <a:r>
              <a:rPr lang="en-US" sz="2400" b="1" i="1" dirty="0">
                <a:solidFill>
                  <a:srgbClr val="C00000"/>
                </a:solidFill>
              </a:rPr>
              <a:t>[n(N2) = 5]</a:t>
            </a:r>
            <a:r>
              <a:rPr lang="en-US" sz="2400" b="1" dirty="0"/>
              <a:t> </a:t>
            </a:r>
          </a:p>
        </p:txBody>
      </p:sp>
      <p:sp>
        <p:nvSpPr>
          <p:cNvPr id="27" name="TextBox 26"/>
          <p:cNvSpPr txBox="1"/>
          <p:nvPr/>
        </p:nvSpPr>
        <p:spPr>
          <a:xfrm>
            <a:off x="321714" y="1821723"/>
            <a:ext cx="8331637" cy="461665"/>
          </a:xfrm>
          <a:prstGeom prst="rect">
            <a:avLst/>
          </a:prstGeom>
          <a:noFill/>
        </p:spPr>
        <p:txBody>
          <a:bodyPr wrap="square" rtlCol="0">
            <a:spAutoFit/>
          </a:bodyPr>
          <a:lstStyle/>
          <a:p>
            <a:r>
              <a:rPr lang="en-US" sz="2400" dirty="0"/>
              <a:t>                                                                                    n(N1</a:t>
            </a:r>
            <a:r>
              <a:rPr lang="en-US" sz="2000" i="1" dirty="0">
                <a:solidFill>
                  <a:srgbClr val="FF0000"/>
                </a:solidFill>
              </a:rPr>
              <a:t>U</a:t>
            </a:r>
            <a:r>
              <a:rPr lang="en-US" sz="2400" dirty="0"/>
              <a:t>N2) = n(N1)</a:t>
            </a:r>
          </a:p>
        </p:txBody>
      </p:sp>
      <p:sp>
        <p:nvSpPr>
          <p:cNvPr id="33" name="Rectangle 32"/>
          <p:cNvSpPr/>
          <p:nvPr/>
        </p:nvSpPr>
        <p:spPr>
          <a:xfrm>
            <a:off x="645731" y="2348675"/>
            <a:ext cx="1064941" cy="5094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1</a:t>
            </a:r>
          </a:p>
        </p:txBody>
      </p:sp>
      <p:sp>
        <p:nvSpPr>
          <p:cNvPr id="34" name="Rectangle 33"/>
          <p:cNvSpPr/>
          <p:nvPr/>
        </p:nvSpPr>
        <p:spPr>
          <a:xfrm>
            <a:off x="2578905" y="2351154"/>
            <a:ext cx="1045963" cy="486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2</a:t>
            </a:r>
            <a:endParaRPr lang="en-US" sz="4400" b="1" dirty="0">
              <a:solidFill>
                <a:schemeClr val="tx1"/>
              </a:solidFill>
            </a:endParaRPr>
          </a:p>
        </p:txBody>
      </p:sp>
      <p:sp>
        <p:nvSpPr>
          <p:cNvPr id="36" name="Rectangle 35"/>
          <p:cNvSpPr/>
          <p:nvPr/>
        </p:nvSpPr>
        <p:spPr>
          <a:xfrm>
            <a:off x="2000108" y="4255522"/>
            <a:ext cx="351378" cy="369332"/>
          </a:xfrm>
          <a:prstGeom prst="rect">
            <a:avLst/>
          </a:prstGeom>
        </p:spPr>
        <p:txBody>
          <a:bodyPr wrap="none">
            <a:spAutoFit/>
          </a:bodyPr>
          <a:lstStyle/>
          <a:p>
            <a:r>
              <a:rPr lang="en-US" b="1" dirty="0">
                <a:latin typeface="Aharoni" panose="02010803020104030203" pitchFamily="2" charset="-79"/>
                <a:cs typeface="Aharoni" panose="02010803020104030203" pitchFamily="2" charset="-79"/>
              </a:rPr>
              <a:t>U</a:t>
            </a:r>
            <a:endParaRPr lang="en-US" dirty="0"/>
          </a:p>
        </p:txBody>
      </p:sp>
    </p:spTree>
    <p:extLst>
      <p:ext uri="{BB962C8B-B14F-4D97-AF65-F5344CB8AC3E}">
        <p14:creationId xmlns:p14="http://schemas.microsoft.com/office/powerpoint/2010/main" val="206040401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 name="Rectangle 36"/>
          <p:cNvSpPr/>
          <p:nvPr/>
        </p:nvSpPr>
        <p:spPr>
          <a:xfrm>
            <a:off x="2565410" y="2300825"/>
            <a:ext cx="1084877" cy="36136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8" name="Rectangle 37"/>
          <p:cNvSpPr/>
          <p:nvPr/>
        </p:nvSpPr>
        <p:spPr>
          <a:xfrm>
            <a:off x="609806" y="2312882"/>
            <a:ext cx="1136793" cy="360157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p:cNvSpPr/>
          <p:nvPr/>
        </p:nvSpPr>
        <p:spPr>
          <a:xfrm>
            <a:off x="6351840" y="2919159"/>
            <a:ext cx="1964385" cy="2987937"/>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Slide Number Placeholder 3"/>
          <p:cNvSpPr txBox="1">
            <a:spLocks/>
          </p:cNvSpPr>
          <p:nvPr/>
        </p:nvSpPr>
        <p:spPr>
          <a:xfrm>
            <a:off x="6457950" y="6356353"/>
            <a:ext cx="2057400"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6E310DD8-4D23-494A-9745-A7BA26DAFE5D}" type="slidenum">
              <a:rPr lang="en-US">
                <a:solidFill>
                  <a:prstClr val="black">
                    <a:tint val="75000"/>
                  </a:prstClr>
                </a:solidFill>
              </a:rPr>
              <a:pPr/>
              <a:t>16</a:t>
            </a:fld>
            <a:endParaRPr lang="en-US" dirty="0">
              <a:solidFill>
                <a:prstClr val="black">
                  <a:tint val="75000"/>
                </a:prstClr>
              </a:solidFill>
            </a:endParaRPr>
          </a:p>
        </p:txBody>
      </p:sp>
      <p:sp>
        <p:nvSpPr>
          <p:cNvPr id="6" name="Title 1"/>
          <p:cNvSpPr txBox="1">
            <a:spLocks/>
          </p:cNvSpPr>
          <p:nvPr/>
        </p:nvSpPr>
        <p:spPr>
          <a:xfrm>
            <a:off x="448573" y="468571"/>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Unionized energy grid:</a:t>
            </a:r>
          </a:p>
        </p:txBody>
      </p:sp>
      <p:sp>
        <p:nvSpPr>
          <p:cNvPr id="7" name="Rectangle 6"/>
          <p:cNvSpPr/>
          <p:nvPr/>
        </p:nvSpPr>
        <p:spPr>
          <a:xfrm>
            <a:off x="448573" y="1222283"/>
            <a:ext cx="3526928" cy="523220"/>
          </a:xfrm>
          <a:prstGeom prst="rect">
            <a:avLst/>
          </a:prstGeom>
        </p:spPr>
        <p:txBody>
          <a:bodyPr wrap="none">
            <a:spAutoFit/>
          </a:bodyPr>
          <a:lstStyle/>
          <a:p>
            <a:r>
              <a:rPr lang="en-US" sz="2800" b="1" u="sng" dirty="0"/>
              <a:t>If two energy grids are</a:t>
            </a:r>
          </a:p>
        </p:txBody>
      </p:sp>
      <p:sp>
        <p:nvSpPr>
          <p:cNvPr id="8" name="TextBox 7"/>
          <p:cNvSpPr txBox="1"/>
          <p:nvPr/>
        </p:nvSpPr>
        <p:spPr>
          <a:xfrm>
            <a:off x="6119076" y="2366469"/>
            <a:ext cx="2347531" cy="461665"/>
          </a:xfrm>
          <a:prstGeom prst="rect">
            <a:avLst/>
          </a:prstGeom>
          <a:noFill/>
        </p:spPr>
        <p:txBody>
          <a:bodyPr wrap="square" rtlCol="0">
            <a:spAutoFit/>
          </a:bodyPr>
          <a:lstStyle/>
          <a:p>
            <a:r>
              <a:rPr lang="en-US" sz="2400" dirty="0"/>
              <a:t>Unionized Energy</a:t>
            </a:r>
          </a:p>
        </p:txBody>
      </p:sp>
      <p:sp>
        <p:nvSpPr>
          <p:cNvPr id="9" name="Rectangle 8"/>
          <p:cNvSpPr/>
          <p:nvPr/>
        </p:nvSpPr>
        <p:spPr>
          <a:xfrm>
            <a:off x="800567" y="3061236"/>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10" name="Rectangle 9"/>
          <p:cNvSpPr/>
          <p:nvPr/>
        </p:nvSpPr>
        <p:spPr>
          <a:xfrm>
            <a:off x="800567" y="3622724"/>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11" name="Rectangle 10"/>
          <p:cNvSpPr/>
          <p:nvPr/>
        </p:nvSpPr>
        <p:spPr>
          <a:xfrm>
            <a:off x="801434" y="4169964"/>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12" name="Rectangle 11"/>
          <p:cNvSpPr/>
          <p:nvPr/>
        </p:nvSpPr>
        <p:spPr>
          <a:xfrm>
            <a:off x="801434" y="5285544"/>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13" name="Rectangle 12"/>
          <p:cNvSpPr/>
          <p:nvPr/>
        </p:nvSpPr>
        <p:spPr>
          <a:xfrm>
            <a:off x="801434" y="4725724"/>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14" name="Rectangle 13"/>
          <p:cNvSpPr/>
          <p:nvPr/>
        </p:nvSpPr>
        <p:spPr>
          <a:xfrm>
            <a:off x="2729403" y="5281699"/>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E-10</a:t>
            </a:r>
          </a:p>
        </p:txBody>
      </p:sp>
      <p:sp>
        <p:nvSpPr>
          <p:cNvPr id="15" name="Rectangle 14"/>
          <p:cNvSpPr/>
          <p:nvPr/>
        </p:nvSpPr>
        <p:spPr>
          <a:xfrm>
            <a:off x="2729403" y="4730382"/>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E-9</a:t>
            </a:r>
          </a:p>
        </p:txBody>
      </p:sp>
      <p:sp>
        <p:nvSpPr>
          <p:cNvPr id="16" name="Rectangle 15"/>
          <p:cNvSpPr/>
          <p:nvPr/>
        </p:nvSpPr>
        <p:spPr>
          <a:xfrm>
            <a:off x="2730270" y="3073267"/>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E-6</a:t>
            </a:r>
          </a:p>
        </p:txBody>
      </p:sp>
      <p:sp>
        <p:nvSpPr>
          <p:cNvPr id="17" name="Rectangle 16"/>
          <p:cNvSpPr/>
          <p:nvPr/>
        </p:nvSpPr>
        <p:spPr>
          <a:xfrm>
            <a:off x="2730270" y="4180934"/>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E-8</a:t>
            </a:r>
          </a:p>
        </p:txBody>
      </p:sp>
      <p:sp>
        <p:nvSpPr>
          <p:cNvPr id="18" name="Rectangle 17"/>
          <p:cNvSpPr/>
          <p:nvPr/>
        </p:nvSpPr>
        <p:spPr>
          <a:xfrm>
            <a:off x="2730270" y="3623050"/>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E-7</a:t>
            </a:r>
          </a:p>
        </p:txBody>
      </p:sp>
      <p:sp>
        <p:nvSpPr>
          <p:cNvPr id="24" name="Rectangle 23"/>
          <p:cNvSpPr/>
          <p:nvPr/>
        </p:nvSpPr>
        <p:spPr>
          <a:xfrm>
            <a:off x="4709138" y="5911633"/>
            <a:ext cx="2194832" cy="461665"/>
          </a:xfrm>
          <a:prstGeom prst="rect">
            <a:avLst/>
          </a:prstGeom>
        </p:spPr>
        <p:txBody>
          <a:bodyPr wrap="none">
            <a:spAutoFit/>
          </a:bodyPr>
          <a:lstStyle/>
          <a:p>
            <a:r>
              <a:rPr lang="en-US" sz="2400" b="1" i="1" dirty="0">
                <a:solidFill>
                  <a:srgbClr val="C00000"/>
                </a:solidFill>
              </a:rPr>
              <a:t>n(N1 U N2) = 10</a:t>
            </a:r>
          </a:p>
        </p:txBody>
      </p:sp>
      <p:sp>
        <p:nvSpPr>
          <p:cNvPr id="25" name="Rectangle 24"/>
          <p:cNvSpPr/>
          <p:nvPr/>
        </p:nvSpPr>
        <p:spPr>
          <a:xfrm>
            <a:off x="4117913" y="1336137"/>
            <a:ext cx="3216119" cy="480527"/>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800" b="1" dirty="0"/>
              <a:t>Disjoint</a:t>
            </a:r>
          </a:p>
        </p:txBody>
      </p:sp>
      <p:sp>
        <p:nvSpPr>
          <p:cNvPr id="26" name="Rectangle 25"/>
          <p:cNvSpPr/>
          <p:nvPr/>
        </p:nvSpPr>
        <p:spPr>
          <a:xfrm>
            <a:off x="321714" y="5914462"/>
            <a:ext cx="1611339" cy="461665"/>
          </a:xfrm>
          <a:prstGeom prst="rect">
            <a:avLst/>
          </a:prstGeom>
        </p:spPr>
        <p:txBody>
          <a:bodyPr wrap="none">
            <a:spAutoFit/>
          </a:bodyPr>
          <a:lstStyle/>
          <a:p>
            <a:r>
              <a:rPr lang="en-US" sz="2400" b="1" i="1" dirty="0">
                <a:solidFill>
                  <a:srgbClr val="C00000"/>
                </a:solidFill>
              </a:rPr>
              <a:t>[n(N1) = 5] </a:t>
            </a:r>
            <a:endParaRPr lang="en-US" sz="2400" b="1" dirty="0"/>
          </a:p>
        </p:txBody>
      </p:sp>
      <p:sp>
        <p:nvSpPr>
          <p:cNvPr id="27" name="Rectangle 26"/>
          <p:cNvSpPr/>
          <p:nvPr/>
        </p:nvSpPr>
        <p:spPr>
          <a:xfrm>
            <a:off x="2263593" y="5907096"/>
            <a:ext cx="1611339" cy="461665"/>
          </a:xfrm>
          <a:prstGeom prst="rect">
            <a:avLst/>
          </a:prstGeom>
        </p:spPr>
        <p:txBody>
          <a:bodyPr wrap="none">
            <a:spAutoFit/>
          </a:bodyPr>
          <a:lstStyle/>
          <a:p>
            <a:r>
              <a:rPr lang="en-US" sz="2400" b="1" i="1" dirty="0">
                <a:solidFill>
                  <a:srgbClr val="C00000"/>
                </a:solidFill>
              </a:rPr>
              <a:t>[n(N2) = 5]</a:t>
            </a:r>
            <a:r>
              <a:rPr lang="en-US" sz="2400" b="1" dirty="0"/>
              <a:t> </a:t>
            </a:r>
          </a:p>
        </p:txBody>
      </p:sp>
      <p:sp>
        <p:nvSpPr>
          <p:cNvPr id="28" name="TextBox 27"/>
          <p:cNvSpPr txBox="1"/>
          <p:nvPr/>
        </p:nvSpPr>
        <p:spPr>
          <a:xfrm>
            <a:off x="390434" y="1901942"/>
            <a:ext cx="8331637" cy="461665"/>
          </a:xfrm>
          <a:prstGeom prst="rect">
            <a:avLst/>
          </a:prstGeom>
          <a:noFill/>
        </p:spPr>
        <p:txBody>
          <a:bodyPr wrap="square" rtlCol="0">
            <a:spAutoFit/>
          </a:bodyPr>
          <a:lstStyle/>
          <a:p>
            <a:r>
              <a:rPr lang="en-US" sz="2400" dirty="0"/>
              <a:t>                                                                             n(N1</a:t>
            </a:r>
            <a:r>
              <a:rPr lang="en-US" sz="2000" i="1" dirty="0">
                <a:solidFill>
                  <a:srgbClr val="FF0000"/>
                </a:solidFill>
              </a:rPr>
              <a:t>U</a:t>
            </a:r>
            <a:r>
              <a:rPr lang="en-US" sz="2400" dirty="0"/>
              <a:t>N2) = (N1)+n(N2)</a:t>
            </a:r>
          </a:p>
        </p:txBody>
      </p:sp>
      <p:sp>
        <p:nvSpPr>
          <p:cNvPr id="29" name="Rectangle 28"/>
          <p:cNvSpPr/>
          <p:nvPr/>
        </p:nvSpPr>
        <p:spPr>
          <a:xfrm>
            <a:off x="6515100" y="3061235"/>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a:t>
            </a:r>
          </a:p>
        </p:txBody>
      </p:sp>
      <p:sp>
        <p:nvSpPr>
          <p:cNvPr id="30" name="Rectangle 29"/>
          <p:cNvSpPr/>
          <p:nvPr/>
        </p:nvSpPr>
        <p:spPr>
          <a:xfrm>
            <a:off x="6515100" y="3622723"/>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E-2</a:t>
            </a:r>
          </a:p>
        </p:txBody>
      </p:sp>
      <p:sp>
        <p:nvSpPr>
          <p:cNvPr id="31" name="Rectangle 30"/>
          <p:cNvSpPr/>
          <p:nvPr/>
        </p:nvSpPr>
        <p:spPr>
          <a:xfrm>
            <a:off x="6515967" y="4169963"/>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E-3</a:t>
            </a:r>
          </a:p>
        </p:txBody>
      </p:sp>
      <p:sp>
        <p:nvSpPr>
          <p:cNvPr id="32" name="Rectangle 31"/>
          <p:cNvSpPr/>
          <p:nvPr/>
        </p:nvSpPr>
        <p:spPr>
          <a:xfrm>
            <a:off x="6515967" y="5285543"/>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E-5</a:t>
            </a:r>
          </a:p>
        </p:txBody>
      </p:sp>
      <p:sp>
        <p:nvSpPr>
          <p:cNvPr id="33" name="Rectangle 32"/>
          <p:cNvSpPr/>
          <p:nvPr/>
        </p:nvSpPr>
        <p:spPr>
          <a:xfrm>
            <a:off x="6515967" y="4725723"/>
            <a:ext cx="777740" cy="494589"/>
          </a:xfrm>
          <a:prstGeom prst="rect">
            <a:avLst/>
          </a:prstGeom>
          <a:solidFill>
            <a:schemeClr val="accent4">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E-4</a:t>
            </a:r>
          </a:p>
        </p:txBody>
      </p:sp>
      <p:sp>
        <p:nvSpPr>
          <p:cNvPr id="39" name="Rectangle 38"/>
          <p:cNvSpPr/>
          <p:nvPr/>
        </p:nvSpPr>
        <p:spPr>
          <a:xfrm>
            <a:off x="7368173" y="5284067"/>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E-10</a:t>
            </a:r>
          </a:p>
        </p:txBody>
      </p:sp>
      <p:sp>
        <p:nvSpPr>
          <p:cNvPr id="40" name="Rectangle 39"/>
          <p:cNvSpPr/>
          <p:nvPr/>
        </p:nvSpPr>
        <p:spPr>
          <a:xfrm>
            <a:off x="7368173" y="4740124"/>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E-9</a:t>
            </a:r>
          </a:p>
        </p:txBody>
      </p:sp>
      <p:sp>
        <p:nvSpPr>
          <p:cNvPr id="41" name="Rectangle 40"/>
          <p:cNvSpPr/>
          <p:nvPr/>
        </p:nvSpPr>
        <p:spPr>
          <a:xfrm>
            <a:off x="7369040" y="3075635"/>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E-6</a:t>
            </a:r>
          </a:p>
        </p:txBody>
      </p:sp>
      <p:sp>
        <p:nvSpPr>
          <p:cNvPr id="42" name="Rectangle 41"/>
          <p:cNvSpPr/>
          <p:nvPr/>
        </p:nvSpPr>
        <p:spPr>
          <a:xfrm>
            <a:off x="7369040" y="4183302"/>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E-8</a:t>
            </a:r>
          </a:p>
        </p:txBody>
      </p:sp>
      <p:sp>
        <p:nvSpPr>
          <p:cNvPr id="43" name="Rectangle 42"/>
          <p:cNvSpPr/>
          <p:nvPr/>
        </p:nvSpPr>
        <p:spPr>
          <a:xfrm>
            <a:off x="7369040" y="3625418"/>
            <a:ext cx="777740" cy="494589"/>
          </a:xfrm>
          <a:prstGeom prst="rect">
            <a:avLst/>
          </a:prstGeom>
          <a:solidFill>
            <a:schemeClr val="tx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400" b="1" dirty="0">
                <a:solidFill>
                  <a:schemeClr val="tx1"/>
                </a:solidFill>
              </a:rPr>
              <a:t>E-7</a:t>
            </a:r>
          </a:p>
        </p:txBody>
      </p:sp>
      <p:sp>
        <p:nvSpPr>
          <p:cNvPr id="34" name="Rectangle 33"/>
          <p:cNvSpPr/>
          <p:nvPr/>
        </p:nvSpPr>
        <p:spPr>
          <a:xfrm>
            <a:off x="2000108" y="4255522"/>
            <a:ext cx="351378" cy="369332"/>
          </a:xfrm>
          <a:prstGeom prst="rect">
            <a:avLst/>
          </a:prstGeom>
        </p:spPr>
        <p:txBody>
          <a:bodyPr wrap="none">
            <a:spAutoFit/>
          </a:bodyPr>
          <a:lstStyle/>
          <a:p>
            <a:r>
              <a:rPr lang="en-US" b="1" dirty="0">
                <a:latin typeface="Aharoni" panose="02010803020104030203" pitchFamily="2" charset="-79"/>
                <a:cs typeface="Aharoni" panose="02010803020104030203" pitchFamily="2" charset="-79"/>
              </a:rPr>
              <a:t>U</a:t>
            </a:r>
            <a:endParaRPr lang="en-US" dirty="0"/>
          </a:p>
        </p:txBody>
      </p:sp>
      <p:sp>
        <p:nvSpPr>
          <p:cNvPr id="47" name="Rectangle 46"/>
          <p:cNvSpPr/>
          <p:nvPr/>
        </p:nvSpPr>
        <p:spPr>
          <a:xfrm>
            <a:off x="645731" y="2348675"/>
            <a:ext cx="1064941" cy="50946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1</a:t>
            </a:r>
          </a:p>
        </p:txBody>
      </p:sp>
      <p:sp>
        <p:nvSpPr>
          <p:cNvPr id="48" name="Rectangle 47"/>
          <p:cNvSpPr/>
          <p:nvPr/>
        </p:nvSpPr>
        <p:spPr>
          <a:xfrm>
            <a:off x="2578905" y="2351154"/>
            <a:ext cx="1045963" cy="486434"/>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Nuclide</a:t>
            </a:r>
          </a:p>
          <a:p>
            <a:pPr algn="ctr"/>
            <a:r>
              <a:rPr lang="en-US" sz="2000" b="1" dirty="0">
                <a:solidFill>
                  <a:schemeClr val="tx1"/>
                </a:solidFill>
              </a:rPr>
              <a:t>2</a:t>
            </a:r>
            <a:endParaRPr lang="en-US" sz="4400" b="1" dirty="0">
              <a:solidFill>
                <a:schemeClr val="tx1"/>
              </a:solidFill>
            </a:endParaRPr>
          </a:p>
        </p:txBody>
      </p:sp>
    </p:spTree>
    <p:extLst>
      <p:ext uri="{BB962C8B-B14F-4D97-AF65-F5344CB8AC3E}">
        <p14:creationId xmlns:p14="http://schemas.microsoft.com/office/powerpoint/2010/main" val="23080288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 name="Rectangle 39"/>
          <p:cNvSpPr txBox="1">
            <a:spLocks noChangeArrowheads="1"/>
          </p:cNvSpPr>
          <p:nvPr/>
        </p:nvSpPr>
        <p:spPr>
          <a:xfrm>
            <a:off x="578645" y="1450113"/>
            <a:ext cx="7886700" cy="48577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400" dirty="0"/>
              <a:t> </a:t>
            </a:r>
            <a:r>
              <a:rPr lang="en-US" altLang="en-US" sz="3200" b="1" dirty="0"/>
              <a:t>Binary Search:</a:t>
            </a:r>
          </a:p>
          <a:p>
            <a:pPr marL="0" indent="0">
              <a:buNone/>
            </a:pPr>
            <a:endParaRPr lang="en-US" altLang="en-US" sz="2400" dirty="0"/>
          </a:p>
          <a:p>
            <a:pPr marL="0" indent="0">
              <a:buNone/>
            </a:pPr>
            <a:r>
              <a:rPr lang="en-US" altLang="en-US" sz="2400" dirty="0"/>
              <a:t>In the given Array A[ ], We have to search for the index </a:t>
            </a:r>
            <a:r>
              <a:rPr lang="en-US" altLang="en-US" sz="2400" dirty="0" err="1"/>
              <a:t>i</a:t>
            </a:r>
            <a:r>
              <a:rPr lang="en-US" altLang="en-US" sz="2400" dirty="0"/>
              <a:t> </a:t>
            </a:r>
          </a:p>
          <a:p>
            <a:pPr marL="0" indent="0">
              <a:buNone/>
            </a:pPr>
            <a:r>
              <a:rPr lang="en-US" altLang="en-US" sz="2400" dirty="0"/>
              <a:t> such that  A[ </a:t>
            </a:r>
            <a:r>
              <a:rPr lang="en-US" altLang="en-US" sz="2400" dirty="0" err="1"/>
              <a:t>i</a:t>
            </a:r>
            <a:r>
              <a:rPr lang="en-US" altLang="en-US" sz="2400" dirty="0"/>
              <a:t> ] = Search value</a:t>
            </a:r>
          </a:p>
          <a:p>
            <a:pPr marL="0" indent="0">
              <a:buNone/>
            </a:pPr>
            <a:r>
              <a:rPr lang="en-US" altLang="en-US" sz="2400" b="1" dirty="0"/>
              <a:t>a[lo] </a:t>
            </a:r>
            <a:r>
              <a:rPr lang="en-US" altLang="en-US" sz="2400" b="1" dirty="0">
                <a:sym typeface="Symbol" panose="05050102010706020507" pitchFamily="18" charset="2"/>
              </a:rPr>
              <a:t>  </a:t>
            </a:r>
            <a:r>
              <a:rPr lang="en-US" altLang="en-US" sz="2400" dirty="0"/>
              <a:t>Search value  </a:t>
            </a:r>
            <a:r>
              <a:rPr lang="en-US" altLang="en-US" sz="2400" b="1" dirty="0">
                <a:sym typeface="Symbol" panose="05050102010706020507" pitchFamily="18" charset="2"/>
              </a:rPr>
              <a:t> </a:t>
            </a:r>
            <a:r>
              <a:rPr lang="en-US" altLang="en-US" sz="2400" b="1" dirty="0"/>
              <a:t> a[hi].</a:t>
            </a:r>
            <a:endParaRPr lang="en-US" altLang="en-US" sz="2000" b="1" dirty="0"/>
          </a:p>
          <a:p>
            <a:pPr marL="0" indent="0">
              <a:buNone/>
            </a:pPr>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dirty="0"/>
          </a:p>
          <a:p>
            <a:endParaRPr lang="en-US" altLang="en-US" dirty="0"/>
          </a:p>
          <a:p>
            <a:endParaRPr lang="en-US" altLang="en-US" dirty="0"/>
          </a:p>
          <a:p>
            <a:r>
              <a:rPr lang="en-US" altLang="en-US" dirty="0"/>
              <a:t>Ex.  </a:t>
            </a:r>
            <a:r>
              <a:rPr lang="en-US" altLang="en-US" b="1" i="1" dirty="0">
                <a:solidFill>
                  <a:srgbClr val="FF0000"/>
                </a:solidFill>
              </a:rPr>
              <a:t>Binary search for 95.</a:t>
            </a:r>
          </a:p>
          <a:p>
            <a:endParaRPr lang="en-US" altLang="en-US" sz="1600" dirty="0">
              <a:latin typeface="Courier New" panose="02070309020205020404" pitchFamily="49" charset="0"/>
            </a:endParaRPr>
          </a:p>
        </p:txBody>
      </p:sp>
      <p:sp>
        <p:nvSpPr>
          <p:cNvPr id="4098" name="Rectangle 2"/>
          <p:cNvSpPr>
            <a:spLocks noChangeArrowheads="1"/>
          </p:cNvSpPr>
          <p:nvPr/>
        </p:nvSpPr>
        <p:spPr bwMode="auto">
          <a:xfrm>
            <a:off x="483282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8</a:t>
            </a:r>
          </a:p>
        </p:txBody>
      </p:sp>
      <p:sp>
        <p:nvSpPr>
          <p:cNvPr id="4099" name="Rectangle 3"/>
          <p:cNvSpPr>
            <a:spLocks noChangeArrowheads="1"/>
          </p:cNvSpPr>
          <p:nvPr/>
        </p:nvSpPr>
        <p:spPr bwMode="auto">
          <a:xfrm>
            <a:off x="1187450"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2</a:t>
            </a:r>
          </a:p>
        </p:txBody>
      </p:sp>
      <p:sp>
        <p:nvSpPr>
          <p:cNvPr id="4100" name="Rectangle 4"/>
          <p:cNvSpPr>
            <a:spLocks noChangeArrowheads="1"/>
          </p:cNvSpPr>
          <p:nvPr/>
        </p:nvSpPr>
        <p:spPr bwMode="auto">
          <a:xfrm>
            <a:off x="577215"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a:t>
            </a:r>
          </a:p>
        </p:txBody>
      </p:sp>
      <p:sp>
        <p:nvSpPr>
          <p:cNvPr id="4101" name="Rectangle 5"/>
          <p:cNvSpPr>
            <a:spLocks noChangeArrowheads="1"/>
          </p:cNvSpPr>
          <p:nvPr/>
        </p:nvSpPr>
        <p:spPr bwMode="auto">
          <a:xfrm>
            <a:off x="1750854" y="4536347"/>
            <a:ext cx="609600" cy="289218"/>
          </a:xfrm>
          <a:prstGeom prst="rect">
            <a:avLst/>
          </a:prstGeom>
          <a:noFill/>
          <a:ln w="9525">
            <a:solidFill>
              <a:schemeClr val="bg1"/>
            </a:solidFill>
            <a:miter lim="800000"/>
            <a:headEnd/>
            <a:tailEnd/>
          </a:ln>
          <a:effectLst/>
        </p:spPr>
        <p:txBody>
          <a:bodyPr wrap="none" lIns="92075" tIns="46038" rIns="92075" bIns="46038" anchor="ctr"/>
          <a:lstStyle/>
          <a:p>
            <a:pPr algn="ctr"/>
            <a:r>
              <a:rPr lang="en-US" altLang="en-US" sz="900" b="1" dirty="0">
                <a:solidFill>
                  <a:schemeClr val="hlink"/>
                </a:solidFill>
              </a:rPr>
              <a:t>3</a:t>
            </a:r>
          </a:p>
        </p:txBody>
      </p:sp>
      <p:sp>
        <p:nvSpPr>
          <p:cNvPr id="4102" name="Rectangle 6"/>
          <p:cNvSpPr>
            <a:spLocks noChangeArrowheads="1"/>
          </p:cNvSpPr>
          <p:nvPr/>
        </p:nvSpPr>
        <p:spPr bwMode="auto">
          <a:xfrm>
            <a:off x="2392680"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4</a:t>
            </a:r>
          </a:p>
        </p:txBody>
      </p:sp>
      <p:sp>
        <p:nvSpPr>
          <p:cNvPr id="4103" name="Rectangle 7"/>
          <p:cNvSpPr>
            <a:spLocks noChangeArrowheads="1"/>
          </p:cNvSpPr>
          <p:nvPr/>
        </p:nvSpPr>
        <p:spPr bwMode="auto">
          <a:xfrm>
            <a:off x="3596640"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6</a:t>
            </a:r>
          </a:p>
        </p:txBody>
      </p:sp>
      <p:sp>
        <p:nvSpPr>
          <p:cNvPr id="4104" name="Rectangle 8"/>
          <p:cNvSpPr>
            <a:spLocks noChangeArrowheads="1"/>
          </p:cNvSpPr>
          <p:nvPr/>
        </p:nvSpPr>
        <p:spPr bwMode="auto">
          <a:xfrm>
            <a:off x="3034506" y="4527974"/>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5</a:t>
            </a:r>
          </a:p>
        </p:txBody>
      </p:sp>
      <p:sp>
        <p:nvSpPr>
          <p:cNvPr id="4105" name="Rectangle 9"/>
          <p:cNvSpPr>
            <a:spLocks noChangeArrowheads="1"/>
          </p:cNvSpPr>
          <p:nvPr/>
        </p:nvSpPr>
        <p:spPr bwMode="auto">
          <a:xfrm>
            <a:off x="424608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7</a:t>
            </a:r>
          </a:p>
        </p:txBody>
      </p:sp>
      <p:sp>
        <p:nvSpPr>
          <p:cNvPr id="4107" name="Rectangle 11"/>
          <p:cNvSpPr>
            <a:spLocks noChangeArrowheads="1"/>
          </p:cNvSpPr>
          <p:nvPr/>
        </p:nvSpPr>
        <p:spPr bwMode="auto">
          <a:xfrm>
            <a:off x="6035201" y="4560413"/>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10</a:t>
            </a:r>
          </a:p>
        </p:txBody>
      </p:sp>
      <p:sp>
        <p:nvSpPr>
          <p:cNvPr id="4108" name="Rectangle 12"/>
          <p:cNvSpPr>
            <a:spLocks noChangeArrowheads="1"/>
          </p:cNvSpPr>
          <p:nvPr/>
        </p:nvSpPr>
        <p:spPr bwMode="auto">
          <a:xfrm>
            <a:off x="5426076"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9</a:t>
            </a:r>
          </a:p>
        </p:txBody>
      </p:sp>
      <p:sp>
        <p:nvSpPr>
          <p:cNvPr id="4109" name="Rectangle 13"/>
          <p:cNvSpPr>
            <a:spLocks noChangeArrowheads="1"/>
          </p:cNvSpPr>
          <p:nvPr/>
        </p:nvSpPr>
        <p:spPr bwMode="auto">
          <a:xfrm>
            <a:off x="6629085"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11</a:t>
            </a:r>
          </a:p>
        </p:txBody>
      </p:sp>
      <p:sp>
        <p:nvSpPr>
          <p:cNvPr id="4110" name="Rectangle 14"/>
          <p:cNvSpPr>
            <a:spLocks noChangeArrowheads="1"/>
          </p:cNvSpPr>
          <p:nvPr/>
        </p:nvSpPr>
        <p:spPr bwMode="auto">
          <a:xfrm>
            <a:off x="7266782" y="456640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12</a:t>
            </a:r>
          </a:p>
        </p:txBody>
      </p:sp>
      <p:sp>
        <p:nvSpPr>
          <p:cNvPr id="4111" name="Rectangle 15"/>
          <p:cNvSpPr>
            <a:spLocks noChangeArrowheads="1"/>
          </p:cNvSpPr>
          <p:nvPr/>
        </p:nvSpPr>
        <p:spPr bwMode="auto">
          <a:xfrm>
            <a:off x="8443915"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14</a:t>
            </a:r>
          </a:p>
        </p:txBody>
      </p:sp>
      <p:sp>
        <p:nvSpPr>
          <p:cNvPr id="4112" name="Rectangle 16"/>
          <p:cNvSpPr>
            <a:spLocks noChangeArrowheads="1"/>
          </p:cNvSpPr>
          <p:nvPr/>
        </p:nvSpPr>
        <p:spPr bwMode="auto">
          <a:xfrm>
            <a:off x="7860032" y="45507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13</a:t>
            </a:r>
          </a:p>
        </p:txBody>
      </p:sp>
      <p:sp>
        <p:nvSpPr>
          <p:cNvPr id="4113" name="Rectangle 17"/>
          <p:cNvSpPr>
            <a:spLocks noChangeArrowheads="1"/>
          </p:cNvSpPr>
          <p:nvPr/>
        </p:nvSpPr>
        <p:spPr bwMode="auto">
          <a:xfrm>
            <a:off x="-1451"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0</a:t>
            </a:r>
          </a:p>
        </p:txBody>
      </p:sp>
      <p:sp>
        <p:nvSpPr>
          <p:cNvPr id="4114" name="Rectangle 18"/>
          <p:cNvSpPr>
            <a:spLocks noChangeArrowheads="1"/>
          </p:cNvSpPr>
          <p:nvPr/>
        </p:nvSpPr>
        <p:spPr bwMode="auto">
          <a:xfrm>
            <a:off x="4816791" y="3878988"/>
            <a:ext cx="609600" cy="641948"/>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64</a:t>
            </a:r>
          </a:p>
        </p:txBody>
      </p:sp>
      <p:sp>
        <p:nvSpPr>
          <p:cNvPr id="4115" name="Rectangle 19"/>
          <p:cNvSpPr>
            <a:spLocks noChangeArrowheads="1"/>
          </p:cNvSpPr>
          <p:nvPr/>
        </p:nvSpPr>
        <p:spPr bwMode="auto">
          <a:xfrm>
            <a:off x="1186815" y="3892261"/>
            <a:ext cx="609600" cy="636879"/>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14</a:t>
            </a:r>
          </a:p>
        </p:txBody>
      </p:sp>
      <p:sp>
        <p:nvSpPr>
          <p:cNvPr id="4116" name="Rectangle 20"/>
          <p:cNvSpPr>
            <a:spLocks noChangeArrowheads="1"/>
          </p:cNvSpPr>
          <p:nvPr/>
        </p:nvSpPr>
        <p:spPr bwMode="auto">
          <a:xfrm>
            <a:off x="594360"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13</a:t>
            </a:r>
          </a:p>
        </p:txBody>
      </p:sp>
      <p:sp>
        <p:nvSpPr>
          <p:cNvPr id="4117" name="Rectangle 21"/>
          <p:cNvSpPr>
            <a:spLocks noChangeArrowheads="1"/>
          </p:cNvSpPr>
          <p:nvPr/>
        </p:nvSpPr>
        <p:spPr bwMode="auto">
          <a:xfrm>
            <a:off x="1797369" y="3886200"/>
            <a:ext cx="609600" cy="639472"/>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25</a:t>
            </a:r>
          </a:p>
        </p:txBody>
      </p:sp>
      <p:sp>
        <p:nvSpPr>
          <p:cNvPr id="4118" name="Rectangle 22"/>
          <p:cNvSpPr>
            <a:spLocks noChangeArrowheads="1"/>
          </p:cNvSpPr>
          <p:nvPr/>
        </p:nvSpPr>
        <p:spPr bwMode="auto">
          <a:xfrm>
            <a:off x="2392680"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33</a:t>
            </a:r>
          </a:p>
        </p:txBody>
      </p:sp>
      <p:sp>
        <p:nvSpPr>
          <p:cNvPr id="4119" name="Rectangle 23"/>
          <p:cNvSpPr>
            <a:spLocks noChangeArrowheads="1"/>
          </p:cNvSpPr>
          <p:nvPr/>
        </p:nvSpPr>
        <p:spPr bwMode="auto">
          <a:xfrm>
            <a:off x="3596640" y="3879320"/>
            <a:ext cx="609600" cy="641616"/>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51</a:t>
            </a:r>
          </a:p>
        </p:txBody>
      </p:sp>
      <p:sp>
        <p:nvSpPr>
          <p:cNvPr id="4120" name="Rectangle 24"/>
          <p:cNvSpPr>
            <a:spLocks noChangeArrowheads="1"/>
          </p:cNvSpPr>
          <p:nvPr/>
        </p:nvSpPr>
        <p:spPr bwMode="auto">
          <a:xfrm>
            <a:off x="2987040" y="3885223"/>
            <a:ext cx="609600" cy="642753"/>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43</a:t>
            </a:r>
          </a:p>
        </p:txBody>
      </p:sp>
      <p:sp>
        <p:nvSpPr>
          <p:cNvPr id="4121" name="Rectangle 25"/>
          <p:cNvSpPr>
            <a:spLocks noChangeArrowheads="1"/>
          </p:cNvSpPr>
          <p:nvPr/>
        </p:nvSpPr>
        <p:spPr bwMode="auto">
          <a:xfrm>
            <a:off x="4206240" y="3878988"/>
            <a:ext cx="609600" cy="648986"/>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53</a:t>
            </a:r>
          </a:p>
        </p:txBody>
      </p:sp>
      <p:sp>
        <p:nvSpPr>
          <p:cNvPr id="4123" name="Rectangle 27"/>
          <p:cNvSpPr>
            <a:spLocks noChangeArrowheads="1"/>
          </p:cNvSpPr>
          <p:nvPr/>
        </p:nvSpPr>
        <p:spPr bwMode="auto">
          <a:xfrm>
            <a:off x="6021389" y="3886202"/>
            <a:ext cx="609600" cy="643891"/>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84</a:t>
            </a:r>
          </a:p>
        </p:txBody>
      </p:sp>
      <p:sp>
        <p:nvSpPr>
          <p:cNvPr id="4124" name="Rectangle 28"/>
          <p:cNvSpPr>
            <a:spLocks noChangeArrowheads="1"/>
          </p:cNvSpPr>
          <p:nvPr/>
        </p:nvSpPr>
        <p:spPr bwMode="auto">
          <a:xfrm>
            <a:off x="5410042"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72</a:t>
            </a:r>
          </a:p>
        </p:txBody>
      </p:sp>
      <p:sp>
        <p:nvSpPr>
          <p:cNvPr id="4125" name="Rectangle 29"/>
          <p:cNvSpPr>
            <a:spLocks noChangeArrowheads="1"/>
          </p:cNvSpPr>
          <p:nvPr/>
        </p:nvSpPr>
        <p:spPr bwMode="auto">
          <a:xfrm>
            <a:off x="6631306"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93</a:t>
            </a:r>
          </a:p>
        </p:txBody>
      </p:sp>
      <p:sp>
        <p:nvSpPr>
          <p:cNvPr id="4126" name="Rectangle 30"/>
          <p:cNvSpPr>
            <a:spLocks noChangeArrowheads="1"/>
          </p:cNvSpPr>
          <p:nvPr/>
        </p:nvSpPr>
        <p:spPr bwMode="auto">
          <a:xfrm>
            <a:off x="7241223"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95</a:t>
            </a:r>
          </a:p>
        </p:txBody>
      </p:sp>
      <p:sp>
        <p:nvSpPr>
          <p:cNvPr id="4127" name="Rectangle 31"/>
          <p:cNvSpPr>
            <a:spLocks noChangeArrowheads="1"/>
          </p:cNvSpPr>
          <p:nvPr/>
        </p:nvSpPr>
        <p:spPr bwMode="auto">
          <a:xfrm>
            <a:off x="8434705"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97</a:t>
            </a:r>
          </a:p>
        </p:txBody>
      </p:sp>
      <p:sp>
        <p:nvSpPr>
          <p:cNvPr id="4128" name="Rectangle 32"/>
          <p:cNvSpPr>
            <a:spLocks noChangeArrowheads="1"/>
          </p:cNvSpPr>
          <p:nvPr/>
        </p:nvSpPr>
        <p:spPr bwMode="auto">
          <a:xfrm>
            <a:off x="7851140"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96</a:t>
            </a:r>
          </a:p>
        </p:txBody>
      </p:sp>
      <p:sp>
        <p:nvSpPr>
          <p:cNvPr id="4129" name="Rectangle 33"/>
          <p:cNvSpPr>
            <a:spLocks noChangeArrowheads="1"/>
          </p:cNvSpPr>
          <p:nvPr/>
        </p:nvSpPr>
        <p:spPr bwMode="auto">
          <a:xfrm>
            <a:off x="6002"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a:t>
            </a:r>
          </a:p>
        </p:txBody>
      </p:sp>
      <p:sp>
        <p:nvSpPr>
          <p:cNvPr id="4130" name="Rectangle 34"/>
          <p:cNvSpPr>
            <a:spLocks noGrp="1" noChangeArrowheads="1"/>
          </p:cNvSpPr>
          <p:nvPr>
            <p:ph type="title"/>
          </p:nvPr>
        </p:nvSpPr>
        <p:spPr/>
        <p:txBody>
          <a:bodyPr/>
          <a:lstStyle/>
          <a:p>
            <a:r>
              <a:rPr kumimoji="0" lang="en-US" altLang="en-US" dirty="0"/>
              <a:t>Searching Algorithm:</a:t>
            </a:r>
          </a:p>
        </p:txBody>
      </p:sp>
      <p:sp>
        <p:nvSpPr>
          <p:cNvPr id="4131" name="Rectangle 35"/>
          <p:cNvSpPr>
            <a:spLocks noChangeArrowheads="1"/>
          </p:cNvSpPr>
          <p:nvPr/>
        </p:nvSpPr>
        <p:spPr bwMode="auto">
          <a:xfrm>
            <a:off x="117932" y="5134031"/>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lo</a:t>
            </a:r>
          </a:p>
        </p:txBody>
      </p:sp>
      <p:sp>
        <p:nvSpPr>
          <p:cNvPr id="4132" name="Line 36"/>
          <p:cNvSpPr>
            <a:spLocks noChangeShapeType="1"/>
          </p:cNvSpPr>
          <p:nvPr/>
        </p:nvSpPr>
        <p:spPr bwMode="auto">
          <a:xfrm flipV="1">
            <a:off x="286385" y="4870506"/>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4140" name="Rectangle 44"/>
          <p:cNvSpPr>
            <a:spLocks noChangeArrowheads="1"/>
          </p:cNvSpPr>
          <p:nvPr/>
        </p:nvSpPr>
        <p:spPr bwMode="auto">
          <a:xfrm>
            <a:off x="8531047" y="514878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hi</a:t>
            </a:r>
          </a:p>
        </p:txBody>
      </p:sp>
      <p:sp>
        <p:nvSpPr>
          <p:cNvPr id="4141" name="Line 45"/>
          <p:cNvSpPr>
            <a:spLocks noChangeShapeType="1"/>
          </p:cNvSpPr>
          <p:nvPr/>
        </p:nvSpPr>
        <p:spPr bwMode="auto">
          <a:xfrm flipV="1">
            <a:off x="8697913"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2" name="Slide Number Placeholder 1"/>
          <p:cNvSpPr>
            <a:spLocks noGrp="1"/>
          </p:cNvSpPr>
          <p:nvPr>
            <p:ph type="sldNum" sz="quarter" idx="12"/>
          </p:nvPr>
        </p:nvSpPr>
        <p:spPr/>
        <p:txBody>
          <a:bodyPr/>
          <a:lstStyle/>
          <a:p>
            <a:fld id="{6E310DD8-4D23-494A-9745-A7BA26DAFE5D}" type="slidenum">
              <a:rPr lang="en-US" smtClean="0">
                <a:solidFill>
                  <a:prstClr val="black">
                    <a:tint val="75000"/>
                  </a:prstClr>
                </a:solidFill>
              </a:rPr>
              <a:pPr/>
              <a:t>17</a:t>
            </a:fld>
            <a:endParaRPr lang="en-US" dirty="0">
              <a:solidFill>
                <a:prstClr val="black">
                  <a:tint val="75000"/>
                </a:prstClr>
              </a:solidFill>
            </a:endParaRPr>
          </a:p>
        </p:txBody>
      </p:sp>
      <p:sp>
        <p:nvSpPr>
          <p:cNvPr id="62" name="Rectangle 25"/>
          <p:cNvSpPr>
            <a:spLocks noChangeArrowheads="1"/>
          </p:cNvSpPr>
          <p:nvPr/>
        </p:nvSpPr>
        <p:spPr bwMode="auto">
          <a:xfrm>
            <a:off x="4206240" y="3878988"/>
            <a:ext cx="609600" cy="648986"/>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53</a:t>
            </a:r>
          </a:p>
        </p:txBody>
      </p:sp>
      <p:sp>
        <p:nvSpPr>
          <p:cNvPr id="63" name="Rectangle 79"/>
          <p:cNvSpPr>
            <a:spLocks noChangeArrowheads="1"/>
          </p:cNvSpPr>
          <p:nvPr/>
        </p:nvSpPr>
        <p:spPr bwMode="auto">
          <a:xfrm>
            <a:off x="4281198" y="5099106"/>
            <a:ext cx="55303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mid</a:t>
            </a:r>
          </a:p>
        </p:txBody>
      </p:sp>
      <p:sp>
        <p:nvSpPr>
          <p:cNvPr id="64" name="Line 80"/>
          <p:cNvSpPr>
            <a:spLocks noChangeShapeType="1"/>
          </p:cNvSpPr>
          <p:nvPr/>
        </p:nvSpPr>
        <p:spPr bwMode="auto">
          <a:xfrm flipV="1">
            <a:off x="4541839" y="483558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Tree>
    <p:extLst>
      <p:ext uri="{BB962C8B-B14F-4D97-AF65-F5344CB8AC3E}">
        <p14:creationId xmlns:p14="http://schemas.microsoft.com/office/powerpoint/2010/main" val="42547692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2"/>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3"/>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6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 grpId="0" animBg="1"/>
      <p:bldP spid="63" grpId="0"/>
      <p:bldP spid="64"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Rectangle 39"/>
          <p:cNvSpPr txBox="1">
            <a:spLocks noChangeArrowheads="1"/>
          </p:cNvSpPr>
          <p:nvPr/>
        </p:nvSpPr>
        <p:spPr>
          <a:xfrm>
            <a:off x="578645" y="1450113"/>
            <a:ext cx="7886700" cy="48577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400" dirty="0"/>
              <a:t> </a:t>
            </a:r>
            <a:r>
              <a:rPr lang="en-US" altLang="en-US" sz="3200" b="1" dirty="0"/>
              <a:t>Binary Search:</a:t>
            </a:r>
          </a:p>
          <a:p>
            <a:pPr marL="0" indent="0">
              <a:buNone/>
            </a:pPr>
            <a:endParaRPr lang="en-US" altLang="en-US" sz="2400" dirty="0"/>
          </a:p>
          <a:p>
            <a:pPr marL="0" indent="0">
              <a:buNone/>
            </a:pPr>
            <a:r>
              <a:rPr lang="en-US" altLang="en-US" sz="2400" dirty="0"/>
              <a:t>In the given Array A[ ], We have to search for the index </a:t>
            </a:r>
            <a:r>
              <a:rPr lang="en-US" altLang="en-US" sz="2400" dirty="0" err="1"/>
              <a:t>i</a:t>
            </a:r>
            <a:r>
              <a:rPr lang="en-US" altLang="en-US" sz="2400" dirty="0"/>
              <a:t> </a:t>
            </a:r>
          </a:p>
          <a:p>
            <a:pPr marL="0" indent="0">
              <a:buNone/>
            </a:pPr>
            <a:r>
              <a:rPr lang="en-US" altLang="en-US" sz="2400" dirty="0"/>
              <a:t> such that  A[ </a:t>
            </a:r>
            <a:r>
              <a:rPr lang="en-US" altLang="en-US" sz="2400" dirty="0" err="1"/>
              <a:t>i</a:t>
            </a:r>
            <a:r>
              <a:rPr lang="en-US" altLang="en-US" sz="2400" dirty="0"/>
              <a:t> ] = Search value</a:t>
            </a:r>
          </a:p>
          <a:p>
            <a:pPr marL="0" indent="0">
              <a:buNone/>
            </a:pPr>
            <a:r>
              <a:rPr lang="en-US" altLang="en-US" sz="2400" b="1" dirty="0"/>
              <a:t>a[lo] </a:t>
            </a:r>
            <a:r>
              <a:rPr lang="en-US" altLang="en-US" sz="2400" b="1" dirty="0">
                <a:sym typeface="Symbol" panose="05050102010706020507" pitchFamily="18" charset="2"/>
              </a:rPr>
              <a:t>  </a:t>
            </a:r>
            <a:r>
              <a:rPr lang="en-US" altLang="en-US" sz="2400" dirty="0"/>
              <a:t>Search value  </a:t>
            </a:r>
            <a:r>
              <a:rPr lang="en-US" altLang="en-US" sz="2400" b="1" dirty="0">
                <a:sym typeface="Symbol" panose="05050102010706020507" pitchFamily="18" charset="2"/>
              </a:rPr>
              <a:t> </a:t>
            </a:r>
            <a:r>
              <a:rPr lang="en-US" altLang="en-US" sz="2400" b="1" dirty="0"/>
              <a:t> a[hi].</a:t>
            </a:r>
            <a:endParaRPr lang="en-US" altLang="en-US" sz="2000" b="1" dirty="0"/>
          </a:p>
          <a:p>
            <a:pPr marL="0" indent="0">
              <a:buNone/>
            </a:pPr>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dirty="0"/>
          </a:p>
          <a:p>
            <a:endParaRPr lang="en-US" altLang="en-US" dirty="0"/>
          </a:p>
          <a:p>
            <a:endParaRPr lang="en-US" altLang="en-US" dirty="0"/>
          </a:p>
          <a:p>
            <a:r>
              <a:rPr lang="en-US" altLang="en-US" dirty="0"/>
              <a:t>Ex.  </a:t>
            </a:r>
            <a:r>
              <a:rPr lang="en-US" altLang="en-US" b="1" i="1" dirty="0">
                <a:solidFill>
                  <a:srgbClr val="FF0000"/>
                </a:solidFill>
              </a:rPr>
              <a:t>Binary search for 95.</a:t>
            </a:r>
          </a:p>
          <a:p>
            <a:endParaRPr lang="en-US" altLang="en-US" sz="1600" dirty="0">
              <a:latin typeface="Courier New" panose="02070309020205020404" pitchFamily="49" charset="0"/>
            </a:endParaRPr>
          </a:p>
        </p:txBody>
      </p:sp>
      <p:sp>
        <p:nvSpPr>
          <p:cNvPr id="88" name="Rectangle 2"/>
          <p:cNvSpPr>
            <a:spLocks noChangeArrowheads="1"/>
          </p:cNvSpPr>
          <p:nvPr/>
        </p:nvSpPr>
        <p:spPr bwMode="auto">
          <a:xfrm>
            <a:off x="483282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8</a:t>
            </a:r>
          </a:p>
        </p:txBody>
      </p:sp>
      <p:sp>
        <p:nvSpPr>
          <p:cNvPr id="89" name="Rectangle 3"/>
          <p:cNvSpPr>
            <a:spLocks noChangeArrowheads="1"/>
          </p:cNvSpPr>
          <p:nvPr/>
        </p:nvSpPr>
        <p:spPr bwMode="auto">
          <a:xfrm>
            <a:off x="1187450"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2</a:t>
            </a:r>
          </a:p>
        </p:txBody>
      </p:sp>
      <p:sp>
        <p:nvSpPr>
          <p:cNvPr id="90" name="Rectangle 4"/>
          <p:cNvSpPr>
            <a:spLocks noChangeArrowheads="1"/>
          </p:cNvSpPr>
          <p:nvPr/>
        </p:nvSpPr>
        <p:spPr bwMode="auto">
          <a:xfrm>
            <a:off x="577215"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a:t>
            </a:r>
          </a:p>
        </p:txBody>
      </p:sp>
      <p:sp>
        <p:nvSpPr>
          <p:cNvPr id="91" name="Rectangle 5"/>
          <p:cNvSpPr>
            <a:spLocks noChangeArrowheads="1"/>
          </p:cNvSpPr>
          <p:nvPr/>
        </p:nvSpPr>
        <p:spPr bwMode="auto">
          <a:xfrm>
            <a:off x="1750854" y="4536347"/>
            <a:ext cx="609600" cy="289218"/>
          </a:xfrm>
          <a:prstGeom prst="rect">
            <a:avLst/>
          </a:prstGeom>
          <a:noFill/>
          <a:ln w="9525">
            <a:solidFill>
              <a:schemeClr val="bg1"/>
            </a:solidFill>
            <a:miter lim="800000"/>
            <a:headEnd/>
            <a:tailEnd/>
          </a:ln>
          <a:effectLst/>
        </p:spPr>
        <p:txBody>
          <a:bodyPr wrap="none" lIns="92075" tIns="46038" rIns="92075" bIns="46038" anchor="ctr"/>
          <a:lstStyle/>
          <a:p>
            <a:pPr algn="ctr"/>
            <a:r>
              <a:rPr lang="en-US" altLang="en-US" sz="900" b="1" dirty="0">
                <a:solidFill>
                  <a:schemeClr val="hlink"/>
                </a:solidFill>
              </a:rPr>
              <a:t>3</a:t>
            </a:r>
          </a:p>
        </p:txBody>
      </p:sp>
      <p:sp>
        <p:nvSpPr>
          <p:cNvPr id="92" name="Rectangle 6"/>
          <p:cNvSpPr>
            <a:spLocks noChangeArrowheads="1"/>
          </p:cNvSpPr>
          <p:nvPr/>
        </p:nvSpPr>
        <p:spPr bwMode="auto">
          <a:xfrm>
            <a:off x="2392680"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4</a:t>
            </a:r>
          </a:p>
        </p:txBody>
      </p:sp>
      <p:sp>
        <p:nvSpPr>
          <p:cNvPr id="93" name="Rectangle 7"/>
          <p:cNvSpPr>
            <a:spLocks noChangeArrowheads="1"/>
          </p:cNvSpPr>
          <p:nvPr/>
        </p:nvSpPr>
        <p:spPr bwMode="auto">
          <a:xfrm>
            <a:off x="3596640"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6</a:t>
            </a:r>
          </a:p>
        </p:txBody>
      </p:sp>
      <p:sp>
        <p:nvSpPr>
          <p:cNvPr id="94" name="Rectangle 8"/>
          <p:cNvSpPr>
            <a:spLocks noChangeArrowheads="1"/>
          </p:cNvSpPr>
          <p:nvPr/>
        </p:nvSpPr>
        <p:spPr bwMode="auto">
          <a:xfrm>
            <a:off x="3034506" y="4527974"/>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5</a:t>
            </a:r>
          </a:p>
        </p:txBody>
      </p:sp>
      <p:sp>
        <p:nvSpPr>
          <p:cNvPr id="95" name="Rectangle 9"/>
          <p:cNvSpPr>
            <a:spLocks noChangeArrowheads="1"/>
          </p:cNvSpPr>
          <p:nvPr/>
        </p:nvSpPr>
        <p:spPr bwMode="auto">
          <a:xfrm>
            <a:off x="424608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7</a:t>
            </a:r>
          </a:p>
        </p:txBody>
      </p:sp>
      <p:sp>
        <p:nvSpPr>
          <p:cNvPr id="96" name="Rectangle 11"/>
          <p:cNvSpPr>
            <a:spLocks noChangeArrowheads="1"/>
          </p:cNvSpPr>
          <p:nvPr/>
        </p:nvSpPr>
        <p:spPr bwMode="auto">
          <a:xfrm>
            <a:off x="6035201" y="4560413"/>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10</a:t>
            </a:r>
          </a:p>
        </p:txBody>
      </p:sp>
      <p:sp>
        <p:nvSpPr>
          <p:cNvPr id="97" name="Rectangle 12"/>
          <p:cNvSpPr>
            <a:spLocks noChangeArrowheads="1"/>
          </p:cNvSpPr>
          <p:nvPr/>
        </p:nvSpPr>
        <p:spPr bwMode="auto">
          <a:xfrm>
            <a:off x="5426076"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9</a:t>
            </a:r>
          </a:p>
        </p:txBody>
      </p:sp>
      <p:sp>
        <p:nvSpPr>
          <p:cNvPr id="98" name="Rectangle 13"/>
          <p:cNvSpPr>
            <a:spLocks noChangeArrowheads="1"/>
          </p:cNvSpPr>
          <p:nvPr/>
        </p:nvSpPr>
        <p:spPr bwMode="auto">
          <a:xfrm>
            <a:off x="6629085"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11</a:t>
            </a:r>
          </a:p>
        </p:txBody>
      </p:sp>
      <p:sp>
        <p:nvSpPr>
          <p:cNvPr id="99" name="Rectangle 14"/>
          <p:cNvSpPr>
            <a:spLocks noChangeArrowheads="1"/>
          </p:cNvSpPr>
          <p:nvPr/>
        </p:nvSpPr>
        <p:spPr bwMode="auto">
          <a:xfrm>
            <a:off x="7266782" y="456640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12</a:t>
            </a:r>
          </a:p>
        </p:txBody>
      </p:sp>
      <p:sp>
        <p:nvSpPr>
          <p:cNvPr id="100" name="Rectangle 15"/>
          <p:cNvSpPr>
            <a:spLocks noChangeArrowheads="1"/>
          </p:cNvSpPr>
          <p:nvPr/>
        </p:nvSpPr>
        <p:spPr bwMode="auto">
          <a:xfrm>
            <a:off x="8443915"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14</a:t>
            </a:r>
          </a:p>
        </p:txBody>
      </p:sp>
      <p:sp>
        <p:nvSpPr>
          <p:cNvPr id="101" name="Rectangle 16"/>
          <p:cNvSpPr>
            <a:spLocks noChangeArrowheads="1"/>
          </p:cNvSpPr>
          <p:nvPr/>
        </p:nvSpPr>
        <p:spPr bwMode="auto">
          <a:xfrm>
            <a:off x="7860032" y="45507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13</a:t>
            </a:r>
          </a:p>
        </p:txBody>
      </p:sp>
      <p:sp>
        <p:nvSpPr>
          <p:cNvPr id="102" name="Rectangle 17"/>
          <p:cNvSpPr>
            <a:spLocks noChangeArrowheads="1"/>
          </p:cNvSpPr>
          <p:nvPr/>
        </p:nvSpPr>
        <p:spPr bwMode="auto">
          <a:xfrm>
            <a:off x="-1738"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0</a:t>
            </a:r>
          </a:p>
        </p:txBody>
      </p:sp>
      <p:sp>
        <p:nvSpPr>
          <p:cNvPr id="103" name="Rectangle 18"/>
          <p:cNvSpPr>
            <a:spLocks noChangeArrowheads="1"/>
          </p:cNvSpPr>
          <p:nvPr/>
        </p:nvSpPr>
        <p:spPr bwMode="auto">
          <a:xfrm>
            <a:off x="4816791" y="3878988"/>
            <a:ext cx="609600" cy="641948"/>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64</a:t>
            </a:r>
          </a:p>
        </p:txBody>
      </p:sp>
      <p:sp>
        <p:nvSpPr>
          <p:cNvPr id="104" name="Rectangle 19"/>
          <p:cNvSpPr>
            <a:spLocks noChangeArrowheads="1"/>
          </p:cNvSpPr>
          <p:nvPr/>
        </p:nvSpPr>
        <p:spPr bwMode="auto">
          <a:xfrm>
            <a:off x="1186815" y="3892261"/>
            <a:ext cx="609600" cy="636879"/>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14</a:t>
            </a:r>
          </a:p>
        </p:txBody>
      </p:sp>
      <p:sp>
        <p:nvSpPr>
          <p:cNvPr id="105" name="Rectangle 20"/>
          <p:cNvSpPr>
            <a:spLocks noChangeArrowheads="1"/>
          </p:cNvSpPr>
          <p:nvPr/>
        </p:nvSpPr>
        <p:spPr bwMode="auto">
          <a:xfrm>
            <a:off x="594360"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13</a:t>
            </a:r>
          </a:p>
        </p:txBody>
      </p:sp>
      <p:sp>
        <p:nvSpPr>
          <p:cNvPr id="106" name="Rectangle 21"/>
          <p:cNvSpPr>
            <a:spLocks noChangeArrowheads="1"/>
          </p:cNvSpPr>
          <p:nvPr/>
        </p:nvSpPr>
        <p:spPr bwMode="auto">
          <a:xfrm>
            <a:off x="1797369" y="3885221"/>
            <a:ext cx="609600" cy="640452"/>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25</a:t>
            </a:r>
          </a:p>
        </p:txBody>
      </p:sp>
      <p:sp>
        <p:nvSpPr>
          <p:cNvPr id="107" name="Rectangle 22"/>
          <p:cNvSpPr>
            <a:spLocks noChangeArrowheads="1"/>
          </p:cNvSpPr>
          <p:nvPr/>
        </p:nvSpPr>
        <p:spPr bwMode="auto">
          <a:xfrm>
            <a:off x="2392680"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33</a:t>
            </a:r>
          </a:p>
        </p:txBody>
      </p:sp>
      <p:sp>
        <p:nvSpPr>
          <p:cNvPr id="108" name="Rectangle 23"/>
          <p:cNvSpPr>
            <a:spLocks noChangeArrowheads="1"/>
          </p:cNvSpPr>
          <p:nvPr/>
        </p:nvSpPr>
        <p:spPr bwMode="auto">
          <a:xfrm>
            <a:off x="3596640" y="3879320"/>
            <a:ext cx="609600" cy="641616"/>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51</a:t>
            </a:r>
          </a:p>
        </p:txBody>
      </p:sp>
      <p:sp>
        <p:nvSpPr>
          <p:cNvPr id="109" name="Rectangle 24"/>
          <p:cNvSpPr>
            <a:spLocks noChangeArrowheads="1"/>
          </p:cNvSpPr>
          <p:nvPr/>
        </p:nvSpPr>
        <p:spPr bwMode="auto">
          <a:xfrm>
            <a:off x="2987040" y="3885223"/>
            <a:ext cx="609600" cy="642753"/>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43</a:t>
            </a:r>
          </a:p>
        </p:txBody>
      </p:sp>
      <p:sp>
        <p:nvSpPr>
          <p:cNvPr id="110" name="Rectangle 25"/>
          <p:cNvSpPr>
            <a:spLocks noChangeArrowheads="1"/>
          </p:cNvSpPr>
          <p:nvPr/>
        </p:nvSpPr>
        <p:spPr bwMode="auto">
          <a:xfrm>
            <a:off x="4206240" y="3878988"/>
            <a:ext cx="609600" cy="648986"/>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53</a:t>
            </a:r>
          </a:p>
        </p:txBody>
      </p:sp>
      <p:sp>
        <p:nvSpPr>
          <p:cNvPr id="111" name="Rectangle 27"/>
          <p:cNvSpPr>
            <a:spLocks noChangeArrowheads="1"/>
          </p:cNvSpPr>
          <p:nvPr/>
        </p:nvSpPr>
        <p:spPr bwMode="auto">
          <a:xfrm>
            <a:off x="6021389" y="3886202"/>
            <a:ext cx="609600" cy="643891"/>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84</a:t>
            </a:r>
          </a:p>
        </p:txBody>
      </p:sp>
      <p:sp>
        <p:nvSpPr>
          <p:cNvPr id="112" name="Rectangle 28"/>
          <p:cNvSpPr>
            <a:spLocks noChangeArrowheads="1"/>
          </p:cNvSpPr>
          <p:nvPr/>
        </p:nvSpPr>
        <p:spPr bwMode="auto">
          <a:xfrm>
            <a:off x="5410042"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72</a:t>
            </a:r>
          </a:p>
        </p:txBody>
      </p:sp>
      <p:sp>
        <p:nvSpPr>
          <p:cNvPr id="113" name="Rectangle 29"/>
          <p:cNvSpPr>
            <a:spLocks noChangeArrowheads="1"/>
          </p:cNvSpPr>
          <p:nvPr/>
        </p:nvSpPr>
        <p:spPr bwMode="auto">
          <a:xfrm>
            <a:off x="6631306" y="3879320"/>
            <a:ext cx="609600" cy="648654"/>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93</a:t>
            </a:r>
          </a:p>
        </p:txBody>
      </p:sp>
      <p:sp>
        <p:nvSpPr>
          <p:cNvPr id="114" name="Rectangle 30"/>
          <p:cNvSpPr>
            <a:spLocks noChangeArrowheads="1"/>
          </p:cNvSpPr>
          <p:nvPr/>
        </p:nvSpPr>
        <p:spPr bwMode="auto">
          <a:xfrm>
            <a:off x="7241223"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95</a:t>
            </a:r>
          </a:p>
        </p:txBody>
      </p:sp>
      <p:sp>
        <p:nvSpPr>
          <p:cNvPr id="115" name="Rectangle 31"/>
          <p:cNvSpPr>
            <a:spLocks noChangeArrowheads="1"/>
          </p:cNvSpPr>
          <p:nvPr/>
        </p:nvSpPr>
        <p:spPr bwMode="auto">
          <a:xfrm>
            <a:off x="8434705"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97</a:t>
            </a:r>
          </a:p>
        </p:txBody>
      </p:sp>
      <p:sp>
        <p:nvSpPr>
          <p:cNvPr id="116" name="Rectangle 32"/>
          <p:cNvSpPr>
            <a:spLocks noChangeArrowheads="1"/>
          </p:cNvSpPr>
          <p:nvPr/>
        </p:nvSpPr>
        <p:spPr bwMode="auto">
          <a:xfrm>
            <a:off x="7851140"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96</a:t>
            </a:r>
          </a:p>
        </p:txBody>
      </p:sp>
      <p:sp>
        <p:nvSpPr>
          <p:cNvPr id="117" name="Rectangle 33"/>
          <p:cNvSpPr>
            <a:spLocks noChangeArrowheads="1"/>
          </p:cNvSpPr>
          <p:nvPr/>
        </p:nvSpPr>
        <p:spPr bwMode="auto">
          <a:xfrm>
            <a:off x="5715"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a:t>
            </a:r>
          </a:p>
        </p:txBody>
      </p:sp>
      <p:sp>
        <p:nvSpPr>
          <p:cNvPr id="118" name="Rectangle 34"/>
          <p:cNvSpPr>
            <a:spLocks noGrp="1" noChangeArrowheads="1"/>
          </p:cNvSpPr>
          <p:nvPr>
            <p:ph type="title"/>
          </p:nvPr>
        </p:nvSpPr>
        <p:spPr>
          <a:xfrm>
            <a:off x="628650" y="365128"/>
            <a:ext cx="7886700" cy="1325563"/>
          </a:xfrm>
        </p:spPr>
        <p:txBody>
          <a:bodyPr/>
          <a:lstStyle/>
          <a:p>
            <a:r>
              <a:rPr kumimoji="0" lang="en-US" altLang="en-US" dirty="0"/>
              <a:t>Searching Algorithm:</a:t>
            </a:r>
          </a:p>
        </p:txBody>
      </p:sp>
      <p:sp>
        <p:nvSpPr>
          <p:cNvPr id="119" name="Rectangle 35"/>
          <p:cNvSpPr>
            <a:spLocks noChangeArrowheads="1"/>
          </p:cNvSpPr>
          <p:nvPr/>
        </p:nvSpPr>
        <p:spPr bwMode="auto">
          <a:xfrm>
            <a:off x="4871383" y="5109428"/>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lo</a:t>
            </a:r>
          </a:p>
        </p:txBody>
      </p:sp>
      <p:sp>
        <p:nvSpPr>
          <p:cNvPr id="120" name="Line 36"/>
          <p:cNvSpPr>
            <a:spLocks noChangeShapeType="1"/>
          </p:cNvSpPr>
          <p:nvPr/>
        </p:nvSpPr>
        <p:spPr bwMode="auto">
          <a:xfrm flipV="1">
            <a:off x="5039836" y="4845903"/>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21" name="Rectangle 44"/>
          <p:cNvSpPr>
            <a:spLocks noChangeArrowheads="1"/>
          </p:cNvSpPr>
          <p:nvPr/>
        </p:nvSpPr>
        <p:spPr bwMode="auto">
          <a:xfrm>
            <a:off x="8531047" y="514878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hi</a:t>
            </a:r>
          </a:p>
        </p:txBody>
      </p:sp>
      <p:sp>
        <p:nvSpPr>
          <p:cNvPr id="122" name="Line 45"/>
          <p:cNvSpPr>
            <a:spLocks noChangeShapeType="1"/>
          </p:cNvSpPr>
          <p:nvPr/>
        </p:nvSpPr>
        <p:spPr bwMode="auto">
          <a:xfrm flipV="1">
            <a:off x="8697913"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23" name="Slide Number Placeholder 1"/>
          <p:cNvSpPr>
            <a:spLocks noGrp="1"/>
          </p:cNvSpPr>
          <p:nvPr>
            <p:ph type="sldNum" sz="quarter" idx="12"/>
          </p:nvPr>
        </p:nvSpPr>
        <p:spPr>
          <a:xfrm>
            <a:off x="6457950" y="6356353"/>
            <a:ext cx="2057400" cy="365125"/>
          </a:xfrm>
        </p:spPr>
        <p:txBody>
          <a:bodyPr/>
          <a:lstStyle/>
          <a:p>
            <a:fld id="{6E310DD8-4D23-494A-9745-A7BA26DAFE5D}" type="slidenum">
              <a:rPr lang="en-US" smtClean="0">
                <a:solidFill>
                  <a:prstClr val="black">
                    <a:tint val="75000"/>
                  </a:prstClr>
                </a:solidFill>
              </a:rPr>
              <a:pPr/>
              <a:t>18</a:t>
            </a:fld>
            <a:endParaRPr lang="en-US" dirty="0">
              <a:solidFill>
                <a:prstClr val="black">
                  <a:tint val="75000"/>
                </a:prstClr>
              </a:solidFill>
            </a:endParaRPr>
          </a:p>
        </p:txBody>
      </p:sp>
      <p:sp>
        <p:nvSpPr>
          <p:cNvPr id="7" name="&quot;No&quot; Symbol 6"/>
          <p:cNvSpPr/>
          <p:nvPr/>
        </p:nvSpPr>
        <p:spPr>
          <a:xfrm>
            <a:off x="18572"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6" name="&quot;No&quot; Symbol 125"/>
          <p:cNvSpPr/>
          <p:nvPr/>
        </p:nvSpPr>
        <p:spPr>
          <a:xfrm>
            <a:off x="628252" y="3900461"/>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7" name="&quot;No&quot; Symbol 126"/>
          <p:cNvSpPr/>
          <p:nvPr/>
        </p:nvSpPr>
        <p:spPr>
          <a:xfrm>
            <a:off x="122364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8" name="&quot;No&quot; Symbol 127"/>
          <p:cNvSpPr/>
          <p:nvPr/>
        </p:nvSpPr>
        <p:spPr>
          <a:xfrm>
            <a:off x="1817050"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29" name="&quot;No&quot; Symbol 128"/>
          <p:cNvSpPr/>
          <p:nvPr/>
        </p:nvSpPr>
        <p:spPr>
          <a:xfrm>
            <a:off x="2410936"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0" name="&quot;No&quot; Symbol 129"/>
          <p:cNvSpPr/>
          <p:nvPr/>
        </p:nvSpPr>
        <p:spPr>
          <a:xfrm>
            <a:off x="300593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1" name="&quot;No&quot; Symbol 130"/>
          <p:cNvSpPr/>
          <p:nvPr/>
        </p:nvSpPr>
        <p:spPr>
          <a:xfrm>
            <a:off x="361513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2" name="&quot;No&quot; Symbol 131"/>
          <p:cNvSpPr/>
          <p:nvPr/>
        </p:nvSpPr>
        <p:spPr>
          <a:xfrm>
            <a:off x="420957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33" name="Rectangle 79"/>
          <p:cNvSpPr>
            <a:spLocks noChangeArrowheads="1"/>
          </p:cNvSpPr>
          <p:nvPr/>
        </p:nvSpPr>
        <p:spPr bwMode="auto">
          <a:xfrm>
            <a:off x="6620697" y="5183294"/>
            <a:ext cx="55303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mid</a:t>
            </a:r>
          </a:p>
        </p:txBody>
      </p:sp>
      <p:sp>
        <p:nvSpPr>
          <p:cNvPr id="134" name="Line 80"/>
          <p:cNvSpPr>
            <a:spLocks noChangeShapeType="1"/>
          </p:cNvSpPr>
          <p:nvPr/>
        </p:nvSpPr>
        <p:spPr bwMode="auto">
          <a:xfrm flipV="1">
            <a:off x="6881338" y="4919769"/>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Tree>
    <p:extLst>
      <p:ext uri="{BB962C8B-B14F-4D97-AF65-F5344CB8AC3E}">
        <p14:creationId xmlns:p14="http://schemas.microsoft.com/office/powerpoint/2010/main" val="23001892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4" name="Rectangle 39"/>
          <p:cNvSpPr txBox="1">
            <a:spLocks noChangeArrowheads="1"/>
          </p:cNvSpPr>
          <p:nvPr/>
        </p:nvSpPr>
        <p:spPr>
          <a:xfrm>
            <a:off x="578645" y="1450113"/>
            <a:ext cx="7886700" cy="48577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400" dirty="0"/>
              <a:t> </a:t>
            </a:r>
            <a:r>
              <a:rPr lang="en-US" altLang="en-US" sz="3200" b="1" dirty="0"/>
              <a:t>Binary Search:</a:t>
            </a:r>
          </a:p>
          <a:p>
            <a:pPr marL="0" indent="0">
              <a:buNone/>
            </a:pPr>
            <a:endParaRPr lang="en-US" altLang="en-US" sz="2400" dirty="0"/>
          </a:p>
          <a:p>
            <a:pPr marL="0" indent="0">
              <a:buNone/>
            </a:pPr>
            <a:r>
              <a:rPr lang="en-US" altLang="en-US" sz="2400" dirty="0"/>
              <a:t>In the given Array A[ ], We have to search for the index </a:t>
            </a:r>
            <a:r>
              <a:rPr lang="en-US" altLang="en-US" sz="2400" dirty="0" err="1"/>
              <a:t>i</a:t>
            </a:r>
            <a:r>
              <a:rPr lang="en-US" altLang="en-US" sz="2400" dirty="0"/>
              <a:t> </a:t>
            </a:r>
          </a:p>
          <a:p>
            <a:pPr marL="0" indent="0">
              <a:buNone/>
            </a:pPr>
            <a:r>
              <a:rPr lang="en-US" altLang="en-US" sz="2400" dirty="0"/>
              <a:t> such that  A[ </a:t>
            </a:r>
            <a:r>
              <a:rPr lang="en-US" altLang="en-US" sz="2400" dirty="0" err="1"/>
              <a:t>i</a:t>
            </a:r>
            <a:r>
              <a:rPr lang="en-US" altLang="en-US" sz="2400" dirty="0"/>
              <a:t> ] = Search value</a:t>
            </a:r>
          </a:p>
          <a:p>
            <a:pPr marL="0" indent="0">
              <a:buNone/>
            </a:pPr>
            <a:r>
              <a:rPr lang="en-US" altLang="en-US" sz="2400" b="1" dirty="0"/>
              <a:t>a[lo] </a:t>
            </a:r>
            <a:r>
              <a:rPr lang="en-US" altLang="en-US" sz="2400" b="1" dirty="0">
                <a:sym typeface="Symbol" panose="05050102010706020507" pitchFamily="18" charset="2"/>
              </a:rPr>
              <a:t>  </a:t>
            </a:r>
            <a:r>
              <a:rPr lang="en-US" altLang="en-US" sz="2400" dirty="0"/>
              <a:t>Search value  </a:t>
            </a:r>
            <a:r>
              <a:rPr lang="en-US" altLang="en-US" sz="2400" b="1" dirty="0">
                <a:sym typeface="Symbol" panose="05050102010706020507" pitchFamily="18" charset="2"/>
              </a:rPr>
              <a:t> </a:t>
            </a:r>
            <a:r>
              <a:rPr lang="en-US" altLang="en-US" sz="2400" b="1" dirty="0"/>
              <a:t> a[hi].</a:t>
            </a:r>
            <a:endParaRPr lang="en-US" altLang="en-US" sz="2000" b="1" dirty="0"/>
          </a:p>
          <a:p>
            <a:pPr marL="0" indent="0">
              <a:buNone/>
            </a:pPr>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dirty="0"/>
          </a:p>
          <a:p>
            <a:endParaRPr lang="en-US" altLang="en-US" dirty="0"/>
          </a:p>
          <a:p>
            <a:endParaRPr lang="en-US" altLang="en-US" dirty="0"/>
          </a:p>
          <a:p>
            <a:r>
              <a:rPr lang="en-US" altLang="en-US" dirty="0"/>
              <a:t>Ex.  </a:t>
            </a:r>
            <a:r>
              <a:rPr lang="en-US" altLang="en-US" b="1" i="1" dirty="0">
                <a:solidFill>
                  <a:srgbClr val="FF0000"/>
                </a:solidFill>
              </a:rPr>
              <a:t>Binary search for 95.</a:t>
            </a:r>
          </a:p>
          <a:p>
            <a:endParaRPr lang="en-US" altLang="en-US" sz="1600" dirty="0">
              <a:latin typeface="Courier New" panose="02070309020205020404" pitchFamily="49" charset="0"/>
            </a:endParaRPr>
          </a:p>
        </p:txBody>
      </p:sp>
      <p:sp>
        <p:nvSpPr>
          <p:cNvPr id="108" name="Rectangle 2"/>
          <p:cNvSpPr>
            <a:spLocks noChangeArrowheads="1"/>
          </p:cNvSpPr>
          <p:nvPr/>
        </p:nvSpPr>
        <p:spPr bwMode="auto">
          <a:xfrm>
            <a:off x="483282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8</a:t>
            </a:r>
          </a:p>
        </p:txBody>
      </p:sp>
      <p:sp>
        <p:nvSpPr>
          <p:cNvPr id="109" name="Rectangle 3"/>
          <p:cNvSpPr>
            <a:spLocks noChangeArrowheads="1"/>
          </p:cNvSpPr>
          <p:nvPr/>
        </p:nvSpPr>
        <p:spPr bwMode="auto">
          <a:xfrm>
            <a:off x="1187450"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2</a:t>
            </a:r>
          </a:p>
        </p:txBody>
      </p:sp>
      <p:sp>
        <p:nvSpPr>
          <p:cNvPr id="110" name="Rectangle 4"/>
          <p:cNvSpPr>
            <a:spLocks noChangeArrowheads="1"/>
          </p:cNvSpPr>
          <p:nvPr/>
        </p:nvSpPr>
        <p:spPr bwMode="auto">
          <a:xfrm>
            <a:off x="577215"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a:t>
            </a:r>
          </a:p>
        </p:txBody>
      </p:sp>
      <p:sp>
        <p:nvSpPr>
          <p:cNvPr id="111" name="Rectangle 5"/>
          <p:cNvSpPr>
            <a:spLocks noChangeArrowheads="1"/>
          </p:cNvSpPr>
          <p:nvPr/>
        </p:nvSpPr>
        <p:spPr bwMode="auto">
          <a:xfrm>
            <a:off x="1750854" y="4536347"/>
            <a:ext cx="609600" cy="289218"/>
          </a:xfrm>
          <a:prstGeom prst="rect">
            <a:avLst/>
          </a:prstGeom>
          <a:noFill/>
          <a:ln w="9525">
            <a:solidFill>
              <a:schemeClr val="bg1"/>
            </a:solidFill>
            <a:miter lim="800000"/>
            <a:headEnd/>
            <a:tailEnd/>
          </a:ln>
          <a:effectLst/>
        </p:spPr>
        <p:txBody>
          <a:bodyPr wrap="none" lIns="92075" tIns="46038" rIns="92075" bIns="46038" anchor="ctr"/>
          <a:lstStyle/>
          <a:p>
            <a:pPr algn="ctr"/>
            <a:r>
              <a:rPr lang="en-US" altLang="en-US" sz="900" b="1" dirty="0">
                <a:solidFill>
                  <a:schemeClr val="hlink"/>
                </a:solidFill>
              </a:rPr>
              <a:t>3</a:t>
            </a:r>
          </a:p>
        </p:txBody>
      </p:sp>
      <p:sp>
        <p:nvSpPr>
          <p:cNvPr id="112" name="Rectangle 6"/>
          <p:cNvSpPr>
            <a:spLocks noChangeArrowheads="1"/>
          </p:cNvSpPr>
          <p:nvPr/>
        </p:nvSpPr>
        <p:spPr bwMode="auto">
          <a:xfrm>
            <a:off x="2392680"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4</a:t>
            </a:r>
          </a:p>
        </p:txBody>
      </p:sp>
      <p:sp>
        <p:nvSpPr>
          <p:cNvPr id="113" name="Rectangle 7"/>
          <p:cNvSpPr>
            <a:spLocks noChangeArrowheads="1"/>
          </p:cNvSpPr>
          <p:nvPr/>
        </p:nvSpPr>
        <p:spPr bwMode="auto">
          <a:xfrm>
            <a:off x="3596640"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6</a:t>
            </a:r>
          </a:p>
        </p:txBody>
      </p:sp>
      <p:sp>
        <p:nvSpPr>
          <p:cNvPr id="114" name="Rectangle 8"/>
          <p:cNvSpPr>
            <a:spLocks noChangeArrowheads="1"/>
          </p:cNvSpPr>
          <p:nvPr/>
        </p:nvSpPr>
        <p:spPr bwMode="auto">
          <a:xfrm>
            <a:off x="3034506" y="4527974"/>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5</a:t>
            </a:r>
          </a:p>
        </p:txBody>
      </p:sp>
      <p:sp>
        <p:nvSpPr>
          <p:cNvPr id="115" name="Rectangle 9"/>
          <p:cNvSpPr>
            <a:spLocks noChangeArrowheads="1"/>
          </p:cNvSpPr>
          <p:nvPr/>
        </p:nvSpPr>
        <p:spPr bwMode="auto">
          <a:xfrm>
            <a:off x="424608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7</a:t>
            </a:r>
          </a:p>
        </p:txBody>
      </p:sp>
      <p:sp>
        <p:nvSpPr>
          <p:cNvPr id="116" name="Rectangle 11"/>
          <p:cNvSpPr>
            <a:spLocks noChangeArrowheads="1"/>
          </p:cNvSpPr>
          <p:nvPr/>
        </p:nvSpPr>
        <p:spPr bwMode="auto">
          <a:xfrm>
            <a:off x="6035201" y="4560413"/>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10</a:t>
            </a:r>
          </a:p>
        </p:txBody>
      </p:sp>
      <p:sp>
        <p:nvSpPr>
          <p:cNvPr id="117" name="Rectangle 12"/>
          <p:cNvSpPr>
            <a:spLocks noChangeArrowheads="1"/>
          </p:cNvSpPr>
          <p:nvPr/>
        </p:nvSpPr>
        <p:spPr bwMode="auto">
          <a:xfrm>
            <a:off x="5426076"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9</a:t>
            </a:r>
          </a:p>
        </p:txBody>
      </p:sp>
      <p:sp>
        <p:nvSpPr>
          <p:cNvPr id="118" name="Rectangle 13"/>
          <p:cNvSpPr>
            <a:spLocks noChangeArrowheads="1"/>
          </p:cNvSpPr>
          <p:nvPr/>
        </p:nvSpPr>
        <p:spPr bwMode="auto">
          <a:xfrm>
            <a:off x="6629085"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11</a:t>
            </a:r>
          </a:p>
        </p:txBody>
      </p:sp>
      <p:sp>
        <p:nvSpPr>
          <p:cNvPr id="119" name="Rectangle 14"/>
          <p:cNvSpPr>
            <a:spLocks noChangeArrowheads="1"/>
          </p:cNvSpPr>
          <p:nvPr/>
        </p:nvSpPr>
        <p:spPr bwMode="auto">
          <a:xfrm>
            <a:off x="7266782" y="456640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12</a:t>
            </a:r>
          </a:p>
        </p:txBody>
      </p:sp>
      <p:sp>
        <p:nvSpPr>
          <p:cNvPr id="120" name="Rectangle 15"/>
          <p:cNvSpPr>
            <a:spLocks noChangeArrowheads="1"/>
          </p:cNvSpPr>
          <p:nvPr/>
        </p:nvSpPr>
        <p:spPr bwMode="auto">
          <a:xfrm>
            <a:off x="8443915"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14</a:t>
            </a:r>
          </a:p>
        </p:txBody>
      </p:sp>
      <p:sp>
        <p:nvSpPr>
          <p:cNvPr id="121" name="Rectangle 16"/>
          <p:cNvSpPr>
            <a:spLocks noChangeArrowheads="1"/>
          </p:cNvSpPr>
          <p:nvPr/>
        </p:nvSpPr>
        <p:spPr bwMode="auto">
          <a:xfrm>
            <a:off x="7860032" y="45507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13</a:t>
            </a:r>
          </a:p>
        </p:txBody>
      </p:sp>
      <p:sp>
        <p:nvSpPr>
          <p:cNvPr id="122" name="Rectangle 17"/>
          <p:cNvSpPr>
            <a:spLocks noChangeArrowheads="1"/>
          </p:cNvSpPr>
          <p:nvPr/>
        </p:nvSpPr>
        <p:spPr bwMode="auto">
          <a:xfrm>
            <a:off x="-1738"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0</a:t>
            </a:r>
          </a:p>
        </p:txBody>
      </p:sp>
      <p:sp>
        <p:nvSpPr>
          <p:cNvPr id="123" name="Rectangle 18"/>
          <p:cNvSpPr>
            <a:spLocks noChangeArrowheads="1"/>
          </p:cNvSpPr>
          <p:nvPr/>
        </p:nvSpPr>
        <p:spPr bwMode="auto">
          <a:xfrm>
            <a:off x="4816791" y="3878988"/>
            <a:ext cx="609600" cy="641948"/>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64</a:t>
            </a:r>
          </a:p>
        </p:txBody>
      </p:sp>
      <p:sp>
        <p:nvSpPr>
          <p:cNvPr id="124" name="Rectangle 19"/>
          <p:cNvSpPr>
            <a:spLocks noChangeArrowheads="1"/>
          </p:cNvSpPr>
          <p:nvPr/>
        </p:nvSpPr>
        <p:spPr bwMode="auto">
          <a:xfrm>
            <a:off x="1186815" y="3892261"/>
            <a:ext cx="609600" cy="636879"/>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14</a:t>
            </a:r>
          </a:p>
        </p:txBody>
      </p:sp>
      <p:sp>
        <p:nvSpPr>
          <p:cNvPr id="125" name="Rectangle 20"/>
          <p:cNvSpPr>
            <a:spLocks noChangeArrowheads="1"/>
          </p:cNvSpPr>
          <p:nvPr/>
        </p:nvSpPr>
        <p:spPr bwMode="auto">
          <a:xfrm>
            <a:off x="594360"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13</a:t>
            </a:r>
          </a:p>
        </p:txBody>
      </p:sp>
      <p:sp>
        <p:nvSpPr>
          <p:cNvPr id="126" name="Rectangle 21"/>
          <p:cNvSpPr>
            <a:spLocks noChangeArrowheads="1"/>
          </p:cNvSpPr>
          <p:nvPr/>
        </p:nvSpPr>
        <p:spPr bwMode="auto">
          <a:xfrm>
            <a:off x="1797369" y="3885221"/>
            <a:ext cx="609600" cy="640452"/>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25</a:t>
            </a:r>
          </a:p>
        </p:txBody>
      </p:sp>
      <p:sp>
        <p:nvSpPr>
          <p:cNvPr id="127" name="Rectangle 22"/>
          <p:cNvSpPr>
            <a:spLocks noChangeArrowheads="1"/>
          </p:cNvSpPr>
          <p:nvPr/>
        </p:nvSpPr>
        <p:spPr bwMode="auto">
          <a:xfrm>
            <a:off x="2392680"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33</a:t>
            </a:r>
          </a:p>
        </p:txBody>
      </p:sp>
      <p:sp>
        <p:nvSpPr>
          <p:cNvPr id="128" name="Rectangle 23"/>
          <p:cNvSpPr>
            <a:spLocks noChangeArrowheads="1"/>
          </p:cNvSpPr>
          <p:nvPr/>
        </p:nvSpPr>
        <p:spPr bwMode="auto">
          <a:xfrm>
            <a:off x="3596640" y="3879320"/>
            <a:ext cx="609600" cy="641616"/>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51</a:t>
            </a:r>
          </a:p>
        </p:txBody>
      </p:sp>
      <p:sp>
        <p:nvSpPr>
          <p:cNvPr id="129" name="Rectangle 24"/>
          <p:cNvSpPr>
            <a:spLocks noChangeArrowheads="1"/>
          </p:cNvSpPr>
          <p:nvPr/>
        </p:nvSpPr>
        <p:spPr bwMode="auto">
          <a:xfrm>
            <a:off x="2987040" y="3885223"/>
            <a:ext cx="609600" cy="642753"/>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43</a:t>
            </a:r>
          </a:p>
        </p:txBody>
      </p:sp>
      <p:sp>
        <p:nvSpPr>
          <p:cNvPr id="130" name="Rectangle 25"/>
          <p:cNvSpPr>
            <a:spLocks noChangeArrowheads="1"/>
          </p:cNvSpPr>
          <p:nvPr/>
        </p:nvSpPr>
        <p:spPr bwMode="auto">
          <a:xfrm>
            <a:off x="4206240" y="3878988"/>
            <a:ext cx="609600" cy="648986"/>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53</a:t>
            </a:r>
          </a:p>
        </p:txBody>
      </p:sp>
      <p:sp>
        <p:nvSpPr>
          <p:cNvPr id="131" name="Rectangle 27"/>
          <p:cNvSpPr>
            <a:spLocks noChangeArrowheads="1"/>
          </p:cNvSpPr>
          <p:nvPr/>
        </p:nvSpPr>
        <p:spPr bwMode="auto">
          <a:xfrm>
            <a:off x="6021389" y="3886202"/>
            <a:ext cx="609600" cy="643891"/>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84</a:t>
            </a:r>
          </a:p>
        </p:txBody>
      </p:sp>
      <p:sp>
        <p:nvSpPr>
          <p:cNvPr id="132" name="Rectangle 28"/>
          <p:cNvSpPr>
            <a:spLocks noChangeArrowheads="1"/>
          </p:cNvSpPr>
          <p:nvPr/>
        </p:nvSpPr>
        <p:spPr bwMode="auto">
          <a:xfrm>
            <a:off x="5410042"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72</a:t>
            </a:r>
          </a:p>
        </p:txBody>
      </p:sp>
      <p:sp>
        <p:nvSpPr>
          <p:cNvPr id="133" name="Rectangle 29"/>
          <p:cNvSpPr>
            <a:spLocks noChangeArrowheads="1"/>
          </p:cNvSpPr>
          <p:nvPr/>
        </p:nvSpPr>
        <p:spPr bwMode="auto">
          <a:xfrm>
            <a:off x="6631306" y="3879320"/>
            <a:ext cx="609600" cy="648654"/>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93</a:t>
            </a:r>
          </a:p>
        </p:txBody>
      </p:sp>
      <p:sp>
        <p:nvSpPr>
          <p:cNvPr id="134" name="Rectangle 30"/>
          <p:cNvSpPr>
            <a:spLocks noChangeArrowheads="1"/>
          </p:cNvSpPr>
          <p:nvPr/>
        </p:nvSpPr>
        <p:spPr bwMode="auto">
          <a:xfrm>
            <a:off x="7241223"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95</a:t>
            </a:r>
          </a:p>
        </p:txBody>
      </p:sp>
      <p:sp>
        <p:nvSpPr>
          <p:cNvPr id="135" name="Rectangle 31"/>
          <p:cNvSpPr>
            <a:spLocks noChangeArrowheads="1"/>
          </p:cNvSpPr>
          <p:nvPr/>
        </p:nvSpPr>
        <p:spPr bwMode="auto">
          <a:xfrm>
            <a:off x="8434705"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97</a:t>
            </a:r>
          </a:p>
        </p:txBody>
      </p:sp>
      <p:sp>
        <p:nvSpPr>
          <p:cNvPr id="136" name="Rectangle 32"/>
          <p:cNvSpPr>
            <a:spLocks noChangeArrowheads="1"/>
          </p:cNvSpPr>
          <p:nvPr/>
        </p:nvSpPr>
        <p:spPr bwMode="auto">
          <a:xfrm>
            <a:off x="7851140" y="3879320"/>
            <a:ext cx="609600" cy="648654"/>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96</a:t>
            </a:r>
          </a:p>
        </p:txBody>
      </p:sp>
      <p:sp>
        <p:nvSpPr>
          <p:cNvPr id="137" name="Rectangle 33"/>
          <p:cNvSpPr>
            <a:spLocks noChangeArrowheads="1"/>
          </p:cNvSpPr>
          <p:nvPr/>
        </p:nvSpPr>
        <p:spPr bwMode="auto">
          <a:xfrm>
            <a:off x="5715"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a:t>
            </a:r>
          </a:p>
        </p:txBody>
      </p:sp>
      <p:sp>
        <p:nvSpPr>
          <p:cNvPr id="138" name="Rectangle 34"/>
          <p:cNvSpPr>
            <a:spLocks noGrp="1" noChangeArrowheads="1"/>
          </p:cNvSpPr>
          <p:nvPr>
            <p:ph type="title"/>
          </p:nvPr>
        </p:nvSpPr>
        <p:spPr>
          <a:xfrm>
            <a:off x="628650" y="365128"/>
            <a:ext cx="7886700" cy="1325563"/>
          </a:xfrm>
        </p:spPr>
        <p:txBody>
          <a:bodyPr/>
          <a:lstStyle/>
          <a:p>
            <a:r>
              <a:rPr kumimoji="0" lang="en-US" altLang="en-US" dirty="0"/>
              <a:t>Searching Algorithm:</a:t>
            </a:r>
          </a:p>
        </p:txBody>
      </p:sp>
      <p:sp>
        <p:nvSpPr>
          <p:cNvPr id="139" name="Rectangle 35"/>
          <p:cNvSpPr>
            <a:spLocks noChangeArrowheads="1"/>
          </p:cNvSpPr>
          <p:nvPr/>
        </p:nvSpPr>
        <p:spPr bwMode="auto">
          <a:xfrm>
            <a:off x="7469645" y="514878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lo</a:t>
            </a:r>
          </a:p>
        </p:txBody>
      </p:sp>
      <p:sp>
        <p:nvSpPr>
          <p:cNvPr id="140" name="Line 36"/>
          <p:cNvSpPr>
            <a:spLocks noChangeShapeType="1"/>
          </p:cNvSpPr>
          <p:nvPr/>
        </p:nvSpPr>
        <p:spPr bwMode="auto">
          <a:xfrm flipV="1">
            <a:off x="7638098"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41" name="Rectangle 44"/>
          <p:cNvSpPr>
            <a:spLocks noChangeArrowheads="1"/>
          </p:cNvSpPr>
          <p:nvPr/>
        </p:nvSpPr>
        <p:spPr bwMode="auto">
          <a:xfrm>
            <a:off x="8531047" y="514878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hi</a:t>
            </a:r>
          </a:p>
        </p:txBody>
      </p:sp>
      <p:sp>
        <p:nvSpPr>
          <p:cNvPr id="142" name="Line 45"/>
          <p:cNvSpPr>
            <a:spLocks noChangeShapeType="1"/>
          </p:cNvSpPr>
          <p:nvPr/>
        </p:nvSpPr>
        <p:spPr bwMode="auto">
          <a:xfrm flipV="1">
            <a:off x="8697913"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43" name="Slide Number Placeholder 1"/>
          <p:cNvSpPr>
            <a:spLocks noGrp="1"/>
          </p:cNvSpPr>
          <p:nvPr>
            <p:ph type="sldNum" sz="quarter" idx="12"/>
          </p:nvPr>
        </p:nvSpPr>
        <p:spPr>
          <a:xfrm>
            <a:off x="6457950" y="6356353"/>
            <a:ext cx="2057400" cy="365125"/>
          </a:xfrm>
        </p:spPr>
        <p:txBody>
          <a:bodyPr/>
          <a:lstStyle/>
          <a:p>
            <a:fld id="{6E310DD8-4D23-494A-9745-A7BA26DAFE5D}" type="slidenum">
              <a:rPr lang="en-US" smtClean="0">
                <a:solidFill>
                  <a:prstClr val="black">
                    <a:tint val="75000"/>
                  </a:prstClr>
                </a:solidFill>
              </a:rPr>
              <a:pPr/>
              <a:t>19</a:t>
            </a:fld>
            <a:endParaRPr lang="en-US" dirty="0">
              <a:solidFill>
                <a:prstClr val="black">
                  <a:tint val="75000"/>
                </a:prstClr>
              </a:solidFill>
            </a:endParaRPr>
          </a:p>
        </p:txBody>
      </p:sp>
      <p:sp>
        <p:nvSpPr>
          <p:cNvPr id="144" name="&quot;No&quot; Symbol 143"/>
          <p:cNvSpPr/>
          <p:nvPr/>
        </p:nvSpPr>
        <p:spPr>
          <a:xfrm>
            <a:off x="18572"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5" name="&quot;No&quot; Symbol 144"/>
          <p:cNvSpPr/>
          <p:nvPr/>
        </p:nvSpPr>
        <p:spPr>
          <a:xfrm>
            <a:off x="628252" y="3900461"/>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6" name="&quot;No&quot; Symbol 145"/>
          <p:cNvSpPr/>
          <p:nvPr/>
        </p:nvSpPr>
        <p:spPr>
          <a:xfrm>
            <a:off x="122364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7" name="&quot;No&quot; Symbol 146"/>
          <p:cNvSpPr/>
          <p:nvPr/>
        </p:nvSpPr>
        <p:spPr>
          <a:xfrm>
            <a:off x="1817050"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8" name="&quot;No&quot; Symbol 147"/>
          <p:cNvSpPr/>
          <p:nvPr/>
        </p:nvSpPr>
        <p:spPr>
          <a:xfrm>
            <a:off x="2410936"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49" name="&quot;No&quot; Symbol 148"/>
          <p:cNvSpPr/>
          <p:nvPr/>
        </p:nvSpPr>
        <p:spPr>
          <a:xfrm>
            <a:off x="300593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0" name="&quot;No&quot; Symbol 149"/>
          <p:cNvSpPr/>
          <p:nvPr/>
        </p:nvSpPr>
        <p:spPr>
          <a:xfrm>
            <a:off x="361513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1" name="&quot;No&quot; Symbol 150"/>
          <p:cNvSpPr/>
          <p:nvPr/>
        </p:nvSpPr>
        <p:spPr>
          <a:xfrm>
            <a:off x="420957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2" name="&quot;No&quot; Symbol 151"/>
          <p:cNvSpPr/>
          <p:nvPr/>
        </p:nvSpPr>
        <p:spPr>
          <a:xfrm>
            <a:off x="4833620" y="3869833"/>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3" name="&quot;No&quot; Symbol 152"/>
          <p:cNvSpPr/>
          <p:nvPr/>
        </p:nvSpPr>
        <p:spPr>
          <a:xfrm>
            <a:off x="5443856" y="3901187"/>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4" name="&quot;No&quot; Symbol 153"/>
          <p:cNvSpPr/>
          <p:nvPr/>
        </p:nvSpPr>
        <p:spPr>
          <a:xfrm>
            <a:off x="6036310"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5" name="&quot;No&quot; Symbol 154"/>
          <p:cNvSpPr/>
          <p:nvPr/>
        </p:nvSpPr>
        <p:spPr>
          <a:xfrm>
            <a:off x="6648606" y="3872301"/>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56" name="Rectangle 79"/>
          <p:cNvSpPr>
            <a:spLocks noChangeArrowheads="1"/>
          </p:cNvSpPr>
          <p:nvPr/>
        </p:nvSpPr>
        <p:spPr bwMode="auto">
          <a:xfrm>
            <a:off x="7881967" y="5148786"/>
            <a:ext cx="55303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mid</a:t>
            </a:r>
          </a:p>
        </p:txBody>
      </p:sp>
      <p:sp>
        <p:nvSpPr>
          <p:cNvPr id="157" name="Line 80"/>
          <p:cNvSpPr>
            <a:spLocks noChangeShapeType="1"/>
          </p:cNvSpPr>
          <p:nvPr/>
        </p:nvSpPr>
        <p:spPr bwMode="auto">
          <a:xfrm flipV="1">
            <a:off x="8142608"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Tree>
    <p:extLst>
      <p:ext uri="{BB962C8B-B14F-4D97-AF65-F5344CB8AC3E}">
        <p14:creationId xmlns:p14="http://schemas.microsoft.com/office/powerpoint/2010/main" val="334936720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 name="Rectangle 39"/>
          <p:cNvSpPr txBox="1">
            <a:spLocks noChangeArrowheads="1"/>
          </p:cNvSpPr>
          <p:nvPr/>
        </p:nvSpPr>
        <p:spPr>
          <a:xfrm>
            <a:off x="578645" y="1450113"/>
            <a:ext cx="7886700" cy="4857750"/>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altLang="en-US" sz="2400" dirty="0"/>
              <a:t> </a:t>
            </a:r>
            <a:r>
              <a:rPr lang="en-US" altLang="en-US" sz="3200" b="1" dirty="0"/>
              <a:t>Binary Search:</a:t>
            </a:r>
          </a:p>
          <a:p>
            <a:pPr marL="0" indent="0">
              <a:buNone/>
            </a:pPr>
            <a:endParaRPr lang="en-US" altLang="en-US" sz="2400" dirty="0"/>
          </a:p>
          <a:p>
            <a:pPr marL="0" indent="0">
              <a:buNone/>
            </a:pPr>
            <a:r>
              <a:rPr lang="en-US" altLang="en-US" sz="2400" dirty="0"/>
              <a:t>In the given Array A[ ], We have to search for the index </a:t>
            </a:r>
            <a:r>
              <a:rPr lang="en-US" altLang="en-US" sz="2400" dirty="0" err="1"/>
              <a:t>i</a:t>
            </a:r>
            <a:r>
              <a:rPr lang="en-US" altLang="en-US" sz="2400" dirty="0"/>
              <a:t> </a:t>
            </a:r>
          </a:p>
          <a:p>
            <a:pPr marL="0" indent="0">
              <a:buNone/>
            </a:pPr>
            <a:r>
              <a:rPr lang="en-US" altLang="en-US" sz="2400" dirty="0"/>
              <a:t> such that  A[ </a:t>
            </a:r>
            <a:r>
              <a:rPr lang="en-US" altLang="en-US" sz="2400" dirty="0" err="1"/>
              <a:t>i</a:t>
            </a:r>
            <a:r>
              <a:rPr lang="en-US" altLang="en-US" sz="2400" dirty="0"/>
              <a:t> ] = Search value</a:t>
            </a:r>
          </a:p>
          <a:p>
            <a:pPr marL="0" indent="0">
              <a:buNone/>
            </a:pPr>
            <a:r>
              <a:rPr lang="en-US" altLang="en-US" sz="2400" b="1" dirty="0"/>
              <a:t>a[lo] </a:t>
            </a:r>
            <a:r>
              <a:rPr lang="en-US" altLang="en-US" sz="2400" b="1" dirty="0">
                <a:sym typeface="Symbol" panose="05050102010706020507" pitchFamily="18" charset="2"/>
              </a:rPr>
              <a:t>  </a:t>
            </a:r>
            <a:r>
              <a:rPr lang="en-US" altLang="en-US" sz="2400" dirty="0"/>
              <a:t>Search value  </a:t>
            </a:r>
            <a:r>
              <a:rPr lang="en-US" altLang="en-US" sz="2400" b="1" dirty="0">
                <a:sym typeface="Symbol" panose="05050102010706020507" pitchFamily="18" charset="2"/>
              </a:rPr>
              <a:t> </a:t>
            </a:r>
            <a:r>
              <a:rPr lang="en-US" altLang="en-US" sz="2400" b="1" dirty="0"/>
              <a:t> a[hi].</a:t>
            </a:r>
            <a:endParaRPr lang="en-US" altLang="en-US" sz="2000" b="1" dirty="0"/>
          </a:p>
          <a:p>
            <a:pPr marL="0" indent="0">
              <a:buNone/>
            </a:pPr>
            <a:endParaRPr lang="en-US" altLang="en-US" sz="1600" dirty="0">
              <a:latin typeface="Courier New" panose="02070309020205020404" pitchFamily="49" charset="0"/>
            </a:endParaRPr>
          </a:p>
          <a:p>
            <a:endParaRPr lang="en-US" altLang="en-US" sz="1600" dirty="0">
              <a:latin typeface="Courier New" panose="02070309020205020404" pitchFamily="49" charset="0"/>
            </a:endParaRPr>
          </a:p>
          <a:p>
            <a:endParaRPr lang="en-US" altLang="en-US" dirty="0"/>
          </a:p>
          <a:p>
            <a:endParaRPr lang="en-US" altLang="en-US" dirty="0"/>
          </a:p>
          <a:p>
            <a:endParaRPr lang="en-US" altLang="en-US" dirty="0"/>
          </a:p>
          <a:p>
            <a:r>
              <a:rPr lang="en-US" altLang="en-US" dirty="0"/>
              <a:t>Ex.  </a:t>
            </a:r>
            <a:r>
              <a:rPr lang="en-US" altLang="en-US" b="1" i="1" dirty="0">
                <a:solidFill>
                  <a:srgbClr val="FF0000"/>
                </a:solidFill>
              </a:rPr>
              <a:t>Binary search for 95.</a:t>
            </a:r>
          </a:p>
          <a:p>
            <a:endParaRPr lang="en-US" altLang="en-US" sz="1600" dirty="0">
              <a:latin typeface="Courier New" panose="02070309020205020404" pitchFamily="49" charset="0"/>
            </a:endParaRPr>
          </a:p>
        </p:txBody>
      </p:sp>
      <p:sp>
        <p:nvSpPr>
          <p:cNvPr id="141" name="Rectangle 2"/>
          <p:cNvSpPr>
            <a:spLocks noChangeArrowheads="1"/>
          </p:cNvSpPr>
          <p:nvPr/>
        </p:nvSpPr>
        <p:spPr bwMode="auto">
          <a:xfrm>
            <a:off x="483282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8</a:t>
            </a:r>
          </a:p>
        </p:txBody>
      </p:sp>
      <p:sp>
        <p:nvSpPr>
          <p:cNvPr id="142" name="Rectangle 3"/>
          <p:cNvSpPr>
            <a:spLocks noChangeArrowheads="1"/>
          </p:cNvSpPr>
          <p:nvPr/>
        </p:nvSpPr>
        <p:spPr bwMode="auto">
          <a:xfrm>
            <a:off x="1187450"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2</a:t>
            </a:r>
          </a:p>
        </p:txBody>
      </p:sp>
      <p:sp>
        <p:nvSpPr>
          <p:cNvPr id="143" name="Rectangle 4"/>
          <p:cNvSpPr>
            <a:spLocks noChangeArrowheads="1"/>
          </p:cNvSpPr>
          <p:nvPr/>
        </p:nvSpPr>
        <p:spPr bwMode="auto">
          <a:xfrm>
            <a:off x="577215"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a:t>
            </a:r>
          </a:p>
        </p:txBody>
      </p:sp>
      <p:sp>
        <p:nvSpPr>
          <p:cNvPr id="144" name="Rectangle 5"/>
          <p:cNvSpPr>
            <a:spLocks noChangeArrowheads="1"/>
          </p:cNvSpPr>
          <p:nvPr/>
        </p:nvSpPr>
        <p:spPr bwMode="auto">
          <a:xfrm>
            <a:off x="1750854" y="4536347"/>
            <a:ext cx="609600" cy="289218"/>
          </a:xfrm>
          <a:prstGeom prst="rect">
            <a:avLst/>
          </a:prstGeom>
          <a:noFill/>
          <a:ln w="9525">
            <a:solidFill>
              <a:schemeClr val="bg1"/>
            </a:solidFill>
            <a:miter lim="800000"/>
            <a:headEnd/>
            <a:tailEnd/>
          </a:ln>
          <a:effectLst/>
        </p:spPr>
        <p:txBody>
          <a:bodyPr wrap="none" lIns="92075" tIns="46038" rIns="92075" bIns="46038" anchor="ctr"/>
          <a:lstStyle/>
          <a:p>
            <a:pPr algn="ctr"/>
            <a:r>
              <a:rPr lang="en-US" altLang="en-US" sz="900" b="1" dirty="0">
                <a:solidFill>
                  <a:schemeClr val="hlink"/>
                </a:solidFill>
              </a:rPr>
              <a:t>3</a:t>
            </a:r>
          </a:p>
        </p:txBody>
      </p:sp>
      <p:sp>
        <p:nvSpPr>
          <p:cNvPr id="145" name="Rectangle 6"/>
          <p:cNvSpPr>
            <a:spLocks noChangeArrowheads="1"/>
          </p:cNvSpPr>
          <p:nvPr/>
        </p:nvSpPr>
        <p:spPr bwMode="auto">
          <a:xfrm>
            <a:off x="2392680"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4</a:t>
            </a:r>
          </a:p>
        </p:txBody>
      </p:sp>
      <p:sp>
        <p:nvSpPr>
          <p:cNvPr id="146" name="Rectangle 7"/>
          <p:cNvSpPr>
            <a:spLocks noChangeArrowheads="1"/>
          </p:cNvSpPr>
          <p:nvPr/>
        </p:nvSpPr>
        <p:spPr bwMode="auto">
          <a:xfrm>
            <a:off x="3596640"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6</a:t>
            </a:r>
          </a:p>
        </p:txBody>
      </p:sp>
      <p:sp>
        <p:nvSpPr>
          <p:cNvPr id="147" name="Rectangle 8"/>
          <p:cNvSpPr>
            <a:spLocks noChangeArrowheads="1"/>
          </p:cNvSpPr>
          <p:nvPr/>
        </p:nvSpPr>
        <p:spPr bwMode="auto">
          <a:xfrm>
            <a:off x="3034506" y="4527974"/>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5</a:t>
            </a:r>
          </a:p>
        </p:txBody>
      </p:sp>
      <p:sp>
        <p:nvSpPr>
          <p:cNvPr id="148" name="Rectangle 9"/>
          <p:cNvSpPr>
            <a:spLocks noChangeArrowheads="1"/>
          </p:cNvSpPr>
          <p:nvPr/>
        </p:nvSpPr>
        <p:spPr bwMode="auto">
          <a:xfrm>
            <a:off x="4246086" y="453617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7</a:t>
            </a:r>
          </a:p>
        </p:txBody>
      </p:sp>
      <p:sp>
        <p:nvSpPr>
          <p:cNvPr id="149" name="Rectangle 11"/>
          <p:cNvSpPr>
            <a:spLocks noChangeArrowheads="1"/>
          </p:cNvSpPr>
          <p:nvPr/>
        </p:nvSpPr>
        <p:spPr bwMode="auto">
          <a:xfrm>
            <a:off x="6035201" y="4560413"/>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10</a:t>
            </a:r>
          </a:p>
        </p:txBody>
      </p:sp>
      <p:sp>
        <p:nvSpPr>
          <p:cNvPr id="150" name="Rectangle 12"/>
          <p:cNvSpPr>
            <a:spLocks noChangeArrowheads="1"/>
          </p:cNvSpPr>
          <p:nvPr/>
        </p:nvSpPr>
        <p:spPr bwMode="auto">
          <a:xfrm>
            <a:off x="5426076" y="4553375"/>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9</a:t>
            </a:r>
          </a:p>
        </p:txBody>
      </p:sp>
      <p:sp>
        <p:nvSpPr>
          <p:cNvPr id="151" name="Rectangle 13"/>
          <p:cNvSpPr>
            <a:spLocks noChangeArrowheads="1"/>
          </p:cNvSpPr>
          <p:nvPr/>
        </p:nvSpPr>
        <p:spPr bwMode="auto">
          <a:xfrm>
            <a:off x="6629085" y="45494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11</a:t>
            </a:r>
          </a:p>
        </p:txBody>
      </p:sp>
      <p:sp>
        <p:nvSpPr>
          <p:cNvPr id="152" name="Rectangle 14"/>
          <p:cNvSpPr>
            <a:spLocks noChangeArrowheads="1"/>
          </p:cNvSpPr>
          <p:nvPr/>
        </p:nvSpPr>
        <p:spPr bwMode="auto">
          <a:xfrm>
            <a:off x="7266782" y="456640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12</a:t>
            </a:r>
          </a:p>
        </p:txBody>
      </p:sp>
      <p:sp>
        <p:nvSpPr>
          <p:cNvPr id="153" name="Rectangle 15"/>
          <p:cNvSpPr>
            <a:spLocks noChangeArrowheads="1"/>
          </p:cNvSpPr>
          <p:nvPr/>
        </p:nvSpPr>
        <p:spPr bwMode="auto">
          <a:xfrm>
            <a:off x="8443915"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14</a:t>
            </a:r>
          </a:p>
        </p:txBody>
      </p:sp>
      <p:sp>
        <p:nvSpPr>
          <p:cNvPr id="154" name="Rectangle 16"/>
          <p:cNvSpPr>
            <a:spLocks noChangeArrowheads="1"/>
          </p:cNvSpPr>
          <p:nvPr/>
        </p:nvSpPr>
        <p:spPr bwMode="auto">
          <a:xfrm>
            <a:off x="7860032" y="4550782"/>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13</a:t>
            </a:r>
          </a:p>
        </p:txBody>
      </p:sp>
      <p:sp>
        <p:nvSpPr>
          <p:cNvPr id="155" name="Rectangle 17"/>
          <p:cNvSpPr>
            <a:spLocks noChangeArrowheads="1"/>
          </p:cNvSpPr>
          <p:nvPr/>
        </p:nvSpPr>
        <p:spPr bwMode="auto">
          <a:xfrm>
            <a:off x="-2540" y="4520936"/>
            <a:ext cx="609600" cy="289218"/>
          </a:xfrm>
          <a:prstGeom prst="rect">
            <a:avLst/>
          </a:prstGeom>
          <a:noFill/>
          <a:ln w="9525">
            <a:solidFill>
              <a:schemeClr val="bg1"/>
            </a:solidFill>
            <a:miter lim="800000"/>
            <a:headEnd/>
            <a:tailEnd/>
          </a:ln>
          <a:effectLst/>
          <a:extLst>
            <a:ext uri="{909E8E84-426E-40DD-AFC4-6F175D3DCCD1}">
              <a14:hiddenFill xmlns:a14="http://schemas.microsoft.com/office/drawing/2010/main">
                <a:solidFill>
                  <a:schemeClr val="hlink"/>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nchor="ctr"/>
          <a:lstStyle/>
          <a:p>
            <a:pPr algn="ctr"/>
            <a:r>
              <a:rPr lang="en-US" altLang="en-US" sz="900" b="1" dirty="0">
                <a:solidFill>
                  <a:schemeClr val="hlink"/>
                </a:solidFill>
              </a:rPr>
              <a:t>0</a:t>
            </a:r>
          </a:p>
        </p:txBody>
      </p:sp>
      <p:sp>
        <p:nvSpPr>
          <p:cNvPr id="156" name="Rectangle 18"/>
          <p:cNvSpPr>
            <a:spLocks noChangeArrowheads="1"/>
          </p:cNvSpPr>
          <p:nvPr/>
        </p:nvSpPr>
        <p:spPr bwMode="auto">
          <a:xfrm>
            <a:off x="4816791" y="3878988"/>
            <a:ext cx="609600" cy="641948"/>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64</a:t>
            </a:r>
          </a:p>
        </p:txBody>
      </p:sp>
      <p:sp>
        <p:nvSpPr>
          <p:cNvPr id="157" name="Rectangle 19"/>
          <p:cNvSpPr>
            <a:spLocks noChangeArrowheads="1"/>
          </p:cNvSpPr>
          <p:nvPr/>
        </p:nvSpPr>
        <p:spPr bwMode="auto">
          <a:xfrm>
            <a:off x="1186815" y="3892261"/>
            <a:ext cx="609600" cy="636879"/>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14</a:t>
            </a:r>
          </a:p>
        </p:txBody>
      </p:sp>
      <p:sp>
        <p:nvSpPr>
          <p:cNvPr id="158" name="Rectangle 20"/>
          <p:cNvSpPr>
            <a:spLocks noChangeArrowheads="1"/>
          </p:cNvSpPr>
          <p:nvPr/>
        </p:nvSpPr>
        <p:spPr bwMode="auto">
          <a:xfrm>
            <a:off x="594360"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13</a:t>
            </a:r>
          </a:p>
        </p:txBody>
      </p:sp>
      <p:sp>
        <p:nvSpPr>
          <p:cNvPr id="159" name="Rectangle 21"/>
          <p:cNvSpPr>
            <a:spLocks noChangeArrowheads="1"/>
          </p:cNvSpPr>
          <p:nvPr/>
        </p:nvSpPr>
        <p:spPr bwMode="auto">
          <a:xfrm>
            <a:off x="1797369" y="3885221"/>
            <a:ext cx="609600" cy="640452"/>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25</a:t>
            </a:r>
          </a:p>
        </p:txBody>
      </p:sp>
      <p:sp>
        <p:nvSpPr>
          <p:cNvPr id="160" name="Rectangle 22"/>
          <p:cNvSpPr>
            <a:spLocks noChangeArrowheads="1"/>
          </p:cNvSpPr>
          <p:nvPr/>
        </p:nvSpPr>
        <p:spPr bwMode="auto">
          <a:xfrm>
            <a:off x="2392680"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33</a:t>
            </a:r>
          </a:p>
        </p:txBody>
      </p:sp>
      <p:sp>
        <p:nvSpPr>
          <p:cNvPr id="161" name="Rectangle 23"/>
          <p:cNvSpPr>
            <a:spLocks noChangeArrowheads="1"/>
          </p:cNvSpPr>
          <p:nvPr/>
        </p:nvSpPr>
        <p:spPr bwMode="auto">
          <a:xfrm>
            <a:off x="3596640" y="3879320"/>
            <a:ext cx="609600" cy="641616"/>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51</a:t>
            </a:r>
          </a:p>
        </p:txBody>
      </p:sp>
      <p:sp>
        <p:nvSpPr>
          <p:cNvPr id="162" name="Rectangle 24"/>
          <p:cNvSpPr>
            <a:spLocks noChangeArrowheads="1"/>
          </p:cNvSpPr>
          <p:nvPr/>
        </p:nvSpPr>
        <p:spPr bwMode="auto">
          <a:xfrm>
            <a:off x="2987040" y="3885223"/>
            <a:ext cx="609600" cy="642753"/>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43</a:t>
            </a:r>
          </a:p>
        </p:txBody>
      </p:sp>
      <p:sp>
        <p:nvSpPr>
          <p:cNvPr id="163" name="Rectangle 25"/>
          <p:cNvSpPr>
            <a:spLocks noChangeArrowheads="1"/>
          </p:cNvSpPr>
          <p:nvPr/>
        </p:nvSpPr>
        <p:spPr bwMode="auto">
          <a:xfrm>
            <a:off x="4206240" y="3878988"/>
            <a:ext cx="609600" cy="648986"/>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53</a:t>
            </a:r>
          </a:p>
        </p:txBody>
      </p:sp>
      <p:sp>
        <p:nvSpPr>
          <p:cNvPr id="164" name="Rectangle 27"/>
          <p:cNvSpPr>
            <a:spLocks noChangeArrowheads="1"/>
          </p:cNvSpPr>
          <p:nvPr/>
        </p:nvSpPr>
        <p:spPr bwMode="auto">
          <a:xfrm>
            <a:off x="6021389" y="3886202"/>
            <a:ext cx="609600" cy="643891"/>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84</a:t>
            </a:r>
          </a:p>
        </p:txBody>
      </p:sp>
      <p:sp>
        <p:nvSpPr>
          <p:cNvPr id="165" name="Rectangle 28"/>
          <p:cNvSpPr>
            <a:spLocks noChangeArrowheads="1"/>
          </p:cNvSpPr>
          <p:nvPr/>
        </p:nvSpPr>
        <p:spPr bwMode="auto">
          <a:xfrm>
            <a:off x="5410042" y="3887522"/>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72</a:t>
            </a:r>
          </a:p>
        </p:txBody>
      </p:sp>
      <p:sp>
        <p:nvSpPr>
          <p:cNvPr id="166" name="Rectangle 29"/>
          <p:cNvSpPr>
            <a:spLocks noChangeArrowheads="1"/>
          </p:cNvSpPr>
          <p:nvPr/>
        </p:nvSpPr>
        <p:spPr bwMode="auto">
          <a:xfrm>
            <a:off x="6631306" y="3879320"/>
            <a:ext cx="609600" cy="648654"/>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93</a:t>
            </a:r>
          </a:p>
        </p:txBody>
      </p:sp>
      <p:sp>
        <p:nvSpPr>
          <p:cNvPr id="167" name="Rectangle 30"/>
          <p:cNvSpPr>
            <a:spLocks noChangeArrowheads="1"/>
          </p:cNvSpPr>
          <p:nvPr/>
        </p:nvSpPr>
        <p:spPr bwMode="auto">
          <a:xfrm>
            <a:off x="7241223"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95</a:t>
            </a:r>
          </a:p>
        </p:txBody>
      </p:sp>
      <p:sp>
        <p:nvSpPr>
          <p:cNvPr id="168" name="Rectangle 31"/>
          <p:cNvSpPr>
            <a:spLocks noChangeArrowheads="1"/>
          </p:cNvSpPr>
          <p:nvPr/>
        </p:nvSpPr>
        <p:spPr bwMode="auto">
          <a:xfrm>
            <a:off x="8434705" y="3879320"/>
            <a:ext cx="609600" cy="64865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97</a:t>
            </a:r>
          </a:p>
        </p:txBody>
      </p:sp>
      <p:sp>
        <p:nvSpPr>
          <p:cNvPr id="169" name="Rectangle 32"/>
          <p:cNvSpPr>
            <a:spLocks noChangeArrowheads="1"/>
          </p:cNvSpPr>
          <p:nvPr/>
        </p:nvSpPr>
        <p:spPr bwMode="auto">
          <a:xfrm>
            <a:off x="7851140" y="3879320"/>
            <a:ext cx="609600" cy="648654"/>
          </a:xfrm>
          <a:prstGeom prst="rect">
            <a:avLst/>
          </a:prstGeom>
          <a:solidFill>
            <a:srgbClr val="00B0F0"/>
          </a:solidFill>
          <a:ln w="9525">
            <a:solidFill>
              <a:schemeClr val="accent1"/>
            </a:solidFill>
            <a:miter lim="800000"/>
            <a:headEnd/>
            <a:tailEnd/>
          </a:ln>
          <a:effectLst/>
        </p:spPr>
        <p:txBody>
          <a:bodyPr wrap="none" lIns="92075" tIns="46038" rIns="92075" bIns="46038" anchor="ctr"/>
          <a:lstStyle/>
          <a:p>
            <a:pPr algn="ctr"/>
            <a:r>
              <a:rPr lang="en-US" altLang="en-US" sz="2400" b="1" dirty="0">
                <a:solidFill>
                  <a:schemeClr val="bg1"/>
                </a:solidFill>
              </a:rPr>
              <a:t>96</a:t>
            </a:r>
          </a:p>
        </p:txBody>
      </p:sp>
      <p:sp>
        <p:nvSpPr>
          <p:cNvPr id="170" name="Rectangle 33"/>
          <p:cNvSpPr>
            <a:spLocks noChangeArrowheads="1"/>
          </p:cNvSpPr>
          <p:nvPr/>
        </p:nvSpPr>
        <p:spPr bwMode="auto">
          <a:xfrm>
            <a:off x="5715" y="3892259"/>
            <a:ext cx="609600" cy="633414"/>
          </a:xfrm>
          <a:prstGeom prst="rect">
            <a:avLst/>
          </a:prstGeom>
          <a:solidFill>
            <a:srgbClr val="FFFF00"/>
          </a:solidFill>
          <a:ln w="9525">
            <a:solidFill>
              <a:schemeClr val="accent1"/>
            </a:solidFill>
            <a:miter lim="800000"/>
            <a:headEnd/>
            <a:tailEnd/>
          </a:ln>
          <a:effectLst/>
        </p:spPr>
        <p:txBody>
          <a:bodyPr wrap="none" lIns="92075" tIns="46038" rIns="92075" bIns="46038" anchor="ctr"/>
          <a:lstStyle/>
          <a:p>
            <a:pPr algn="ctr"/>
            <a:r>
              <a:rPr lang="en-US" altLang="en-US" sz="2400" b="1" dirty="0"/>
              <a:t>6</a:t>
            </a:r>
          </a:p>
        </p:txBody>
      </p:sp>
      <p:sp>
        <p:nvSpPr>
          <p:cNvPr id="171" name="Rectangle 34"/>
          <p:cNvSpPr>
            <a:spLocks noGrp="1" noChangeArrowheads="1"/>
          </p:cNvSpPr>
          <p:nvPr>
            <p:ph type="title"/>
          </p:nvPr>
        </p:nvSpPr>
        <p:spPr>
          <a:xfrm>
            <a:off x="628650" y="365128"/>
            <a:ext cx="7886700" cy="1325563"/>
          </a:xfrm>
        </p:spPr>
        <p:txBody>
          <a:bodyPr/>
          <a:lstStyle/>
          <a:p>
            <a:r>
              <a:rPr kumimoji="0" lang="en-US" altLang="en-US" dirty="0"/>
              <a:t>Searching Algorithm:</a:t>
            </a:r>
          </a:p>
        </p:txBody>
      </p:sp>
      <p:sp>
        <p:nvSpPr>
          <p:cNvPr id="172" name="Rectangle 35"/>
          <p:cNvSpPr>
            <a:spLocks noChangeArrowheads="1"/>
          </p:cNvSpPr>
          <p:nvPr/>
        </p:nvSpPr>
        <p:spPr bwMode="auto">
          <a:xfrm>
            <a:off x="7469645" y="514878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lo</a:t>
            </a:r>
          </a:p>
        </p:txBody>
      </p:sp>
      <p:sp>
        <p:nvSpPr>
          <p:cNvPr id="173" name="Line 36"/>
          <p:cNvSpPr>
            <a:spLocks noChangeShapeType="1"/>
          </p:cNvSpPr>
          <p:nvPr/>
        </p:nvSpPr>
        <p:spPr bwMode="auto">
          <a:xfrm flipV="1">
            <a:off x="7638098" y="4885261"/>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74" name="Rectangle 44"/>
          <p:cNvSpPr>
            <a:spLocks noChangeArrowheads="1"/>
          </p:cNvSpPr>
          <p:nvPr/>
        </p:nvSpPr>
        <p:spPr bwMode="auto">
          <a:xfrm>
            <a:off x="7450439" y="5662796"/>
            <a:ext cx="365485"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hi</a:t>
            </a:r>
          </a:p>
        </p:txBody>
      </p:sp>
      <p:sp>
        <p:nvSpPr>
          <p:cNvPr id="175" name="Line 45"/>
          <p:cNvSpPr>
            <a:spLocks noChangeShapeType="1"/>
          </p:cNvSpPr>
          <p:nvPr/>
        </p:nvSpPr>
        <p:spPr bwMode="auto">
          <a:xfrm flipV="1">
            <a:off x="7652385" y="5453586"/>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76" name="Slide Number Placeholder 1"/>
          <p:cNvSpPr>
            <a:spLocks noGrp="1"/>
          </p:cNvSpPr>
          <p:nvPr>
            <p:ph type="sldNum" sz="quarter" idx="12"/>
          </p:nvPr>
        </p:nvSpPr>
        <p:spPr>
          <a:xfrm>
            <a:off x="6457950" y="6356353"/>
            <a:ext cx="2057400" cy="365125"/>
          </a:xfrm>
        </p:spPr>
        <p:txBody>
          <a:bodyPr/>
          <a:lstStyle/>
          <a:p>
            <a:fld id="{6E310DD8-4D23-494A-9745-A7BA26DAFE5D}" type="slidenum">
              <a:rPr lang="en-US" smtClean="0">
                <a:solidFill>
                  <a:prstClr val="black">
                    <a:tint val="75000"/>
                  </a:prstClr>
                </a:solidFill>
              </a:rPr>
              <a:pPr/>
              <a:t>20</a:t>
            </a:fld>
            <a:endParaRPr lang="en-US" dirty="0">
              <a:solidFill>
                <a:prstClr val="black">
                  <a:tint val="75000"/>
                </a:prstClr>
              </a:solidFill>
            </a:endParaRPr>
          </a:p>
        </p:txBody>
      </p:sp>
      <p:sp>
        <p:nvSpPr>
          <p:cNvPr id="177" name="&quot;No&quot; Symbol 176"/>
          <p:cNvSpPr/>
          <p:nvPr/>
        </p:nvSpPr>
        <p:spPr>
          <a:xfrm>
            <a:off x="18572"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8" name="&quot;No&quot; Symbol 177"/>
          <p:cNvSpPr/>
          <p:nvPr/>
        </p:nvSpPr>
        <p:spPr>
          <a:xfrm>
            <a:off x="628252" y="3900461"/>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79" name="&quot;No&quot; Symbol 178"/>
          <p:cNvSpPr/>
          <p:nvPr/>
        </p:nvSpPr>
        <p:spPr>
          <a:xfrm>
            <a:off x="122364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0" name="&quot;No&quot; Symbol 179"/>
          <p:cNvSpPr/>
          <p:nvPr/>
        </p:nvSpPr>
        <p:spPr>
          <a:xfrm>
            <a:off x="1817050"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1" name="&quot;No&quot; Symbol 180"/>
          <p:cNvSpPr/>
          <p:nvPr/>
        </p:nvSpPr>
        <p:spPr>
          <a:xfrm>
            <a:off x="2410936"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2" name="&quot;No&quot; Symbol 181"/>
          <p:cNvSpPr/>
          <p:nvPr/>
        </p:nvSpPr>
        <p:spPr>
          <a:xfrm>
            <a:off x="3005931"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3" name="&quot;No&quot; Symbol 182"/>
          <p:cNvSpPr/>
          <p:nvPr/>
        </p:nvSpPr>
        <p:spPr>
          <a:xfrm>
            <a:off x="361513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4" name="&quot;No&quot; Symbol 183"/>
          <p:cNvSpPr/>
          <p:nvPr/>
        </p:nvSpPr>
        <p:spPr>
          <a:xfrm>
            <a:off x="4209574"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5" name="&quot;No&quot; Symbol 184"/>
          <p:cNvSpPr/>
          <p:nvPr/>
        </p:nvSpPr>
        <p:spPr>
          <a:xfrm>
            <a:off x="4833620" y="3869833"/>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6" name="&quot;No&quot; Symbol 185"/>
          <p:cNvSpPr/>
          <p:nvPr/>
        </p:nvSpPr>
        <p:spPr>
          <a:xfrm>
            <a:off x="5443856" y="3901187"/>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7" name="&quot;No&quot; Symbol 186"/>
          <p:cNvSpPr/>
          <p:nvPr/>
        </p:nvSpPr>
        <p:spPr>
          <a:xfrm>
            <a:off x="6036310"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88" name="&quot;No&quot; Symbol 187"/>
          <p:cNvSpPr/>
          <p:nvPr/>
        </p:nvSpPr>
        <p:spPr>
          <a:xfrm>
            <a:off x="6648606" y="3872301"/>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1" name="&quot;No&quot; Symbol 190"/>
          <p:cNvSpPr/>
          <p:nvPr/>
        </p:nvSpPr>
        <p:spPr>
          <a:xfrm>
            <a:off x="7868759" y="390259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2" name="&quot;No&quot; Symbol 191"/>
          <p:cNvSpPr/>
          <p:nvPr/>
        </p:nvSpPr>
        <p:spPr>
          <a:xfrm>
            <a:off x="8446692" y="3886200"/>
            <a:ext cx="577216" cy="634736"/>
          </a:xfrm>
          <a:prstGeom prst="noSmoking">
            <a:avLst/>
          </a:prstGeom>
          <a:solidFill>
            <a:schemeClr val="accent2">
              <a:lumMod val="7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93" name="Rectangle 79"/>
          <p:cNvSpPr>
            <a:spLocks noChangeArrowheads="1"/>
          </p:cNvSpPr>
          <p:nvPr/>
        </p:nvSpPr>
        <p:spPr bwMode="auto">
          <a:xfrm>
            <a:off x="7410638" y="6176806"/>
            <a:ext cx="553037" cy="36997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5875">
                <a:solidFill>
                  <a:schemeClr val="tx1"/>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lIns="92075" tIns="46038" rIns="92075" bIns="46038">
            <a:spAutoFit/>
          </a:bodyPr>
          <a:lstStyle/>
          <a:p>
            <a:pPr algn="ctr">
              <a:spcBef>
                <a:spcPct val="50000"/>
              </a:spcBef>
            </a:pPr>
            <a:r>
              <a:rPr kumimoji="1" lang="en-US" altLang="en-US" b="1" dirty="0"/>
              <a:t>mid</a:t>
            </a:r>
          </a:p>
        </p:txBody>
      </p:sp>
      <p:sp>
        <p:nvSpPr>
          <p:cNvPr id="194" name="Line 80"/>
          <p:cNvSpPr>
            <a:spLocks noChangeShapeType="1"/>
          </p:cNvSpPr>
          <p:nvPr/>
        </p:nvSpPr>
        <p:spPr bwMode="auto">
          <a:xfrm flipV="1">
            <a:off x="7652385" y="5967596"/>
            <a:ext cx="0" cy="228600"/>
          </a:xfrm>
          <a:prstGeom prst="line">
            <a:avLst/>
          </a:prstGeom>
          <a:noFill/>
          <a:ln w="9525">
            <a:solidFill>
              <a:schemeClr val="tx1"/>
            </a:solidFill>
            <a:round/>
            <a:headEnd/>
            <a:tailEnd type="triangle" w="sm" len="sm"/>
          </a:ln>
          <a:extLst>
            <a:ext uri="{909E8E84-426E-40DD-AFC4-6F175D3DCCD1}">
              <a14:hiddenFill xmlns:a14="http://schemas.microsoft.com/office/drawing/2010/main">
                <a:noFill/>
              </a14:hiddenFill>
            </a:ext>
          </a:extLst>
        </p:spPr>
        <p:txBody>
          <a:bodyPr wrap="none" anchor="ctr"/>
          <a:lstStyle/>
          <a:p>
            <a:endParaRPr lang="en-US" dirty="0"/>
          </a:p>
        </p:txBody>
      </p:sp>
      <p:sp>
        <p:nvSpPr>
          <p:cNvPr id="195" name="Rectangle 30"/>
          <p:cNvSpPr>
            <a:spLocks noChangeArrowheads="1"/>
          </p:cNvSpPr>
          <p:nvPr/>
        </p:nvSpPr>
        <p:spPr bwMode="auto">
          <a:xfrm>
            <a:off x="7118984" y="3804203"/>
            <a:ext cx="820737" cy="785668"/>
          </a:xfrm>
          <a:prstGeom prst="rect">
            <a:avLst/>
          </a:prstGeom>
          <a:solidFill>
            <a:srgbClr val="FF4747"/>
          </a:solidFill>
          <a:ln w="9525">
            <a:solidFill>
              <a:schemeClr val="accent1"/>
            </a:solidFill>
            <a:miter lim="800000"/>
            <a:headEnd/>
            <a:tailEnd/>
          </a:ln>
          <a:effectLst/>
        </p:spPr>
        <p:txBody>
          <a:bodyPr wrap="none" lIns="92075" tIns="46038" rIns="92075" bIns="46038" anchor="ctr"/>
          <a:lstStyle/>
          <a:p>
            <a:pPr algn="ctr"/>
            <a:r>
              <a:rPr lang="en-US" altLang="en-US" sz="3200" b="1" dirty="0">
                <a:solidFill>
                  <a:srgbClr val="FFFF00"/>
                </a:solidFill>
              </a:rPr>
              <a:t>95</a:t>
            </a:r>
          </a:p>
        </p:txBody>
      </p:sp>
    </p:spTree>
    <p:extLst>
      <p:ext uri="{BB962C8B-B14F-4D97-AF65-F5344CB8AC3E}">
        <p14:creationId xmlns:p14="http://schemas.microsoft.com/office/powerpoint/2010/main" val="9319446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93"/>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94"/>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9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3" grpId="0"/>
      <p:bldP spid="194" grpId="0" animBg="1"/>
      <p:bldP spid="195"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3" descr="C:\Users\subbaiah\Desktop\pp.png"/>
          <p:cNvPicPr>
            <a:picLocks/>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0" y="3485121"/>
            <a:ext cx="5610386" cy="3164677"/>
          </a:xfrm>
          <a:prstGeom prst="rect">
            <a:avLst/>
          </a:prstGeom>
          <a:noFill/>
          <a:ln>
            <a:noFill/>
          </a:ln>
        </p:spPr>
      </p:pic>
      <p:graphicFrame>
        <p:nvGraphicFramePr>
          <p:cNvPr id="6" name="Table 5"/>
          <p:cNvGraphicFramePr>
            <a:graphicFrameLocks noGrp="1"/>
          </p:cNvGraphicFramePr>
          <p:nvPr>
            <p:extLst>
              <p:ext uri="{D42A27DB-BD31-4B8C-83A1-F6EECF244321}">
                <p14:modId xmlns:p14="http://schemas.microsoft.com/office/powerpoint/2010/main" val="3669525912"/>
              </p:ext>
            </p:extLst>
          </p:nvPr>
        </p:nvGraphicFramePr>
        <p:xfrm>
          <a:off x="6091664" y="3830482"/>
          <a:ext cx="2543732" cy="1798320"/>
        </p:xfrm>
        <a:graphic>
          <a:graphicData uri="http://schemas.openxmlformats.org/drawingml/2006/table">
            <a:tbl>
              <a:tblPr firstRow="1" bandRow="1">
                <a:tableStyleId>{5C22544A-7EE6-4342-B048-85BDC9FD1C3A}</a:tableStyleId>
              </a:tblPr>
              <a:tblGrid>
                <a:gridCol w="1504885">
                  <a:extLst>
                    <a:ext uri="{9D8B030D-6E8A-4147-A177-3AD203B41FA5}">
                      <a16:colId xmlns:a16="http://schemas.microsoft.com/office/drawing/2014/main" val="20000"/>
                    </a:ext>
                  </a:extLst>
                </a:gridCol>
                <a:gridCol w="1038847">
                  <a:extLst>
                    <a:ext uri="{9D8B030D-6E8A-4147-A177-3AD203B41FA5}">
                      <a16:colId xmlns:a16="http://schemas.microsoft.com/office/drawing/2014/main" val="20001"/>
                    </a:ext>
                  </a:extLst>
                </a:gridCol>
              </a:tblGrid>
              <a:tr h="364679">
                <a:tc>
                  <a:txBody>
                    <a:bodyPr/>
                    <a:lstStyle/>
                    <a:p>
                      <a:r>
                        <a:rPr lang="en-US" sz="2000" b="1" dirty="0">
                          <a:solidFill>
                            <a:sysClr val="windowText" lastClr="000000"/>
                          </a:solidFill>
                        </a:rPr>
                        <a:t>Sequential</a:t>
                      </a:r>
                    </a:p>
                  </a:txBody>
                  <a:tcPr>
                    <a:solidFill>
                      <a:schemeClr val="accent2">
                        <a:lumMod val="60000"/>
                        <a:lumOff val="40000"/>
                      </a:schemeClr>
                    </a:solidFill>
                  </a:tcPr>
                </a:tc>
                <a:tc>
                  <a:txBody>
                    <a:bodyPr/>
                    <a:lstStyle/>
                    <a:p>
                      <a:r>
                        <a:rPr lang="en-US" sz="2000" b="1" dirty="0">
                          <a:solidFill>
                            <a:sysClr val="windowText" lastClr="000000"/>
                          </a:solidFill>
                        </a:rPr>
                        <a:t>Binary</a:t>
                      </a:r>
                    </a:p>
                  </a:txBody>
                  <a:tcPr>
                    <a:solidFill>
                      <a:schemeClr val="accent6">
                        <a:lumMod val="60000"/>
                        <a:lumOff val="40000"/>
                      </a:schemeClr>
                    </a:solidFill>
                  </a:tcPr>
                </a:tc>
                <a:extLst>
                  <a:ext uri="{0D108BD9-81ED-4DB2-BD59-A6C34878D82A}">
                    <a16:rowId xmlns:a16="http://schemas.microsoft.com/office/drawing/2014/main" val="10000"/>
                  </a:ext>
                </a:extLst>
              </a:tr>
              <a:tr h="370840">
                <a:tc>
                  <a:txBody>
                    <a:bodyPr/>
                    <a:lstStyle/>
                    <a:p>
                      <a:r>
                        <a:rPr lang="en-US" sz="2000" b="1" dirty="0"/>
                        <a:t>999,999,999</a:t>
                      </a:r>
                    </a:p>
                    <a:p>
                      <a:r>
                        <a:rPr lang="en-US" sz="2000" b="1" dirty="0"/>
                        <a:t>  steps</a:t>
                      </a:r>
                    </a:p>
                  </a:txBody>
                  <a:tcPr>
                    <a:solidFill>
                      <a:schemeClr val="accent2">
                        <a:lumMod val="60000"/>
                        <a:lumOff val="40000"/>
                      </a:schemeClr>
                    </a:solidFill>
                  </a:tcPr>
                </a:tc>
                <a:tc>
                  <a:txBody>
                    <a:bodyPr/>
                    <a:lstStyle/>
                    <a:p>
                      <a:r>
                        <a:rPr lang="en-US" sz="2000" b="1" dirty="0"/>
                        <a:t>32</a:t>
                      </a:r>
                    </a:p>
                    <a:p>
                      <a:r>
                        <a:rPr lang="en-US" sz="2000" b="1" dirty="0"/>
                        <a:t>steps</a:t>
                      </a:r>
                    </a:p>
                  </a:txBody>
                  <a:tcPr>
                    <a:solidFill>
                      <a:schemeClr val="accent6">
                        <a:lumMod val="60000"/>
                        <a:lumOff val="40000"/>
                      </a:schemeClr>
                    </a:solidFill>
                  </a:tcPr>
                </a:tc>
                <a:extLst>
                  <a:ext uri="{0D108BD9-81ED-4DB2-BD59-A6C34878D82A}">
                    <a16:rowId xmlns:a16="http://schemas.microsoft.com/office/drawing/2014/main" val="10001"/>
                  </a:ext>
                </a:extLst>
              </a:tr>
              <a:tr h="370840">
                <a:tc>
                  <a:txBody>
                    <a:bodyPr/>
                    <a:lstStyle/>
                    <a:p>
                      <a:r>
                        <a:rPr lang="en-US" sz="2000" b="1" dirty="0"/>
                        <a:t>1000 seconds</a:t>
                      </a:r>
                    </a:p>
                  </a:txBody>
                  <a:tcPr>
                    <a:solidFill>
                      <a:schemeClr val="accent2">
                        <a:lumMod val="60000"/>
                        <a:lumOff val="40000"/>
                      </a:schemeClr>
                    </a:solidFill>
                  </a:tcPr>
                </a:tc>
                <a:tc>
                  <a:txBody>
                    <a:bodyPr/>
                    <a:lstStyle/>
                    <a:p>
                      <a:r>
                        <a:rPr lang="en-US" sz="2000" b="1" dirty="0"/>
                        <a:t>32 µs</a:t>
                      </a:r>
                    </a:p>
                  </a:txBody>
                  <a:tcPr>
                    <a:solidFill>
                      <a:schemeClr val="accent6">
                        <a:lumMod val="60000"/>
                        <a:lumOff val="40000"/>
                      </a:schemeClr>
                    </a:solidFill>
                  </a:tcPr>
                </a:tc>
                <a:extLst>
                  <a:ext uri="{0D108BD9-81ED-4DB2-BD59-A6C34878D82A}">
                    <a16:rowId xmlns:a16="http://schemas.microsoft.com/office/drawing/2014/main" val="10002"/>
                  </a:ext>
                </a:extLst>
              </a:tr>
            </a:tbl>
          </a:graphicData>
        </a:graphic>
      </p:graphicFrame>
      <p:sp>
        <p:nvSpPr>
          <p:cNvPr id="7" name="Title 1"/>
          <p:cNvSpPr txBox="1">
            <a:spLocks/>
          </p:cNvSpPr>
          <p:nvPr/>
        </p:nvSpPr>
        <p:spPr>
          <a:xfrm>
            <a:off x="268959" y="237214"/>
            <a:ext cx="7886700" cy="735012"/>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r>
              <a:rPr lang="en-US" dirty="0"/>
              <a:t>Searching Algorithms:</a:t>
            </a:r>
          </a:p>
        </p:txBody>
      </p:sp>
      <p:sp>
        <p:nvSpPr>
          <p:cNvPr id="8" name="TextBox 7"/>
          <p:cNvSpPr txBox="1"/>
          <p:nvPr/>
        </p:nvSpPr>
        <p:spPr>
          <a:xfrm>
            <a:off x="268959" y="972228"/>
            <a:ext cx="7527472" cy="461665"/>
          </a:xfrm>
          <a:prstGeom prst="rect">
            <a:avLst/>
          </a:prstGeom>
          <a:noFill/>
        </p:spPr>
        <p:txBody>
          <a:bodyPr wrap="square" rtlCol="0">
            <a:spAutoFit/>
          </a:bodyPr>
          <a:lstStyle/>
          <a:p>
            <a:r>
              <a:rPr lang="en-US" sz="2400" b="1" i="1" dirty="0">
                <a:solidFill>
                  <a:srgbClr val="C00000"/>
                </a:solidFill>
              </a:rPr>
              <a:t>Comparison of search algorithms: </a:t>
            </a:r>
            <a:endParaRPr lang="en-US" sz="2000" b="1" i="1" dirty="0">
              <a:solidFill>
                <a:srgbClr val="C00000"/>
              </a:solidFill>
            </a:endParaRPr>
          </a:p>
        </p:txBody>
      </p:sp>
      <p:pic>
        <p:nvPicPr>
          <p:cNvPr id="10" name="Picture 9"/>
          <p:cNvPicPr>
            <a:picLocks noChangeAspect="1"/>
          </p:cNvPicPr>
          <p:nvPr/>
        </p:nvPicPr>
        <p:blipFill>
          <a:blip r:embed="rId4"/>
          <a:stretch>
            <a:fillRect/>
          </a:stretch>
        </p:blipFill>
        <p:spPr>
          <a:xfrm>
            <a:off x="268959" y="2041796"/>
            <a:ext cx="7886700" cy="333375"/>
          </a:xfrm>
          <a:prstGeom prst="rect">
            <a:avLst/>
          </a:prstGeom>
        </p:spPr>
      </p:pic>
      <p:sp>
        <p:nvSpPr>
          <p:cNvPr id="11" name="TextBox 10"/>
          <p:cNvSpPr txBox="1"/>
          <p:nvPr/>
        </p:nvSpPr>
        <p:spPr>
          <a:xfrm>
            <a:off x="268960" y="1600851"/>
            <a:ext cx="8735557" cy="461665"/>
          </a:xfrm>
          <a:prstGeom prst="rect">
            <a:avLst/>
          </a:prstGeom>
          <a:noFill/>
        </p:spPr>
        <p:txBody>
          <a:bodyPr wrap="square" rtlCol="0">
            <a:spAutoFit/>
          </a:bodyPr>
          <a:lstStyle/>
          <a:p>
            <a:r>
              <a:rPr lang="en-US" sz="2400" b="1" i="1" dirty="0">
                <a:solidFill>
                  <a:srgbClr val="C00000"/>
                </a:solidFill>
              </a:rPr>
              <a:t>Sequential Search</a:t>
            </a:r>
            <a:r>
              <a:rPr lang="en-US" sz="2000" b="1" i="1" dirty="0">
                <a:solidFill>
                  <a:srgbClr val="C00000"/>
                </a:solidFill>
              </a:rPr>
              <a:t>:    </a:t>
            </a:r>
            <a:r>
              <a:rPr lang="en-US" b="1" i="1" dirty="0">
                <a:solidFill>
                  <a:srgbClr val="C00000"/>
                </a:solidFill>
              </a:rPr>
              <a:t>Number of Steps :  N ( total number of elements in search )</a:t>
            </a:r>
          </a:p>
        </p:txBody>
      </p:sp>
      <p:sp>
        <p:nvSpPr>
          <p:cNvPr id="12" name="TextBox 11"/>
          <p:cNvSpPr txBox="1"/>
          <p:nvPr/>
        </p:nvSpPr>
        <p:spPr>
          <a:xfrm>
            <a:off x="6429786" y="2608862"/>
            <a:ext cx="1553863" cy="369332"/>
          </a:xfrm>
          <a:prstGeom prst="rect">
            <a:avLst/>
          </a:prstGeom>
          <a:noFill/>
          <a:ln>
            <a:solidFill>
              <a:schemeClr val="accent1"/>
            </a:solidFill>
          </a:ln>
        </p:spPr>
        <p:txBody>
          <a:bodyPr wrap="square" rtlCol="0">
            <a:spAutoFit/>
          </a:bodyPr>
          <a:lstStyle/>
          <a:p>
            <a:r>
              <a:rPr lang="en-US" dirty="0"/>
              <a:t>999,999,999</a:t>
            </a:r>
          </a:p>
        </p:txBody>
      </p:sp>
      <p:cxnSp>
        <p:nvCxnSpPr>
          <p:cNvPr id="13" name="Curved Connector 12"/>
          <p:cNvCxnSpPr/>
          <p:nvPr/>
        </p:nvCxnSpPr>
        <p:spPr>
          <a:xfrm rot="5400000" flipH="1" flipV="1">
            <a:off x="7041716" y="2443861"/>
            <a:ext cx="299003" cy="31000"/>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Rectangle 17"/>
          <p:cNvSpPr/>
          <p:nvPr/>
        </p:nvSpPr>
        <p:spPr>
          <a:xfrm>
            <a:off x="268958" y="3000826"/>
            <a:ext cx="8534078" cy="461665"/>
          </a:xfrm>
          <a:prstGeom prst="rect">
            <a:avLst/>
          </a:prstGeom>
        </p:spPr>
        <p:txBody>
          <a:bodyPr wrap="square">
            <a:spAutoFit/>
          </a:bodyPr>
          <a:lstStyle/>
          <a:p>
            <a:r>
              <a:rPr lang="en-US" sz="2400" b="1" i="1" dirty="0">
                <a:solidFill>
                  <a:srgbClr val="C00000"/>
                </a:solidFill>
              </a:rPr>
              <a:t>Binary Search</a:t>
            </a:r>
            <a:r>
              <a:rPr lang="en-US" b="1" i="1" dirty="0">
                <a:solidFill>
                  <a:srgbClr val="C00000"/>
                </a:solidFill>
              </a:rPr>
              <a:t>:    </a:t>
            </a:r>
            <a:r>
              <a:rPr lang="en-US" sz="2400" b="1" i="1" dirty="0">
                <a:solidFill>
                  <a:srgbClr val="C00000"/>
                </a:solidFill>
              </a:rPr>
              <a:t>Number of Steps :  </a:t>
            </a:r>
            <a:r>
              <a:rPr lang="en-US" sz="2400" b="1" i="1" dirty="0">
                <a:solidFill>
                  <a:srgbClr val="FF0000"/>
                </a:solidFill>
              </a:rPr>
              <a:t>log</a:t>
            </a:r>
            <a:r>
              <a:rPr lang="en-US" sz="2400" b="1" i="1" baseline="-25000" dirty="0">
                <a:solidFill>
                  <a:srgbClr val="FF0000"/>
                </a:solidFill>
              </a:rPr>
              <a:t>2</a:t>
            </a:r>
            <a:r>
              <a:rPr lang="en-US" sz="2400" b="1" i="1" dirty="0">
                <a:solidFill>
                  <a:srgbClr val="FF0000"/>
                </a:solidFill>
              </a:rPr>
              <a:t>N</a:t>
            </a:r>
          </a:p>
        </p:txBody>
      </p:sp>
      <p:sp>
        <p:nvSpPr>
          <p:cNvPr id="2" name="Slide Number Placeholder 1"/>
          <p:cNvSpPr>
            <a:spLocks noGrp="1"/>
          </p:cNvSpPr>
          <p:nvPr>
            <p:ph type="sldNum" sz="quarter" idx="12"/>
          </p:nvPr>
        </p:nvSpPr>
        <p:spPr/>
        <p:txBody>
          <a:bodyPr/>
          <a:lstStyle/>
          <a:p>
            <a:fld id="{6E310DD8-4D23-494A-9745-A7BA26DAFE5D}" type="slidenum">
              <a:rPr lang="en-US" smtClean="0">
                <a:solidFill>
                  <a:prstClr val="black">
                    <a:tint val="75000"/>
                  </a:prstClr>
                </a:solidFill>
              </a:rPr>
              <a:pPr/>
              <a:t>21</a:t>
            </a:fld>
            <a:endParaRPr lang="en-US" dirty="0">
              <a:solidFill>
                <a:prstClr val="black">
                  <a:tint val="75000"/>
                </a:prstClr>
              </a:solidFill>
            </a:endParaRPr>
          </a:p>
        </p:txBody>
      </p:sp>
    </p:spTree>
    <p:extLst>
      <p:ext uri="{BB962C8B-B14F-4D97-AF65-F5344CB8AC3E}">
        <p14:creationId xmlns:p14="http://schemas.microsoft.com/office/powerpoint/2010/main" val="3260666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latin typeface="DFKai-SB" panose="03000509000000000000" pitchFamily="65" charset="-120"/>
                <a:ea typeface="DFKai-SB" panose="03000509000000000000" pitchFamily="65" charset="-120"/>
              </a:rPr>
              <a:t>Conclusion</a:t>
            </a:r>
            <a:r>
              <a:rPr lang="en-US" i="1" u="sng" dirty="0">
                <a:latin typeface="Brush Script MT" panose="03060802040406070304" pitchFamily="66" charset="0"/>
              </a:rPr>
              <a:t> </a:t>
            </a:r>
          </a:p>
        </p:txBody>
      </p:sp>
      <p:sp>
        <p:nvSpPr>
          <p:cNvPr id="3" name="Content Placeholder 2"/>
          <p:cNvSpPr>
            <a:spLocks noGrp="1"/>
          </p:cNvSpPr>
          <p:nvPr>
            <p:ph idx="1"/>
          </p:nvPr>
        </p:nvSpPr>
        <p:spPr>
          <a:xfrm>
            <a:off x="628650" y="1582405"/>
            <a:ext cx="7886700" cy="4665662"/>
          </a:xfrm>
        </p:spPr>
        <p:txBody>
          <a:bodyPr>
            <a:normAutofit fontScale="92500" lnSpcReduction="10000"/>
          </a:bodyPr>
          <a:lstStyle/>
          <a:p>
            <a:pPr marL="0" indent="0">
              <a:buNone/>
            </a:pPr>
            <a:r>
              <a:rPr lang="en-US" dirty="0"/>
              <a:t>Monte Carlo simulation is very time consuming, and requires huge memory storage.</a:t>
            </a:r>
          </a:p>
          <a:p>
            <a:pPr marL="0" indent="0">
              <a:buNone/>
            </a:pPr>
            <a:r>
              <a:rPr lang="en-US" dirty="0"/>
              <a:t>With usage of </a:t>
            </a:r>
          </a:p>
          <a:p>
            <a:pPr marL="0" indent="0">
              <a:buNone/>
            </a:pPr>
            <a:r>
              <a:rPr lang="en-US" dirty="0"/>
              <a:t> </a:t>
            </a:r>
          </a:p>
          <a:p>
            <a:pPr>
              <a:buFont typeface="Wingdings" panose="05000000000000000000" pitchFamily="2" charset="2"/>
              <a:buChar char="ü"/>
            </a:pPr>
            <a:r>
              <a:rPr lang="en-US" dirty="0"/>
              <a:t>  Good Random number generating function</a:t>
            </a:r>
          </a:p>
          <a:p>
            <a:pPr>
              <a:buFont typeface="Wingdings" panose="05000000000000000000" pitchFamily="2" charset="2"/>
              <a:buChar char="ü"/>
            </a:pPr>
            <a:r>
              <a:rPr lang="en-US" dirty="0"/>
              <a:t>  Dynamic allocation of the array</a:t>
            </a:r>
          </a:p>
          <a:p>
            <a:pPr>
              <a:buFont typeface="Wingdings" panose="05000000000000000000" pitchFamily="2" charset="2"/>
              <a:buChar char="ü"/>
            </a:pPr>
            <a:r>
              <a:rPr lang="en-US" dirty="0"/>
              <a:t>  Unionized energy grid of nuclides and</a:t>
            </a:r>
          </a:p>
          <a:p>
            <a:pPr>
              <a:buFont typeface="Wingdings" panose="05000000000000000000" pitchFamily="2" charset="2"/>
              <a:buChar char="ü"/>
            </a:pPr>
            <a:r>
              <a:rPr lang="en-US" dirty="0"/>
              <a:t>  Different searching algorithms</a:t>
            </a:r>
          </a:p>
          <a:p>
            <a:pPr>
              <a:buFont typeface="Wingdings" panose="05000000000000000000" pitchFamily="2" charset="2"/>
              <a:buChar char="ü"/>
            </a:pPr>
            <a:endParaRPr lang="en-US" dirty="0"/>
          </a:p>
          <a:p>
            <a:pPr marL="0" indent="0">
              <a:buNone/>
            </a:pPr>
            <a:r>
              <a:rPr lang="en-US" dirty="0"/>
              <a:t>the time and the storage space required for the Monte Carlo simulation can be optimized considerably </a:t>
            </a:r>
          </a:p>
        </p:txBody>
      </p:sp>
      <p:sp>
        <p:nvSpPr>
          <p:cNvPr id="4" name="Slide Number Placeholder 3"/>
          <p:cNvSpPr>
            <a:spLocks noGrp="1"/>
          </p:cNvSpPr>
          <p:nvPr>
            <p:ph type="sldNum" sz="quarter" idx="12"/>
          </p:nvPr>
        </p:nvSpPr>
        <p:spPr/>
        <p:txBody>
          <a:bodyPr/>
          <a:lstStyle/>
          <a:p>
            <a:fld id="{6E310DD8-4D23-494A-9745-A7BA26DAFE5D}" type="slidenum">
              <a:rPr lang="en-US" smtClean="0">
                <a:solidFill>
                  <a:prstClr val="black">
                    <a:tint val="75000"/>
                  </a:prstClr>
                </a:solidFill>
              </a:rPr>
              <a:pPr/>
              <a:t>22</a:t>
            </a:fld>
            <a:endParaRPr lang="en-US" dirty="0">
              <a:solidFill>
                <a:prstClr val="black">
                  <a:tint val="75000"/>
                </a:prstClr>
              </a:solidFill>
            </a:endParaRPr>
          </a:p>
        </p:txBody>
      </p:sp>
    </p:spTree>
    <p:extLst>
      <p:ext uri="{BB962C8B-B14F-4D97-AF65-F5344CB8AC3E}">
        <p14:creationId xmlns:p14="http://schemas.microsoft.com/office/powerpoint/2010/main" val="248115614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Acknowledgements</a:t>
            </a:r>
          </a:p>
        </p:txBody>
      </p:sp>
      <p:sp>
        <p:nvSpPr>
          <p:cNvPr id="3" name="Content Placeholder 2"/>
          <p:cNvSpPr>
            <a:spLocks noGrp="1"/>
          </p:cNvSpPr>
          <p:nvPr>
            <p:ph idx="1"/>
          </p:nvPr>
        </p:nvSpPr>
        <p:spPr/>
        <p:txBody>
          <a:bodyPr>
            <a:normAutofit/>
          </a:bodyPr>
          <a:lstStyle/>
          <a:p>
            <a:r>
              <a:rPr lang="en-US" sz="2400" dirty="0"/>
              <a:t>Authors express sincere thanks to Dr. Kapil </a:t>
            </a:r>
            <a:r>
              <a:rPr lang="en-US" sz="2400" dirty="0" err="1"/>
              <a:t>Deo</a:t>
            </a:r>
            <a:r>
              <a:rPr lang="en-US" sz="2400" dirty="0"/>
              <a:t> Singh and Dr. S. </a:t>
            </a:r>
            <a:r>
              <a:rPr lang="en-US" sz="2400" dirty="0" err="1"/>
              <a:t>Anand</a:t>
            </a:r>
            <a:r>
              <a:rPr lang="en-US" sz="2400" dirty="0"/>
              <a:t> for the training and for the constant encouragement. And I am thankful for the guidance given by other supervisor as well as the panels especially in our project. </a:t>
            </a:r>
          </a:p>
        </p:txBody>
      </p:sp>
      <p:sp>
        <p:nvSpPr>
          <p:cNvPr id="4" name="Slide Number Placeholder 3"/>
          <p:cNvSpPr>
            <a:spLocks noGrp="1"/>
          </p:cNvSpPr>
          <p:nvPr>
            <p:ph type="sldNum" sz="quarter" idx="12"/>
          </p:nvPr>
        </p:nvSpPr>
        <p:spPr/>
        <p:txBody>
          <a:bodyPr/>
          <a:lstStyle/>
          <a:p>
            <a:fld id="{6E310DD8-4D23-494A-9745-A7BA26DAFE5D}" type="slidenum">
              <a:rPr lang="en-US" smtClean="0">
                <a:solidFill>
                  <a:prstClr val="black">
                    <a:tint val="75000"/>
                  </a:prstClr>
                </a:solidFill>
              </a:rPr>
              <a:pPr/>
              <a:t>23</a:t>
            </a:fld>
            <a:endParaRPr lang="en-US" dirty="0">
              <a:solidFill>
                <a:prstClr val="black">
                  <a:tint val="75000"/>
                </a:prstClr>
              </a:solidFill>
            </a:endParaRPr>
          </a:p>
        </p:txBody>
      </p:sp>
    </p:spTree>
    <p:extLst>
      <p:ext uri="{BB962C8B-B14F-4D97-AF65-F5344CB8AC3E}">
        <p14:creationId xmlns:p14="http://schemas.microsoft.com/office/powerpoint/2010/main" val="163105935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p:cNvSpPr/>
          <p:nvPr/>
        </p:nvSpPr>
        <p:spPr>
          <a:xfrm>
            <a:off x="543991" y="812918"/>
            <a:ext cx="4151996" cy="5909310"/>
          </a:xfrm>
          <a:prstGeom prst="rect">
            <a:avLst/>
          </a:prstGeom>
        </p:spPr>
        <p:txBody>
          <a:bodyPr wrap="square">
            <a:spAutoFit/>
          </a:bodyPr>
          <a:lstStyle/>
          <a:p>
            <a:pPr marL="285750" indent="-285750">
              <a:buFont typeface="Arial" panose="020B0604020202020204" pitchFamily="34" charset="0"/>
              <a:buChar char="•"/>
            </a:pPr>
            <a:r>
              <a:rPr lang="en-US" dirty="0"/>
              <a:t> Particle-transport simulation with the   </a:t>
            </a:r>
          </a:p>
          <a:p>
            <a:pPr lvl="0"/>
            <a:r>
              <a:rPr lang="en-US" dirty="0"/>
              <a:t>       Monte Carlo method</a:t>
            </a:r>
          </a:p>
          <a:p>
            <a:pPr lvl="0"/>
            <a:r>
              <a:rPr lang="en-US" dirty="0"/>
              <a:t>       Carter, L.L. ; </a:t>
            </a:r>
            <a:r>
              <a:rPr lang="en-US" dirty="0" err="1"/>
              <a:t>Cashwell</a:t>
            </a:r>
            <a:r>
              <a:rPr lang="en-US" dirty="0"/>
              <a:t>, E.D.</a:t>
            </a:r>
          </a:p>
          <a:p>
            <a:pPr marL="285750" indent="-285750">
              <a:buFont typeface="Arial" panose="020B0604020202020204" pitchFamily="34" charset="0"/>
              <a:buChar char="•"/>
            </a:pPr>
            <a:r>
              <a:rPr lang="en-US" dirty="0"/>
              <a:t> Monte Carlo N–Particle Transport      Code System</a:t>
            </a:r>
          </a:p>
          <a:p>
            <a:r>
              <a:rPr lang="en-US" dirty="0"/>
              <a:t>      Contributed by: Los Alamos     </a:t>
            </a:r>
          </a:p>
          <a:p>
            <a:r>
              <a:rPr lang="en-US" dirty="0"/>
              <a:t>     National Laboratory, Los</a:t>
            </a:r>
          </a:p>
          <a:p>
            <a:r>
              <a:rPr lang="en-US" dirty="0"/>
              <a:t>     Alamos, New Mexico</a:t>
            </a:r>
          </a:p>
          <a:p>
            <a:r>
              <a:rPr lang="en-US" dirty="0"/>
              <a:t> </a:t>
            </a:r>
          </a:p>
          <a:p>
            <a:pPr marL="285750" indent="-285750">
              <a:buFont typeface="Arial" panose="020B0604020202020204" pitchFamily="34" charset="0"/>
              <a:buChar char="•"/>
            </a:pPr>
            <a:r>
              <a:rPr lang="en-US" dirty="0"/>
              <a:t>Monte Carlo methods</a:t>
            </a:r>
          </a:p>
          <a:p>
            <a:r>
              <a:rPr lang="en-US" dirty="0"/>
              <a:t>     </a:t>
            </a:r>
            <a:r>
              <a:rPr lang="en-US" dirty="0" err="1"/>
              <a:t>Malvin</a:t>
            </a:r>
            <a:r>
              <a:rPr lang="en-US" dirty="0"/>
              <a:t> H. </a:t>
            </a:r>
            <a:r>
              <a:rPr lang="en-US" dirty="0" err="1"/>
              <a:t>Kalos</a:t>
            </a:r>
            <a:endParaRPr lang="en-US" dirty="0"/>
          </a:p>
          <a:p>
            <a:r>
              <a:rPr lang="en-US" dirty="0"/>
              <a:t> </a:t>
            </a:r>
          </a:p>
          <a:p>
            <a:pPr marL="285750" indent="-285750">
              <a:buFont typeface="Arial" panose="020B0604020202020204" pitchFamily="34" charset="0"/>
              <a:buChar char="•"/>
            </a:pPr>
            <a:r>
              <a:rPr lang="en-US" dirty="0"/>
              <a:t>Bennett Fox,</a:t>
            </a:r>
          </a:p>
          <a:p>
            <a:r>
              <a:rPr lang="en-US" dirty="0"/>
              <a:t>     Algorithm 647:</a:t>
            </a:r>
          </a:p>
          <a:p>
            <a:r>
              <a:rPr lang="en-US" dirty="0"/>
              <a:t>     Implementation and Relative Efficiency       </a:t>
            </a:r>
          </a:p>
          <a:p>
            <a:r>
              <a:rPr lang="en-US" dirty="0"/>
              <a:t>     of Quasirandom</a:t>
            </a:r>
          </a:p>
          <a:p>
            <a:r>
              <a:rPr lang="en-US" dirty="0"/>
              <a:t>     Sequence Generators,</a:t>
            </a:r>
          </a:p>
          <a:p>
            <a:r>
              <a:rPr lang="en-US" dirty="0"/>
              <a:t>     ACM Transactions on Mathematical     </a:t>
            </a:r>
          </a:p>
          <a:p>
            <a:r>
              <a:rPr lang="en-US" dirty="0"/>
              <a:t>     Software,</a:t>
            </a:r>
          </a:p>
          <a:p>
            <a:r>
              <a:rPr lang="en-US" dirty="0"/>
              <a:t>     Volume 12, Number 4, December 1986,    </a:t>
            </a:r>
          </a:p>
          <a:p>
            <a:r>
              <a:rPr lang="en-US" dirty="0"/>
              <a:t>     pages 362-376.</a:t>
            </a:r>
          </a:p>
        </p:txBody>
      </p:sp>
      <p:sp>
        <p:nvSpPr>
          <p:cNvPr id="5" name="TextBox 4"/>
          <p:cNvSpPr txBox="1"/>
          <p:nvPr/>
        </p:nvSpPr>
        <p:spPr>
          <a:xfrm>
            <a:off x="5177596" y="812918"/>
            <a:ext cx="3543300" cy="5909310"/>
          </a:xfrm>
          <a:prstGeom prst="rect">
            <a:avLst/>
          </a:prstGeom>
          <a:noFill/>
        </p:spPr>
        <p:txBody>
          <a:bodyPr wrap="square" rtlCol="0">
            <a:spAutoFit/>
          </a:bodyPr>
          <a:lstStyle/>
          <a:p>
            <a:pPr marL="285750" indent="-285750">
              <a:buFont typeface="Arial" panose="020B0604020202020204" pitchFamily="34" charset="0"/>
              <a:buChar char="•"/>
            </a:pPr>
            <a:r>
              <a:rPr lang="en-US" dirty="0"/>
              <a:t>Pierre L'Ecuyer,</a:t>
            </a:r>
          </a:p>
          <a:p>
            <a:r>
              <a:rPr lang="en-US" dirty="0"/>
              <a:t>Random Number Generation,</a:t>
            </a:r>
          </a:p>
          <a:p>
            <a:r>
              <a:rPr lang="en-US" dirty="0"/>
              <a:t>in Handbook of Simulation,</a:t>
            </a:r>
          </a:p>
          <a:p>
            <a:r>
              <a:rPr lang="en-US" dirty="0"/>
              <a:t>edited by Jerry Banks,</a:t>
            </a:r>
          </a:p>
          <a:p>
            <a:r>
              <a:rPr lang="en-US" dirty="0"/>
              <a:t>Wiley, 1998,</a:t>
            </a:r>
          </a:p>
          <a:p>
            <a:r>
              <a:rPr lang="en-US" dirty="0"/>
              <a:t>ISBN: 0471134031,</a:t>
            </a:r>
          </a:p>
          <a:p>
            <a:r>
              <a:rPr lang="en-US" dirty="0"/>
              <a:t>LC: T57.62.H37.</a:t>
            </a:r>
          </a:p>
          <a:p>
            <a:r>
              <a:rPr lang="en-US" dirty="0"/>
              <a:t> </a:t>
            </a:r>
          </a:p>
          <a:p>
            <a:pPr marL="285750" indent="-285750">
              <a:buFont typeface="Arial" panose="020B0604020202020204" pitchFamily="34" charset="0"/>
              <a:buChar char="•"/>
            </a:pPr>
            <a:r>
              <a:rPr lang="en-US" dirty="0"/>
              <a:t>Peter Lewis, Allen Goodman, James Miller,</a:t>
            </a:r>
          </a:p>
          <a:p>
            <a:r>
              <a:rPr lang="en-US" dirty="0"/>
              <a:t>A Pseudo-Random Number Generator for the System/360,</a:t>
            </a:r>
          </a:p>
          <a:p>
            <a:r>
              <a:rPr lang="en-US" dirty="0"/>
              <a:t>IBM Systems Journal,</a:t>
            </a:r>
          </a:p>
          <a:p>
            <a:r>
              <a:rPr lang="en-US" dirty="0"/>
              <a:t>Volume 8, 1969, pages 136-143.</a:t>
            </a:r>
          </a:p>
          <a:p>
            <a:r>
              <a:rPr lang="en-US" dirty="0"/>
              <a:t> </a:t>
            </a:r>
          </a:p>
          <a:p>
            <a:r>
              <a:rPr lang="en-US" dirty="0"/>
              <a:t> </a:t>
            </a:r>
          </a:p>
          <a:p>
            <a:pPr marL="285750" indent="-285750">
              <a:buFont typeface="Arial" panose="020B0604020202020204" pitchFamily="34" charset="0"/>
              <a:buChar char="•"/>
            </a:pPr>
            <a:r>
              <a:rPr lang="en-US" dirty="0"/>
              <a:t>Numerical Recipes in Fortran</a:t>
            </a:r>
          </a:p>
          <a:p>
            <a:r>
              <a:rPr lang="en-US" dirty="0"/>
              <a:t>The art of scientific computing</a:t>
            </a:r>
          </a:p>
          <a:p>
            <a:r>
              <a:rPr lang="en-US" dirty="0"/>
              <a:t>William H. Press, Saul A. Teukolsky</a:t>
            </a:r>
          </a:p>
          <a:p>
            <a:r>
              <a:rPr lang="en-US" dirty="0"/>
              <a:t>William T. Vetterling, Brian P. Flannery</a:t>
            </a:r>
          </a:p>
        </p:txBody>
      </p:sp>
      <p:sp>
        <p:nvSpPr>
          <p:cNvPr id="2" name="TextBox 1"/>
          <p:cNvSpPr txBox="1"/>
          <p:nvPr/>
        </p:nvSpPr>
        <p:spPr>
          <a:xfrm>
            <a:off x="852407" y="154985"/>
            <a:ext cx="4804474" cy="461665"/>
          </a:xfrm>
          <a:prstGeom prst="rect">
            <a:avLst/>
          </a:prstGeom>
          <a:noFill/>
        </p:spPr>
        <p:txBody>
          <a:bodyPr wrap="square" rtlCol="0">
            <a:spAutoFit/>
          </a:bodyPr>
          <a:lstStyle/>
          <a:p>
            <a:r>
              <a:rPr lang="en-US" sz="2400" b="1" dirty="0"/>
              <a:t>References</a:t>
            </a:r>
            <a:endParaRPr lang="en-US" b="1" dirty="0"/>
          </a:p>
        </p:txBody>
      </p:sp>
      <p:sp>
        <p:nvSpPr>
          <p:cNvPr id="3" name="Slide Number Placeholder 2"/>
          <p:cNvSpPr>
            <a:spLocks noGrp="1"/>
          </p:cNvSpPr>
          <p:nvPr>
            <p:ph type="sldNum" sz="quarter" idx="12"/>
          </p:nvPr>
        </p:nvSpPr>
        <p:spPr/>
        <p:txBody>
          <a:bodyPr/>
          <a:lstStyle/>
          <a:p>
            <a:fld id="{6E310DD8-4D23-494A-9745-A7BA26DAFE5D}" type="slidenum">
              <a:rPr lang="en-US" smtClean="0">
                <a:solidFill>
                  <a:prstClr val="black">
                    <a:tint val="75000"/>
                  </a:prstClr>
                </a:solidFill>
              </a:rPr>
              <a:pPr/>
              <a:t>24</a:t>
            </a:fld>
            <a:endParaRPr lang="en-US" dirty="0">
              <a:solidFill>
                <a:prstClr val="black">
                  <a:tint val="75000"/>
                </a:prstClr>
              </a:solidFill>
            </a:endParaRPr>
          </a:p>
        </p:txBody>
      </p:sp>
    </p:spTree>
    <p:extLst>
      <p:ext uri="{BB962C8B-B14F-4D97-AF65-F5344CB8AC3E}">
        <p14:creationId xmlns:p14="http://schemas.microsoft.com/office/powerpoint/2010/main" val="1066492174"/>
      </p:ext>
    </p:extLst>
  </p:cSld>
  <p:clrMapOvr>
    <a:masterClrMapping/>
  </p:clrMapOvr>
  <mc:AlternateContent xmlns:mc="http://schemas.openxmlformats.org/markup-compatibility/2006" xmlns:p14="http://schemas.microsoft.com/office/powerpoint/2010/main">
    <mc:Choice Requires="p14">
      <p:transition p14:dur="10"/>
    </mc:Choice>
    <mc:Fallback xmlns="">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1925055" y="2326106"/>
            <a:ext cx="5021179" cy="1446550"/>
          </a:xfrm>
          <a:prstGeom prst="rect">
            <a:avLst/>
          </a:prstGeom>
          <a:noFill/>
        </p:spPr>
        <p:txBody>
          <a:bodyPr wrap="square" rtlCol="0">
            <a:spAutoFit/>
          </a:bodyPr>
          <a:lstStyle/>
          <a:p>
            <a:r>
              <a:rPr lang="en-US" sz="8800" dirty="0"/>
              <a:t>Thank You</a:t>
            </a:r>
          </a:p>
        </p:txBody>
      </p:sp>
      <p:sp>
        <p:nvSpPr>
          <p:cNvPr id="3" name="Slide Number Placeholder 2"/>
          <p:cNvSpPr>
            <a:spLocks noGrp="1"/>
          </p:cNvSpPr>
          <p:nvPr>
            <p:ph type="sldNum" sz="quarter" idx="12"/>
          </p:nvPr>
        </p:nvSpPr>
        <p:spPr/>
        <p:txBody>
          <a:bodyPr/>
          <a:lstStyle/>
          <a:p>
            <a:fld id="{6E310DD8-4D23-494A-9745-A7BA26DAFE5D}" type="slidenum">
              <a:rPr lang="en-US" smtClean="0">
                <a:solidFill>
                  <a:prstClr val="black">
                    <a:tint val="75000"/>
                  </a:prstClr>
                </a:solidFill>
              </a:rPr>
              <a:pPr/>
              <a:t>25</a:t>
            </a:fld>
            <a:endParaRPr lang="en-US" dirty="0">
              <a:solidFill>
                <a:prstClr val="black">
                  <a:tint val="75000"/>
                </a:prstClr>
              </a:solidFill>
            </a:endParaRPr>
          </a:p>
        </p:txBody>
      </p:sp>
    </p:spTree>
    <p:extLst>
      <p:ext uri="{BB962C8B-B14F-4D97-AF65-F5344CB8AC3E}">
        <p14:creationId xmlns:p14="http://schemas.microsoft.com/office/powerpoint/2010/main" val="3293440442"/>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12519" y="1361926"/>
            <a:ext cx="7718962" cy="1169945"/>
          </a:xfrm>
        </p:spPr>
        <p:txBody>
          <a:bodyPr>
            <a:normAutofit fontScale="90000"/>
          </a:bodyPr>
          <a:lstStyle/>
          <a:p>
            <a:r>
              <a:rPr lang="en-US" b="1" dirty="0">
                <a:ln w="0"/>
                <a:solidFill>
                  <a:schemeClr val="tx1">
                    <a:lumMod val="65000"/>
                    <a:lumOff val="35000"/>
                  </a:schemeClr>
                </a:solidFill>
                <a:effectLst>
                  <a:outerShdw blurRad="38100" dist="38100" dir="2700000" algn="tl">
                    <a:srgbClr val="000000">
                      <a:alpha val="43137"/>
                    </a:srgbClr>
                  </a:outerShdw>
                </a:effectLst>
              </a:rPr>
              <a:t>Development of Monte Carlo code for the estimation of </a:t>
            </a:r>
            <a:r>
              <a:rPr lang="en-US" b="1" dirty="0" err="1">
                <a:ln w="0"/>
                <a:solidFill>
                  <a:schemeClr val="tx1">
                    <a:lumMod val="65000"/>
                    <a:lumOff val="35000"/>
                  </a:schemeClr>
                </a:solidFill>
                <a:effectLst>
                  <a:outerShdw blurRad="38100" dist="38100" dir="2700000" algn="tl">
                    <a:srgbClr val="000000">
                      <a:alpha val="43137"/>
                    </a:srgbClr>
                  </a:outerShdw>
                </a:effectLst>
              </a:rPr>
              <a:t>K</a:t>
            </a:r>
            <a:r>
              <a:rPr lang="en-US" b="1" baseline="-25000" dirty="0" err="1">
                <a:ln w="0"/>
                <a:solidFill>
                  <a:schemeClr val="tx1">
                    <a:lumMod val="65000"/>
                    <a:lumOff val="35000"/>
                  </a:schemeClr>
                </a:solidFill>
                <a:effectLst>
                  <a:outerShdw blurRad="38100" dist="38100" dir="2700000" algn="tl">
                    <a:srgbClr val="000000">
                      <a:alpha val="43137"/>
                    </a:srgbClr>
                  </a:outerShdw>
                </a:effectLst>
              </a:rPr>
              <a:t>eff</a:t>
            </a:r>
            <a:r>
              <a:rPr lang="en-US" b="1" baseline="-25000" dirty="0">
                <a:ln w="0"/>
                <a:solidFill>
                  <a:schemeClr val="tx1">
                    <a:lumMod val="65000"/>
                    <a:lumOff val="35000"/>
                  </a:schemeClr>
                </a:solidFill>
                <a:effectLst>
                  <a:outerShdw blurRad="38100" dist="38100" dir="2700000" algn="tl">
                    <a:srgbClr val="000000">
                      <a:alpha val="43137"/>
                    </a:srgbClr>
                  </a:outerShdw>
                </a:effectLst>
              </a:rPr>
              <a:t> </a:t>
            </a:r>
            <a:endParaRPr lang="en-US" sz="4400" i="1" baseline="-25000" dirty="0">
              <a:ln w="0"/>
              <a:solidFill>
                <a:schemeClr val="tx1">
                  <a:lumMod val="65000"/>
                  <a:lumOff val="35000"/>
                </a:schemeClr>
              </a:solidFill>
              <a:effectLst>
                <a:outerShdw blurRad="38100" dist="38100" dir="2700000" algn="tl">
                  <a:srgbClr val="000000">
                    <a:alpha val="43137"/>
                  </a:srgbClr>
                </a:outerShdw>
              </a:effectLst>
            </a:endParaRPr>
          </a:p>
        </p:txBody>
      </p:sp>
      <p:sp>
        <p:nvSpPr>
          <p:cNvPr id="3" name="TextBox 2"/>
          <p:cNvSpPr txBox="1"/>
          <p:nvPr/>
        </p:nvSpPr>
        <p:spPr>
          <a:xfrm>
            <a:off x="919563" y="3453244"/>
            <a:ext cx="1676400" cy="584775"/>
          </a:xfrm>
          <a:prstGeom prst="rect">
            <a:avLst/>
          </a:prstGeom>
          <a:noFill/>
        </p:spPr>
        <p:txBody>
          <a:bodyPr wrap="square" rtlCol="0">
            <a:spAutoFit/>
          </a:bodyPr>
          <a:lstStyle/>
          <a:p>
            <a:r>
              <a:rPr lang="en-US" sz="1600" b="1" dirty="0" err="1"/>
              <a:t>Sachin</a:t>
            </a:r>
            <a:r>
              <a:rPr lang="en-US" sz="1600" b="1" dirty="0"/>
              <a:t>.</a:t>
            </a:r>
          </a:p>
          <a:p>
            <a:r>
              <a:rPr lang="en-US" sz="1600" dirty="0"/>
              <a:t>JFR, MCNS.</a:t>
            </a:r>
          </a:p>
        </p:txBody>
      </p:sp>
      <p:sp>
        <p:nvSpPr>
          <p:cNvPr id="5" name="Rectangle 4"/>
          <p:cNvSpPr>
            <a:spLocks noChangeArrowheads="1"/>
          </p:cNvSpPr>
          <p:nvPr/>
        </p:nvSpPr>
        <p:spPr bwMode="auto">
          <a:xfrm>
            <a:off x="1" y="501134"/>
            <a:ext cx="184731" cy="3693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US" dirty="0"/>
          </a:p>
        </p:txBody>
      </p:sp>
      <p:cxnSp>
        <p:nvCxnSpPr>
          <p:cNvPr id="8" name="Line 6"/>
          <p:cNvCxnSpPr>
            <a:cxnSpLocks noChangeShapeType="1"/>
          </p:cNvCxnSpPr>
          <p:nvPr/>
        </p:nvCxnSpPr>
        <p:spPr bwMode="auto">
          <a:xfrm>
            <a:off x="2038862" y="-9477372"/>
            <a:ext cx="67437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headEnd/>
                <a:tailEnd/>
              </a14:hiddenLine>
            </a:ext>
          </a:extLst>
        </p:spPr>
      </p:cxnSp>
      <p:sp>
        <p:nvSpPr>
          <p:cNvPr id="9" name="Rectangle 6"/>
          <p:cNvSpPr>
            <a:spLocks noChangeArrowheads="1"/>
          </p:cNvSpPr>
          <p:nvPr/>
        </p:nvSpPr>
        <p:spPr bwMode="auto">
          <a:xfrm>
            <a:off x="919564" y="4728736"/>
            <a:ext cx="7183037" cy="95410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eaLnBrk="0" fontAlgn="base" hangingPunct="0">
              <a:spcBef>
                <a:spcPct val="0"/>
              </a:spcBef>
              <a:spcAft>
                <a:spcPct val="0"/>
              </a:spcAft>
            </a:pPr>
            <a:r>
              <a:rPr lang="en-US" altLang="en-US" sz="1400" dirty="0">
                <a:solidFill>
                  <a:srgbClr val="000000"/>
                </a:solidFill>
                <a:latin typeface="Arial" panose="020B0604020202020204" pitchFamily="34" charset="0"/>
                <a:ea typeface="Times New Roman" panose="02020603050405020304" pitchFamily="18" charset="0"/>
              </a:rPr>
              <a:t>This work carried out under BRNS Project:</a:t>
            </a:r>
          </a:p>
          <a:p>
            <a:pPr eaLnBrk="0" fontAlgn="base" hangingPunct="0">
              <a:spcBef>
                <a:spcPct val="0"/>
              </a:spcBef>
              <a:spcAft>
                <a:spcPct val="0"/>
              </a:spcAft>
            </a:pPr>
            <a:endParaRPr lang="en-US" altLang="en-US" sz="1400" dirty="0">
              <a:solidFill>
                <a:srgbClr val="000000"/>
              </a:solidFill>
              <a:latin typeface="Arial" panose="020B0604020202020204" pitchFamily="34" charset="0"/>
              <a:ea typeface="Times New Roman" panose="02020603050405020304" pitchFamily="18" charset="0"/>
            </a:endParaRPr>
          </a:p>
          <a:p>
            <a:pPr lvl="0" eaLnBrk="0" fontAlgn="base" hangingPunct="0">
              <a:spcBef>
                <a:spcPct val="0"/>
              </a:spcBef>
              <a:spcAft>
                <a:spcPct val="0"/>
              </a:spcAft>
            </a:pPr>
            <a:r>
              <a:rPr lang="en-US" altLang="en-US" sz="1400" b="1" dirty="0">
                <a:solidFill>
                  <a:srgbClr val="000000"/>
                </a:solidFill>
                <a:latin typeface="Arial" panose="020B0604020202020204" pitchFamily="34" charset="0"/>
                <a:ea typeface="Times New Roman" panose="02020603050405020304" pitchFamily="18" charset="0"/>
              </a:rPr>
              <a:t>Development of indigenous Monte Carlo code for estimation of k</a:t>
            </a:r>
            <a:r>
              <a:rPr lang="en-US" altLang="en-US" sz="1400" b="1" baseline="-30000" dirty="0">
                <a:solidFill>
                  <a:srgbClr val="000000"/>
                </a:solidFill>
                <a:latin typeface="Arial" panose="020B0604020202020204" pitchFamily="34" charset="0"/>
                <a:ea typeface="Times New Roman" panose="02020603050405020304" pitchFamily="18" charset="0"/>
              </a:rPr>
              <a:t>eff</a:t>
            </a:r>
            <a:r>
              <a:rPr lang="en-US" altLang="en-US" sz="1400" b="1" dirty="0">
                <a:solidFill>
                  <a:srgbClr val="000000"/>
                </a:solidFill>
                <a:latin typeface="Arial" panose="020B0604020202020204" pitchFamily="34" charset="0"/>
                <a:ea typeface="Times New Roman" panose="02020603050405020304" pitchFamily="18" charset="0"/>
              </a:rPr>
              <a:t> in nuclear fuel cycle facilities.(</a:t>
            </a:r>
            <a:r>
              <a:rPr lang="en-US" sz="1400" b="1" dirty="0"/>
              <a:t>Project Ref. No. :36(4)/14/40/2015/36007 )</a:t>
            </a:r>
            <a:endParaRPr lang="en-US" altLang="en-US" sz="1400" b="1" dirty="0">
              <a:solidFill>
                <a:srgbClr val="000000"/>
              </a:solidFill>
              <a:latin typeface="Arial" panose="020B0604020202020204" pitchFamily="34" charset="0"/>
              <a:ea typeface="Times New Roman" panose="02020603050405020304" pitchFamily="18" charset="0"/>
            </a:endParaRPr>
          </a:p>
        </p:txBody>
      </p:sp>
      <p:sp>
        <p:nvSpPr>
          <p:cNvPr id="4" name="AutoShape 2" descr="https://lh5.googleusercontent.com/proxy/0uEZ981RufkkPaPCre7GTCl4AxGK2vEfEy05dTYd5uL7MuTnb3royDaEQ_T1OOS6hiN6a_8FKmtN_XYk-6RgsYD7fnp7BfWcEnZCfpU8zVGVqEu1qh1bHjtcMAQ3f79z61EF7ohdPohI7K0NpmADUnL3LecVX5RDo_6dvaSpxnmjjfo1DLpTJx0ArrcVnJqOQmHXDASRuFr4C6I1eWEhu8JxGw-eNsCdc9Gyh2dkW_xGiSVkzTGLYdTugE8Gdz5DSuWlvz8XvqA9NoNvAfedLnpYuv_3sd1qEpg-slNxKNGRIIPY_8QEoy6lB9cAXrZyGX68kTK0ZqDCd4gMUorFzgA30b_07sKkaBobBBGCmQh41smN5zQtp_170bmYDwPkJVsspFnnUK2L5qnnL0kCxa2W2C68XSZS63Hq8rO0wusltFYw2IsS4ZxhYAaiFtLWW4qTCgYx_i0hGWKHMsh3BVICaraAfw=w5000-h5000"/>
          <p:cNvSpPr>
            <a:spLocks noChangeAspect="1" noChangeArrowheads="1"/>
          </p:cNvSpPr>
          <p:nvPr/>
        </p:nvSpPr>
        <p:spPr bwMode="auto">
          <a:xfrm>
            <a:off x="179325" y="-228600"/>
            <a:ext cx="5410200" cy="1438275"/>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en-US"/>
          </a:p>
        </p:txBody>
      </p:sp>
    </p:spTree>
    <p:extLst>
      <p:ext uri="{BB962C8B-B14F-4D97-AF65-F5344CB8AC3E}">
        <p14:creationId xmlns:p14="http://schemas.microsoft.com/office/powerpoint/2010/main" val="47607694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0" y="457202"/>
            <a:ext cx="9144000" cy="647698"/>
          </a:xfrm>
          <a:solidFill>
            <a:schemeClr val="bg1">
              <a:lumMod val="85000"/>
            </a:schemeClr>
          </a:solidFill>
        </p:spPr>
        <p:txBody>
          <a:bodyPr>
            <a:normAutofit/>
          </a:bodyPr>
          <a:lstStyle/>
          <a:p>
            <a:r>
              <a:rPr lang="en-US" sz="3200" b="1" dirty="0"/>
              <a:t>        Outline</a:t>
            </a:r>
          </a:p>
        </p:txBody>
      </p:sp>
      <p:sp>
        <p:nvSpPr>
          <p:cNvPr id="3" name="Content Placeholder 2"/>
          <p:cNvSpPr>
            <a:spLocks noGrp="1"/>
          </p:cNvSpPr>
          <p:nvPr>
            <p:ph idx="1"/>
          </p:nvPr>
        </p:nvSpPr>
        <p:spPr>
          <a:xfrm>
            <a:off x="596946" y="1938208"/>
            <a:ext cx="7950108" cy="2846228"/>
          </a:xfrm>
        </p:spPr>
        <p:txBody>
          <a:bodyPr>
            <a:noAutofit/>
          </a:bodyPr>
          <a:lstStyle/>
          <a:p>
            <a:pPr>
              <a:lnSpc>
                <a:spcPct val="100000"/>
              </a:lnSpc>
            </a:pPr>
            <a:r>
              <a:rPr lang="en-US" sz="2400" dirty="0"/>
              <a:t>Monte Carlo method</a:t>
            </a:r>
          </a:p>
          <a:p>
            <a:pPr>
              <a:lnSpc>
                <a:spcPct val="100000"/>
              </a:lnSpc>
            </a:pPr>
            <a:r>
              <a:rPr lang="en-US" sz="2400" dirty="0"/>
              <a:t>Neutron multiplication factor of a system ( </a:t>
            </a:r>
            <a:r>
              <a:rPr lang="en-US" sz="2400" dirty="0" err="1"/>
              <a:t>k</a:t>
            </a:r>
            <a:r>
              <a:rPr lang="en-US" sz="2400" baseline="-25000" dirty="0" err="1"/>
              <a:t>eff</a:t>
            </a:r>
            <a:r>
              <a:rPr lang="en-US" sz="2400" dirty="0"/>
              <a:t> )</a:t>
            </a:r>
          </a:p>
          <a:p>
            <a:pPr>
              <a:lnSpc>
                <a:spcPct val="100000"/>
              </a:lnSpc>
            </a:pPr>
            <a:r>
              <a:rPr lang="en-US" sz="2400" dirty="0"/>
              <a:t>Introduction and Explanation of developed code </a:t>
            </a:r>
          </a:p>
          <a:p>
            <a:pPr>
              <a:lnSpc>
                <a:spcPct val="100000"/>
              </a:lnSpc>
            </a:pPr>
            <a:r>
              <a:rPr lang="en-US" sz="2400" dirty="0"/>
              <a:t>Solved problems and results</a:t>
            </a:r>
          </a:p>
          <a:p>
            <a:pPr>
              <a:lnSpc>
                <a:spcPct val="100000"/>
              </a:lnSpc>
            </a:pPr>
            <a:r>
              <a:rPr lang="en-US" sz="2400" dirty="0"/>
              <a:t>Plan of further development</a:t>
            </a:r>
          </a:p>
        </p:txBody>
      </p:sp>
    </p:spTree>
    <p:extLst>
      <p:ext uri="{BB962C8B-B14F-4D97-AF65-F5344CB8AC3E}">
        <p14:creationId xmlns:p14="http://schemas.microsoft.com/office/powerpoint/2010/main" val="181269087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2487567" y="1453355"/>
                <a:ext cx="5625652" cy="503915"/>
              </a:xfrm>
            </p:spPr>
            <p:txBody>
              <a:bodyPr>
                <a:normAutofit/>
              </a:bodyPr>
              <a:lstStyle/>
              <a:p>
                <a:pPr marL="0" indent="0">
                  <a:buNone/>
                </a:pPr>
                <a:r>
                  <a:rPr lang="en-US" sz="1800" dirty="0"/>
                  <a:t>Probability of getting head or tail  is   </a:t>
                </a:r>
                <a14:m>
                  <m:oMath xmlns:m="http://schemas.openxmlformats.org/officeDocument/2006/math">
                    <m:f>
                      <m:fPr>
                        <m:ctrlPr>
                          <a:rPr lang="en-US" sz="1800" i="1">
                            <a:latin typeface="Cambria Math" panose="02040503050406030204" pitchFamily="18" charset="0"/>
                          </a:rPr>
                        </m:ctrlPr>
                      </m:fPr>
                      <m:num>
                        <m:r>
                          <a:rPr lang="en-US" sz="1800" i="1">
                            <a:latin typeface="Cambria Math" panose="02040503050406030204" pitchFamily="18" charset="0"/>
                          </a:rPr>
                          <m:t>1</m:t>
                        </m:r>
                      </m:num>
                      <m:den>
                        <m:r>
                          <a:rPr lang="en-US" sz="1800" i="1">
                            <a:latin typeface="Cambria Math" panose="02040503050406030204" pitchFamily="18" charset="0"/>
                          </a:rPr>
                          <m:t>2</m:t>
                        </m:r>
                      </m:den>
                    </m:f>
                  </m:oMath>
                </a14:m>
                <a:r>
                  <a:rPr lang="en-US" sz="1800" dirty="0"/>
                  <a:t> </a:t>
                </a:r>
                <a:r>
                  <a:rPr lang="en-US" sz="1400" dirty="0"/>
                  <a:t> = </a:t>
                </a:r>
                <a14:m>
                  <m:oMath xmlns:m="http://schemas.openxmlformats.org/officeDocument/2006/math">
                    <m:f>
                      <m:fPr>
                        <m:ctrlPr>
                          <a:rPr lang="en-US" sz="1800" b="1" i="1">
                            <a:latin typeface="Cambria Math" panose="02040503050406030204" pitchFamily="18" charset="0"/>
                          </a:rPr>
                        </m:ctrlPr>
                      </m:fPr>
                      <m:num>
                        <m:r>
                          <a:rPr lang="en-US" sz="1800" b="1" i="1">
                            <a:latin typeface="Cambria Math" panose="02040503050406030204" pitchFamily="18" charset="0"/>
                          </a:rPr>
                          <m:t> </m:t>
                        </m:r>
                        <m:r>
                          <a:rPr lang="en-US" sz="1800" b="1" i="1">
                            <a:latin typeface="Cambria Math" panose="02040503050406030204" pitchFamily="18" charset="0"/>
                          </a:rPr>
                          <m:t>𝒇𝒂𝒗𝒐𝒓𝒂𝒃𝒍𝒆</m:t>
                        </m:r>
                        <m:r>
                          <a:rPr lang="en-US" sz="1800" b="1" i="1">
                            <a:latin typeface="Cambria Math" panose="02040503050406030204" pitchFamily="18" charset="0"/>
                          </a:rPr>
                          <m:t> </m:t>
                        </m:r>
                        <m:r>
                          <a:rPr lang="en-US" sz="1800" b="1" i="1">
                            <a:latin typeface="Cambria Math" panose="02040503050406030204" pitchFamily="18" charset="0"/>
                          </a:rPr>
                          <m:t>𝒆𝒗𝒆𝒏𝒕𝒔</m:t>
                        </m:r>
                      </m:num>
                      <m:den>
                        <m:r>
                          <a:rPr lang="en-US" sz="1800" b="1" i="1">
                            <a:latin typeface="Cambria Math" panose="02040503050406030204" pitchFamily="18" charset="0"/>
                          </a:rPr>
                          <m:t>𝒕𝒐𝒕𝒂𝒍</m:t>
                        </m:r>
                        <m:r>
                          <a:rPr lang="en-US" sz="1800" b="1" i="1">
                            <a:latin typeface="Cambria Math" panose="02040503050406030204" pitchFamily="18" charset="0"/>
                          </a:rPr>
                          <m:t> </m:t>
                        </m:r>
                        <m:r>
                          <a:rPr lang="en-US" sz="1800" b="1" i="1">
                            <a:latin typeface="Cambria Math" panose="02040503050406030204" pitchFamily="18" charset="0"/>
                          </a:rPr>
                          <m:t>𝒆𝒗𝒆𝒏𝒕𝒔</m:t>
                        </m:r>
                      </m:den>
                    </m:f>
                  </m:oMath>
                </a14:m>
                <a:endParaRPr lang="en-US" b="1" dirty="0">
                  <a:solidFill>
                    <a:schemeClr val="accent2">
                      <a:lumMod val="50000"/>
                    </a:schemeClr>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2487567" y="1453355"/>
                <a:ext cx="5625652" cy="503915"/>
              </a:xfrm>
              <a:blipFill>
                <a:blip r:embed="rId2"/>
                <a:stretch>
                  <a:fillRect l="-867"/>
                </a:stretch>
              </a:blipFill>
            </p:spPr>
            <p:txBody>
              <a:bodyPr/>
              <a:lstStyle/>
              <a:p>
                <a:r>
                  <a:rPr lang="en-IN">
                    <a:noFill/>
                  </a:rPr>
                  <a:t> </a:t>
                </a:r>
              </a:p>
            </p:txBody>
          </p:sp>
        </mc:Fallback>
      </mc:AlternateContent>
      <p:sp>
        <p:nvSpPr>
          <p:cNvPr id="4" name="TextBox 3"/>
          <p:cNvSpPr txBox="1"/>
          <p:nvPr/>
        </p:nvSpPr>
        <p:spPr>
          <a:xfrm>
            <a:off x="323520" y="3904196"/>
            <a:ext cx="3141025" cy="369332"/>
          </a:xfrm>
          <a:prstGeom prst="rect">
            <a:avLst/>
          </a:prstGeom>
          <a:noFill/>
        </p:spPr>
        <p:txBody>
          <a:bodyPr wrap="square" rtlCol="0">
            <a:spAutoFit/>
          </a:bodyPr>
          <a:lstStyle/>
          <a:p>
            <a:r>
              <a:rPr lang="en-US" dirty="0"/>
              <a:t>Let’s toss a coin for 10 times</a:t>
            </a:r>
          </a:p>
        </p:txBody>
      </p:sp>
      <p:sp>
        <p:nvSpPr>
          <p:cNvPr id="15" name="TextBox 14"/>
          <p:cNvSpPr txBox="1"/>
          <p:nvPr/>
        </p:nvSpPr>
        <p:spPr>
          <a:xfrm>
            <a:off x="1191620" y="5058049"/>
            <a:ext cx="1198033" cy="369332"/>
          </a:xfrm>
          <a:prstGeom prst="rect">
            <a:avLst/>
          </a:prstGeom>
          <a:noFill/>
        </p:spPr>
        <p:txBody>
          <a:bodyPr wrap="square" rtlCol="0">
            <a:spAutoFit/>
          </a:bodyPr>
          <a:lstStyle/>
          <a:p>
            <a:r>
              <a:rPr lang="en-US" dirty="0"/>
              <a:t>Randomly</a:t>
            </a:r>
          </a:p>
        </p:txBody>
      </p:sp>
      <p:sp>
        <p:nvSpPr>
          <p:cNvPr id="16" name="TextBox 15"/>
          <p:cNvSpPr txBox="1"/>
          <p:nvPr/>
        </p:nvSpPr>
        <p:spPr>
          <a:xfrm>
            <a:off x="4808311" y="2015840"/>
            <a:ext cx="3430615" cy="461665"/>
          </a:xfrm>
          <a:prstGeom prst="rect">
            <a:avLst/>
          </a:prstGeom>
          <a:noFill/>
        </p:spPr>
        <p:txBody>
          <a:bodyPr wrap="square" rtlCol="0">
            <a:spAutoFit/>
          </a:bodyPr>
          <a:lstStyle/>
          <a:p>
            <a:r>
              <a:rPr lang="en-US" sz="2400" b="1" dirty="0"/>
              <a:t>Random numbers </a:t>
            </a:r>
            <a:r>
              <a:rPr lang="en-US" dirty="0"/>
              <a:t>( 0 to 1 )</a:t>
            </a:r>
          </a:p>
        </p:txBody>
      </p:sp>
      <p:sp>
        <p:nvSpPr>
          <p:cNvPr id="17" name="Oval 16"/>
          <p:cNvSpPr/>
          <p:nvPr/>
        </p:nvSpPr>
        <p:spPr>
          <a:xfrm>
            <a:off x="277220" y="4411230"/>
            <a:ext cx="283633" cy="2860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44" name="Oval 43"/>
          <p:cNvSpPr/>
          <p:nvPr/>
        </p:nvSpPr>
        <p:spPr>
          <a:xfrm>
            <a:off x="582020" y="4411230"/>
            <a:ext cx="283633" cy="2860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45" name="Oval 44"/>
          <p:cNvSpPr/>
          <p:nvPr/>
        </p:nvSpPr>
        <p:spPr>
          <a:xfrm>
            <a:off x="886820" y="4411230"/>
            <a:ext cx="283633" cy="2860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46" name="Oval 45"/>
          <p:cNvSpPr/>
          <p:nvPr/>
        </p:nvSpPr>
        <p:spPr>
          <a:xfrm>
            <a:off x="1191620" y="4411229"/>
            <a:ext cx="283633" cy="2860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47" name="Oval 46"/>
          <p:cNvSpPr/>
          <p:nvPr/>
        </p:nvSpPr>
        <p:spPr>
          <a:xfrm>
            <a:off x="1496420" y="4411229"/>
            <a:ext cx="283633" cy="2860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48" name="Oval 47"/>
          <p:cNvSpPr/>
          <p:nvPr/>
        </p:nvSpPr>
        <p:spPr>
          <a:xfrm>
            <a:off x="1801220" y="4411229"/>
            <a:ext cx="283633" cy="2860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49" name="Oval 48"/>
          <p:cNvSpPr/>
          <p:nvPr/>
        </p:nvSpPr>
        <p:spPr>
          <a:xfrm>
            <a:off x="2106020" y="4411229"/>
            <a:ext cx="283633" cy="2860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sp>
        <p:nvSpPr>
          <p:cNvPr id="50" name="Oval 49"/>
          <p:cNvSpPr/>
          <p:nvPr/>
        </p:nvSpPr>
        <p:spPr>
          <a:xfrm>
            <a:off x="2410820" y="4411228"/>
            <a:ext cx="283633" cy="2860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51" name="Oval 50"/>
          <p:cNvSpPr/>
          <p:nvPr/>
        </p:nvSpPr>
        <p:spPr>
          <a:xfrm>
            <a:off x="3062754" y="4414919"/>
            <a:ext cx="283633" cy="286027"/>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H</a:t>
            </a:r>
          </a:p>
        </p:txBody>
      </p:sp>
      <p:sp>
        <p:nvSpPr>
          <p:cNvPr id="52" name="Oval 51"/>
          <p:cNvSpPr/>
          <p:nvPr/>
        </p:nvSpPr>
        <p:spPr>
          <a:xfrm>
            <a:off x="2736787" y="4407202"/>
            <a:ext cx="283633" cy="286027"/>
          </a:xfrm>
          <a:prstGeom prst="ellipse">
            <a:avLst/>
          </a:prstGeom>
          <a:solidFill>
            <a:schemeClr val="accent2"/>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t>T</a:t>
            </a:r>
          </a:p>
        </p:txBody>
      </p:sp>
      <p:pic>
        <p:nvPicPr>
          <p:cNvPr id="18" name="Picture 17"/>
          <p:cNvPicPr>
            <a:picLocks noChangeAspect="1"/>
          </p:cNvPicPr>
          <p:nvPr/>
        </p:nvPicPr>
        <p:blipFill rotWithShape="1">
          <a:blip r:embed="rId3">
            <a:extLst>
              <a:ext uri="{28A0092B-C50C-407E-A947-70E740481C1C}">
                <a14:useLocalDpi xmlns:a14="http://schemas.microsoft.com/office/drawing/2010/main" val="0"/>
              </a:ext>
            </a:extLst>
          </a:blip>
          <a:srcRect r="12978"/>
          <a:stretch/>
        </p:blipFill>
        <p:spPr>
          <a:xfrm flipH="1">
            <a:off x="760929" y="1801743"/>
            <a:ext cx="1495217" cy="1447544"/>
          </a:xfrm>
          <a:prstGeom prst="rect">
            <a:avLst/>
          </a:prstGeom>
          <a:noFill/>
          <a:ln>
            <a:noFill/>
          </a:ln>
        </p:spPr>
      </p:pic>
      <p:sp>
        <p:nvSpPr>
          <p:cNvPr id="5" name="TextBox 4"/>
          <p:cNvSpPr txBox="1"/>
          <p:nvPr/>
        </p:nvSpPr>
        <p:spPr>
          <a:xfrm>
            <a:off x="507855" y="3354278"/>
            <a:ext cx="2695254" cy="461665"/>
          </a:xfrm>
          <a:prstGeom prst="rect">
            <a:avLst/>
          </a:prstGeom>
          <a:noFill/>
        </p:spPr>
        <p:txBody>
          <a:bodyPr wrap="square" rtlCol="0">
            <a:spAutoFit/>
          </a:bodyPr>
          <a:lstStyle/>
          <a:p>
            <a:r>
              <a:rPr lang="en-US" sz="2400" u="sng" dirty="0">
                <a:solidFill>
                  <a:schemeClr val="accent2">
                    <a:lumMod val="50000"/>
                  </a:schemeClr>
                </a:solidFill>
              </a:rPr>
              <a:t>Tossing a coin:</a:t>
            </a:r>
            <a:endParaRPr lang="en-US" sz="2400" dirty="0"/>
          </a:p>
        </p:txBody>
      </p:sp>
      <p:cxnSp>
        <p:nvCxnSpPr>
          <p:cNvPr id="9" name="Straight Arrow Connector 8"/>
          <p:cNvCxnSpPr/>
          <p:nvPr/>
        </p:nvCxnSpPr>
        <p:spPr>
          <a:xfrm flipH="1" flipV="1">
            <a:off x="4708704" y="2658842"/>
            <a:ext cx="10053" cy="115710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a:stCxn id="28" idx="3"/>
          </p:cNvCxnSpPr>
          <p:nvPr/>
        </p:nvCxnSpPr>
        <p:spPr>
          <a:xfrm>
            <a:off x="4659595" y="3727721"/>
            <a:ext cx="1706610" cy="6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5" name="TextBox 24"/>
          <p:cNvSpPr txBox="1"/>
          <p:nvPr/>
        </p:nvSpPr>
        <p:spPr>
          <a:xfrm>
            <a:off x="3941059" y="2999255"/>
            <a:ext cx="767644" cy="369332"/>
          </a:xfrm>
          <a:prstGeom prst="rect">
            <a:avLst/>
          </a:prstGeom>
          <a:noFill/>
        </p:spPr>
        <p:txBody>
          <a:bodyPr wrap="square" rtlCol="0">
            <a:spAutoFit/>
          </a:bodyPr>
          <a:lstStyle/>
          <a:p>
            <a:r>
              <a:rPr lang="en-US" dirty="0"/>
              <a:t>P(x)</a:t>
            </a:r>
          </a:p>
        </p:txBody>
      </p:sp>
      <p:sp>
        <p:nvSpPr>
          <p:cNvPr id="28" name="TextBox 27"/>
          <p:cNvSpPr txBox="1"/>
          <p:nvPr/>
        </p:nvSpPr>
        <p:spPr>
          <a:xfrm>
            <a:off x="4378609" y="3543054"/>
            <a:ext cx="280986" cy="369332"/>
          </a:xfrm>
          <a:prstGeom prst="rect">
            <a:avLst/>
          </a:prstGeom>
          <a:noFill/>
        </p:spPr>
        <p:txBody>
          <a:bodyPr wrap="square" rtlCol="0">
            <a:spAutoFit/>
          </a:bodyPr>
          <a:lstStyle/>
          <a:p>
            <a:r>
              <a:rPr lang="en-US" dirty="0"/>
              <a:t>0</a:t>
            </a:r>
          </a:p>
        </p:txBody>
      </p:sp>
      <p:sp>
        <p:nvSpPr>
          <p:cNvPr id="60" name="TextBox 59"/>
          <p:cNvSpPr txBox="1"/>
          <p:nvPr/>
        </p:nvSpPr>
        <p:spPr>
          <a:xfrm>
            <a:off x="4422383" y="2532618"/>
            <a:ext cx="280986" cy="369332"/>
          </a:xfrm>
          <a:prstGeom prst="rect">
            <a:avLst/>
          </a:prstGeom>
          <a:noFill/>
        </p:spPr>
        <p:txBody>
          <a:bodyPr wrap="square" rtlCol="0">
            <a:spAutoFit/>
          </a:bodyPr>
          <a:lstStyle/>
          <a:p>
            <a:r>
              <a:rPr lang="en-US" dirty="0"/>
              <a:t>1</a:t>
            </a:r>
          </a:p>
        </p:txBody>
      </p:sp>
      <p:cxnSp>
        <p:nvCxnSpPr>
          <p:cNvPr id="32" name="Straight Connector 31"/>
          <p:cNvCxnSpPr/>
          <p:nvPr/>
        </p:nvCxnSpPr>
        <p:spPr>
          <a:xfrm flipV="1">
            <a:off x="5181600" y="3176159"/>
            <a:ext cx="0" cy="561187"/>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2" name="Straight Connector 61"/>
          <p:cNvCxnSpPr/>
          <p:nvPr/>
        </p:nvCxnSpPr>
        <p:spPr>
          <a:xfrm flipV="1">
            <a:off x="5683956" y="3172985"/>
            <a:ext cx="0" cy="561187"/>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63" name="TextBox 62"/>
          <p:cNvSpPr txBox="1"/>
          <p:nvPr/>
        </p:nvSpPr>
        <p:spPr>
          <a:xfrm>
            <a:off x="4945810" y="2854727"/>
            <a:ext cx="486969" cy="338554"/>
          </a:xfrm>
          <a:prstGeom prst="rect">
            <a:avLst/>
          </a:prstGeom>
          <a:noFill/>
        </p:spPr>
        <p:txBody>
          <a:bodyPr wrap="square" rtlCol="0">
            <a:spAutoFit/>
          </a:bodyPr>
          <a:lstStyle/>
          <a:p>
            <a:r>
              <a:rPr lang="en-US" sz="1600" dirty="0"/>
              <a:t>0.5</a:t>
            </a:r>
          </a:p>
        </p:txBody>
      </p:sp>
      <p:sp>
        <p:nvSpPr>
          <p:cNvPr id="64" name="TextBox 63"/>
          <p:cNvSpPr txBox="1"/>
          <p:nvPr/>
        </p:nvSpPr>
        <p:spPr>
          <a:xfrm>
            <a:off x="5486400" y="2834430"/>
            <a:ext cx="484804" cy="338554"/>
          </a:xfrm>
          <a:prstGeom prst="rect">
            <a:avLst/>
          </a:prstGeom>
          <a:noFill/>
        </p:spPr>
        <p:txBody>
          <a:bodyPr wrap="square" rtlCol="0">
            <a:spAutoFit/>
          </a:bodyPr>
          <a:lstStyle/>
          <a:p>
            <a:r>
              <a:rPr lang="en-US" sz="1600" dirty="0"/>
              <a:t>0.5</a:t>
            </a:r>
          </a:p>
        </p:txBody>
      </p:sp>
      <p:sp>
        <p:nvSpPr>
          <p:cNvPr id="65" name="TextBox 64"/>
          <p:cNvSpPr txBox="1"/>
          <p:nvPr/>
        </p:nvSpPr>
        <p:spPr>
          <a:xfrm>
            <a:off x="5556674" y="3722515"/>
            <a:ext cx="280986" cy="369332"/>
          </a:xfrm>
          <a:prstGeom prst="rect">
            <a:avLst/>
          </a:prstGeom>
          <a:noFill/>
        </p:spPr>
        <p:txBody>
          <a:bodyPr wrap="square" rtlCol="0">
            <a:spAutoFit/>
          </a:bodyPr>
          <a:lstStyle/>
          <a:p>
            <a:r>
              <a:rPr lang="en-US" b="1" dirty="0">
                <a:solidFill>
                  <a:schemeClr val="accent2">
                    <a:lumMod val="75000"/>
                  </a:schemeClr>
                </a:solidFill>
              </a:rPr>
              <a:t>T</a:t>
            </a:r>
          </a:p>
        </p:txBody>
      </p:sp>
      <p:sp>
        <p:nvSpPr>
          <p:cNvPr id="66" name="TextBox 65"/>
          <p:cNvSpPr txBox="1"/>
          <p:nvPr/>
        </p:nvSpPr>
        <p:spPr>
          <a:xfrm>
            <a:off x="5017132" y="3722515"/>
            <a:ext cx="280986" cy="369332"/>
          </a:xfrm>
          <a:prstGeom prst="rect">
            <a:avLst/>
          </a:prstGeom>
          <a:noFill/>
        </p:spPr>
        <p:txBody>
          <a:bodyPr wrap="square" rtlCol="0">
            <a:spAutoFit/>
          </a:bodyPr>
          <a:lstStyle/>
          <a:p>
            <a:r>
              <a:rPr lang="en-US" b="1" dirty="0">
                <a:solidFill>
                  <a:schemeClr val="accent1">
                    <a:lumMod val="75000"/>
                  </a:schemeClr>
                </a:solidFill>
              </a:rPr>
              <a:t>H</a:t>
            </a:r>
          </a:p>
        </p:txBody>
      </p:sp>
      <p:cxnSp>
        <p:nvCxnSpPr>
          <p:cNvPr id="67" name="Straight Arrow Connector 66"/>
          <p:cNvCxnSpPr/>
          <p:nvPr/>
        </p:nvCxnSpPr>
        <p:spPr>
          <a:xfrm flipH="1" flipV="1">
            <a:off x="7033714" y="2532619"/>
            <a:ext cx="2102" cy="1283325"/>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68" name="Straight Arrow Connector 67"/>
          <p:cNvCxnSpPr>
            <a:stCxn id="70" idx="3"/>
          </p:cNvCxnSpPr>
          <p:nvPr/>
        </p:nvCxnSpPr>
        <p:spPr>
          <a:xfrm>
            <a:off x="6994908" y="3727721"/>
            <a:ext cx="1706610" cy="6451"/>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70" name="TextBox 69"/>
          <p:cNvSpPr txBox="1"/>
          <p:nvPr/>
        </p:nvSpPr>
        <p:spPr>
          <a:xfrm>
            <a:off x="6713922" y="3543054"/>
            <a:ext cx="280986" cy="369332"/>
          </a:xfrm>
          <a:prstGeom prst="rect">
            <a:avLst/>
          </a:prstGeom>
          <a:noFill/>
        </p:spPr>
        <p:txBody>
          <a:bodyPr wrap="square" rtlCol="0">
            <a:spAutoFit/>
          </a:bodyPr>
          <a:lstStyle/>
          <a:p>
            <a:r>
              <a:rPr lang="en-US" dirty="0"/>
              <a:t>0</a:t>
            </a:r>
          </a:p>
        </p:txBody>
      </p:sp>
      <p:sp>
        <p:nvSpPr>
          <p:cNvPr id="71" name="TextBox 70"/>
          <p:cNvSpPr txBox="1"/>
          <p:nvPr/>
        </p:nvSpPr>
        <p:spPr>
          <a:xfrm>
            <a:off x="6717889" y="2453033"/>
            <a:ext cx="280986" cy="369332"/>
          </a:xfrm>
          <a:prstGeom prst="rect">
            <a:avLst/>
          </a:prstGeom>
          <a:noFill/>
        </p:spPr>
        <p:txBody>
          <a:bodyPr wrap="square" rtlCol="0">
            <a:spAutoFit/>
          </a:bodyPr>
          <a:lstStyle/>
          <a:p>
            <a:r>
              <a:rPr lang="en-US" dirty="0"/>
              <a:t>1</a:t>
            </a:r>
          </a:p>
        </p:txBody>
      </p:sp>
      <p:cxnSp>
        <p:nvCxnSpPr>
          <p:cNvPr id="72" name="Straight Connector 71"/>
          <p:cNvCxnSpPr/>
          <p:nvPr/>
        </p:nvCxnSpPr>
        <p:spPr>
          <a:xfrm flipV="1">
            <a:off x="7498659" y="3193281"/>
            <a:ext cx="6166" cy="53444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3" name="Straight Connector 72"/>
          <p:cNvCxnSpPr/>
          <p:nvPr/>
        </p:nvCxnSpPr>
        <p:spPr>
          <a:xfrm flipV="1">
            <a:off x="8032647" y="2658842"/>
            <a:ext cx="2807" cy="523703"/>
          </a:xfrm>
          <a:prstGeom prst="line">
            <a:avLst/>
          </a:prstGeom>
          <a:ln w="57150">
            <a:solidFill>
              <a:schemeClr val="accent2">
                <a:lumMod val="75000"/>
              </a:schemeClr>
            </a:solidFill>
          </a:ln>
        </p:spPr>
        <p:style>
          <a:lnRef idx="1">
            <a:schemeClr val="accent1"/>
          </a:lnRef>
          <a:fillRef idx="0">
            <a:schemeClr val="accent1"/>
          </a:fillRef>
          <a:effectRef idx="0">
            <a:schemeClr val="accent1"/>
          </a:effectRef>
          <a:fontRef idx="minor">
            <a:schemeClr val="tx1"/>
          </a:fontRef>
        </p:style>
      </p:cxnSp>
      <p:sp>
        <p:nvSpPr>
          <p:cNvPr id="76" name="TextBox 75"/>
          <p:cNvSpPr txBox="1"/>
          <p:nvPr/>
        </p:nvSpPr>
        <p:spPr>
          <a:xfrm>
            <a:off x="8113219" y="2736026"/>
            <a:ext cx="280986" cy="369332"/>
          </a:xfrm>
          <a:prstGeom prst="rect">
            <a:avLst/>
          </a:prstGeom>
          <a:noFill/>
        </p:spPr>
        <p:txBody>
          <a:bodyPr wrap="square" rtlCol="0">
            <a:spAutoFit/>
          </a:bodyPr>
          <a:lstStyle/>
          <a:p>
            <a:r>
              <a:rPr lang="en-US" b="1" dirty="0">
                <a:solidFill>
                  <a:schemeClr val="accent2">
                    <a:lumMod val="75000"/>
                  </a:schemeClr>
                </a:solidFill>
              </a:rPr>
              <a:t>T</a:t>
            </a:r>
          </a:p>
        </p:txBody>
      </p:sp>
      <p:sp>
        <p:nvSpPr>
          <p:cNvPr id="77" name="TextBox 76"/>
          <p:cNvSpPr txBox="1"/>
          <p:nvPr/>
        </p:nvSpPr>
        <p:spPr>
          <a:xfrm>
            <a:off x="7522464" y="3266055"/>
            <a:ext cx="280986" cy="369332"/>
          </a:xfrm>
          <a:prstGeom prst="rect">
            <a:avLst/>
          </a:prstGeom>
          <a:noFill/>
        </p:spPr>
        <p:txBody>
          <a:bodyPr wrap="square" rtlCol="0">
            <a:spAutoFit/>
          </a:bodyPr>
          <a:lstStyle/>
          <a:p>
            <a:r>
              <a:rPr lang="en-US" b="1" dirty="0">
                <a:solidFill>
                  <a:schemeClr val="accent1">
                    <a:lumMod val="75000"/>
                  </a:schemeClr>
                </a:solidFill>
              </a:rPr>
              <a:t>H</a:t>
            </a:r>
          </a:p>
        </p:txBody>
      </p:sp>
      <p:cxnSp>
        <p:nvCxnSpPr>
          <p:cNvPr id="37" name="Straight Connector 36"/>
          <p:cNvCxnSpPr/>
          <p:nvPr/>
        </p:nvCxnSpPr>
        <p:spPr>
          <a:xfrm>
            <a:off x="7033715" y="3715021"/>
            <a:ext cx="491329" cy="3225"/>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flipV="1">
            <a:off x="7469146" y="3189054"/>
            <a:ext cx="585457" cy="13"/>
          </a:xfrm>
          <a:prstGeom prst="line">
            <a:avLst/>
          </a:prstGeom>
          <a:ln w="38100">
            <a:solidFill>
              <a:schemeClr val="tx1">
                <a:lumMod val="95000"/>
                <a:lumOff val="5000"/>
              </a:schemeClr>
            </a:solidFill>
          </a:ln>
        </p:spPr>
        <p:style>
          <a:lnRef idx="1">
            <a:schemeClr val="accent1"/>
          </a:lnRef>
          <a:fillRef idx="0">
            <a:schemeClr val="accent1"/>
          </a:fillRef>
          <a:effectRef idx="0">
            <a:schemeClr val="accent1"/>
          </a:effectRef>
          <a:fontRef idx="minor">
            <a:schemeClr val="tx1"/>
          </a:fontRef>
        </p:style>
      </p:cxnSp>
      <p:cxnSp>
        <p:nvCxnSpPr>
          <p:cNvPr id="96" name="Elbow Connector 95"/>
          <p:cNvCxnSpPr>
            <a:stCxn id="15" idx="3"/>
            <a:endCxn id="16" idx="1"/>
          </p:cNvCxnSpPr>
          <p:nvPr/>
        </p:nvCxnSpPr>
        <p:spPr>
          <a:xfrm flipV="1">
            <a:off x="2389652" y="2246673"/>
            <a:ext cx="2418658" cy="2996043"/>
          </a:xfrm>
          <a:prstGeom prst="bentConnector3">
            <a:avLst>
              <a:gd name="adj1" fmla="val 50000"/>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102" name="Elbow Connector 101"/>
          <p:cNvCxnSpPr/>
          <p:nvPr/>
        </p:nvCxnSpPr>
        <p:spPr>
          <a:xfrm rot="16200000" flipH="1">
            <a:off x="6947111" y="1902273"/>
            <a:ext cx="485731" cy="1636192"/>
          </a:xfrm>
          <a:prstGeom prst="bentConnector2">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106" name="TextBox 105"/>
          <p:cNvSpPr txBox="1"/>
          <p:nvPr/>
        </p:nvSpPr>
        <p:spPr>
          <a:xfrm>
            <a:off x="5176612" y="4038885"/>
            <a:ext cx="1422400" cy="369332"/>
          </a:xfrm>
          <a:prstGeom prst="rect">
            <a:avLst/>
          </a:prstGeom>
          <a:noFill/>
        </p:spPr>
        <p:txBody>
          <a:bodyPr wrap="square" rtlCol="0">
            <a:spAutoFit/>
          </a:bodyPr>
          <a:lstStyle/>
          <a:p>
            <a:r>
              <a:rPr lang="en-US" b="1" dirty="0"/>
              <a:t>pdf</a:t>
            </a:r>
          </a:p>
        </p:txBody>
      </p:sp>
      <p:sp>
        <p:nvSpPr>
          <p:cNvPr id="107" name="TextBox 106"/>
          <p:cNvSpPr txBox="1"/>
          <p:nvPr/>
        </p:nvSpPr>
        <p:spPr>
          <a:xfrm>
            <a:off x="7623196" y="3987201"/>
            <a:ext cx="862812" cy="369332"/>
          </a:xfrm>
          <a:prstGeom prst="rect">
            <a:avLst/>
          </a:prstGeom>
          <a:noFill/>
        </p:spPr>
        <p:txBody>
          <a:bodyPr wrap="square" rtlCol="0">
            <a:spAutoFit/>
          </a:bodyPr>
          <a:lstStyle/>
          <a:p>
            <a:r>
              <a:rPr lang="en-US" b="1" dirty="0"/>
              <a:t>cdf</a:t>
            </a:r>
          </a:p>
        </p:txBody>
      </p:sp>
      <p:sp>
        <p:nvSpPr>
          <p:cNvPr id="53" name="Title 1"/>
          <p:cNvSpPr>
            <a:spLocks noGrp="1"/>
          </p:cNvSpPr>
          <p:nvPr>
            <p:ph type="title"/>
          </p:nvPr>
        </p:nvSpPr>
        <p:spPr>
          <a:xfrm>
            <a:off x="0" y="457202"/>
            <a:ext cx="9144000" cy="647698"/>
          </a:xfrm>
          <a:solidFill>
            <a:schemeClr val="bg1">
              <a:lumMod val="85000"/>
            </a:schemeClr>
          </a:solidFill>
        </p:spPr>
        <p:txBody>
          <a:bodyPr>
            <a:normAutofit/>
          </a:bodyPr>
          <a:lstStyle/>
          <a:p>
            <a:r>
              <a:rPr lang="en-US" sz="3200" b="1" dirty="0"/>
              <a:t>       Monte Carlo</a:t>
            </a:r>
            <a:endParaRPr lang="en-US" sz="2000" b="1" dirty="0">
              <a:solidFill>
                <a:schemeClr val="bg1">
                  <a:lumMod val="65000"/>
                </a:schemeClr>
              </a:solidFill>
            </a:endParaRPr>
          </a:p>
        </p:txBody>
      </p:sp>
      <p:graphicFrame>
        <p:nvGraphicFramePr>
          <p:cNvPr id="6" name="Table 5"/>
          <p:cNvGraphicFramePr>
            <a:graphicFrameLocks noGrp="1"/>
          </p:cNvGraphicFramePr>
          <p:nvPr/>
        </p:nvGraphicFramePr>
        <p:xfrm>
          <a:off x="4874620" y="4598118"/>
          <a:ext cx="3364307" cy="1630680"/>
        </p:xfrm>
        <a:graphic>
          <a:graphicData uri="http://schemas.openxmlformats.org/drawingml/2006/table">
            <a:tbl>
              <a:tblPr firstRow="1" bandRow="1">
                <a:tableStyleId>{F5AB1C69-6EDB-4FF4-983F-18BD219EF322}</a:tableStyleId>
              </a:tblPr>
              <a:tblGrid>
                <a:gridCol w="903955">
                  <a:extLst>
                    <a:ext uri="{9D8B030D-6E8A-4147-A177-3AD203B41FA5}">
                      <a16:colId xmlns:a16="http://schemas.microsoft.com/office/drawing/2014/main" val="20000"/>
                    </a:ext>
                  </a:extLst>
                </a:gridCol>
                <a:gridCol w="1230176">
                  <a:extLst>
                    <a:ext uri="{9D8B030D-6E8A-4147-A177-3AD203B41FA5}">
                      <a16:colId xmlns:a16="http://schemas.microsoft.com/office/drawing/2014/main" val="20001"/>
                    </a:ext>
                  </a:extLst>
                </a:gridCol>
                <a:gridCol w="1230176">
                  <a:extLst>
                    <a:ext uri="{9D8B030D-6E8A-4147-A177-3AD203B41FA5}">
                      <a16:colId xmlns:a16="http://schemas.microsoft.com/office/drawing/2014/main" val="20002"/>
                    </a:ext>
                  </a:extLst>
                </a:gridCol>
              </a:tblGrid>
              <a:tr h="370840">
                <a:tc>
                  <a:txBody>
                    <a:bodyPr/>
                    <a:lstStyle/>
                    <a:p>
                      <a:pPr marL="0" algn="ctr">
                        <a:spcBef>
                          <a:spcPts val="0"/>
                        </a:spcBef>
                        <a:spcAft>
                          <a:spcPts val="0"/>
                        </a:spcAft>
                      </a:pPr>
                      <a:r>
                        <a:rPr lang="en-US" sz="1400" b="1" dirty="0">
                          <a:solidFill>
                            <a:sysClr val="windowText" lastClr="000000"/>
                          </a:solidFill>
                        </a:rPr>
                        <a:t>Trials</a:t>
                      </a:r>
                    </a:p>
                  </a:txBody>
                  <a:tcPr anchor="ctr">
                    <a:solidFill>
                      <a:schemeClr val="bg1">
                        <a:lumMod val="75000"/>
                      </a:schemeClr>
                    </a:solidFill>
                  </a:tcPr>
                </a:tc>
                <a:tc>
                  <a:txBody>
                    <a:bodyPr/>
                    <a:lstStyle/>
                    <a:p>
                      <a:pPr marL="0" algn="ctr">
                        <a:spcBef>
                          <a:spcPts val="0"/>
                        </a:spcBef>
                        <a:spcAft>
                          <a:spcPts val="0"/>
                        </a:spcAft>
                      </a:pPr>
                      <a:r>
                        <a:rPr lang="en-US" sz="1400" b="1" dirty="0">
                          <a:solidFill>
                            <a:sysClr val="windowText" lastClr="000000"/>
                          </a:solidFill>
                        </a:rPr>
                        <a:t>Number</a:t>
                      </a:r>
                      <a:r>
                        <a:rPr lang="en-US" sz="1400" b="1" baseline="0" dirty="0">
                          <a:solidFill>
                            <a:sysClr val="windowText" lastClr="000000"/>
                          </a:solidFill>
                        </a:rPr>
                        <a:t> of heads</a:t>
                      </a:r>
                      <a:endParaRPr lang="en-US" sz="1400" b="1" dirty="0">
                        <a:solidFill>
                          <a:sysClr val="windowText" lastClr="000000"/>
                        </a:solidFill>
                      </a:endParaRPr>
                    </a:p>
                  </a:txBody>
                  <a:tcPr anchor="ctr">
                    <a:solidFill>
                      <a:schemeClr val="bg1">
                        <a:lumMod val="75000"/>
                      </a:schemeClr>
                    </a:solidFill>
                  </a:tcPr>
                </a:tc>
                <a:tc>
                  <a:txBody>
                    <a:bodyPr/>
                    <a:lstStyle/>
                    <a:p>
                      <a:pPr marL="0" algn="ctr">
                        <a:spcBef>
                          <a:spcPts val="0"/>
                        </a:spcBef>
                        <a:spcAft>
                          <a:spcPts val="0"/>
                        </a:spcAft>
                      </a:pPr>
                      <a:r>
                        <a:rPr lang="en-US" sz="1400" b="1" dirty="0">
                          <a:solidFill>
                            <a:sysClr val="windowText" lastClr="000000"/>
                          </a:solidFill>
                        </a:rPr>
                        <a:t>Expected number</a:t>
                      </a:r>
                    </a:p>
                  </a:txBody>
                  <a:tcPr anchor="ctr">
                    <a:solidFill>
                      <a:schemeClr val="bg1">
                        <a:lumMod val="75000"/>
                      </a:schemeClr>
                    </a:solidFill>
                  </a:tcPr>
                </a:tc>
                <a:extLst>
                  <a:ext uri="{0D108BD9-81ED-4DB2-BD59-A6C34878D82A}">
                    <a16:rowId xmlns:a16="http://schemas.microsoft.com/office/drawing/2014/main" val="10000"/>
                  </a:ext>
                </a:extLst>
              </a:tr>
              <a:tr h="370840">
                <a:tc>
                  <a:txBody>
                    <a:bodyPr/>
                    <a:lstStyle/>
                    <a:p>
                      <a:pPr marL="0" algn="ctr">
                        <a:spcBef>
                          <a:spcPts val="0"/>
                        </a:spcBef>
                        <a:spcAft>
                          <a:spcPts val="0"/>
                        </a:spcAft>
                      </a:pPr>
                      <a:r>
                        <a:rPr lang="en-US" b="1" dirty="0"/>
                        <a:t>10</a:t>
                      </a:r>
                    </a:p>
                  </a:txBody>
                  <a:tcPr anchor="ctr"/>
                </a:tc>
                <a:tc>
                  <a:txBody>
                    <a:bodyPr/>
                    <a:lstStyle/>
                    <a:p>
                      <a:pPr marL="0" algn="ctr">
                        <a:spcBef>
                          <a:spcPts val="0"/>
                        </a:spcBef>
                        <a:spcAft>
                          <a:spcPts val="0"/>
                        </a:spcAft>
                      </a:pPr>
                      <a:r>
                        <a:rPr lang="en-US" b="1" dirty="0"/>
                        <a:t>6</a:t>
                      </a:r>
                    </a:p>
                  </a:txBody>
                  <a:tcPr anchor="ctr"/>
                </a:tc>
                <a:tc>
                  <a:txBody>
                    <a:bodyPr/>
                    <a:lstStyle/>
                    <a:p>
                      <a:pPr marL="0" algn="ctr">
                        <a:spcBef>
                          <a:spcPts val="0"/>
                        </a:spcBef>
                        <a:spcAft>
                          <a:spcPts val="0"/>
                        </a:spcAft>
                      </a:pPr>
                      <a:r>
                        <a:rPr lang="en-US" b="1" dirty="0"/>
                        <a:t>5</a:t>
                      </a:r>
                    </a:p>
                  </a:txBody>
                  <a:tcPr anchor="ctr"/>
                </a:tc>
                <a:extLst>
                  <a:ext uri="{0D108BD9-81ED-4DB2-BD59-A6C34878D82A}">
                    <a16:rowId xmlns:a16="http://schemas.microsoft.com/office/drawing/2014/main" val="10001"/>
                  </a:ext>
                </a:extLst>
              </a:tr>
              <a:tr h="370840">
                <a:tc>
                  <a:txBody>
                    <a:bodyPr/>
                    <a:lstStyle/>
                    <a:p>
                      <a:pPr marL="0" algn="ctr">
                        <a:spcBef>
                          <a:spcPts val="0"/>
                        </a:spcBef>
                        <a:spcAft>
                          <a:spcPts val="0"/>
                        </a:spcAft>
                      </a:pPr>
                      <a:r>
                        <a:rPr lang="en-US" b="1" dirty="0"/>
                        <a:t>20</a:t>
                      </a:r>
                    </a:p>
                  </a:txBody>
                  <a:tcPr anchor="ctr"/>
                </a:tc>
                <a:tc>
                  <a:txBody>
                    <a:bodyPr/>
                    <a:lstStyle/>
                    <a:p>
                      <a:pPr marL="0" algn="ctr">
                        <a:spcBef>
                          <a:spcPts val="0"/>
                        </a:spcBef>
                        <a:spcAft>
                          <a:spcPts val="0"/>
                        </a:spcAft>
                      </a:pPr>
                      <a:r>
                        <a:rPr lang="en-US" b="1" dirty="0"/>
                        <a:t>11</a:t>
                      </a:r>
                    </a:p>
                  </a:txBody>
                  <a:tcPr anchor="ctr"/>
                </a:tc>
                <a:tc>
                  <a:txBody>
                    <a:bodyPr/>
                    <a:lstStyle/>
                    <a:p>
                      <a:pPr marL="0" algn="ctr">
                        <a:spcBef>
                          <a:spcPts val="0"/>
                        </a:spcBef>
                        <a:spcAft>
                          <a:spcPts val="0"/>
                        </a:spcAft>
                      </a:pPr>
                      <a:r>
                        <a:rPr lang="en-US" b="1" dirty="0"/>
                        <a:t>10</a:t>
                      </a:r>
                    </a:p>
                  </a:txBody>
                  <a:tcPr anchor="ctr"/>
                </a:tc>
                <a:extLst>
                  <a:ext uri="{0D108BD9-81ED-4DB2-BD59-A6C34878D82A}">
                    <a16:rowId xmlns:a16="http://schemas.microsoft.com/office/drawing/2014/main" val="10002"/>
                  </a:ext>
                </a:extLst>
              </a:tr>
              <a:tr h="370840">
                <a:tc>
                  <a:txBody>
                    <a:bodyPr/>
                    <a:lstStyle/>
                    <a:p>
                      <a:pPr marL="0" algn="ctr">
                        <a:spcBef>
                          <a:spcPts val="0"/>
                        </a:spcBef>
                        <a:spcAft>
                          <a:spcPts val="0"/>
                        </a:spcAft>
                      </a:pPr>
                      <a:r>
                        <a:rPr lang="en-US" b="1" dirty="0"/>
                        <a:t>50</a:t>
                      </a:r>
                    </a:p>
                  </a:txBody>
                  <a:tcPr anchor="ctr"/>
                </a:tc>
                <a:tc>
                  <a:txBody>
                    <a:bodyPr/>
                    <a:lstStyle/>
                    <a:p>
                      <a:pPr marL="0" algn="ctr">
                        <a:spcBef>
                          <a:spcPts val="0"/>
                        </a:spcBef>
                        <a:spcAft>
                          <a:spcPts val="0"/>
                        </a:spcAft>
                      </a:pPr>
                      <a:r>
                        <a:rPr lang="en-US" b="1" dirty="0"/>
                        <a:t>28</a:t>
                      </a:r>
                    </a:p>
                  </a:txBody>
                  <a:tcPr anchor="ctr"/>
                </a:tc>
                <a:tc>
                  <a:txBody>
                    <a:bodyPr/>
                    <a:lstStyle/>
                    <a:p>
                      <a:pPr marL="0" algn="ctr">
                        <a:spcBef>
                          <a:spcPts val="0"/>
                        </a:spcBef>
                        <a:spcAft>
                          <a:spcPts val="0"/>
                        </a:spcAft>
                      </a:pPr>
                      <a:r>
                        <a:rPr lang="en-US" b="1" dirty="0"/>
                        <a:t>25</a:t>
                      </a:r>
                    </a:p>
                  </a:txBody>
                  <a:tcPr anchor="ctr"/>
                </a:tc>
                <a:extLst>
                  <a:ext uri="{0D108BD9-81ED-4DB2-BD59-A6C34878D82A}">
                    <a16:rowId xmlns:a16="http://schemas.microsoft.com/office/drawing/2014/main" val="10003"/>
                  </a:ext>
                </a:extLst>
              </a:tr>
            </a:tbl>
          </a:graphicData>
        </a:graphic>
      </p:graphicFrame>
      <p:cxnSp>
        <p:nvCxnSpPr>
          <p:cNvPr id="7" name="Straight Connector 6"/>
          <p:cNvCxnSpPr/>
          <p:nvPr/>
        </p:nvCxnSpPr>
        <p:spPr>
          <a:xfrm flipH="1">
            <a:off x="6994908" y="3172984"/>
            <a:ext cx="38806" cy="0"/>
          </a:xfrm>
          <a:prstGeom prst="line">
            <a:avLst/>
          </a:prstGeom>
          <a:ln>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8" name="TextBox 7"/>
          <p:cNvSpPr txBox="1"/>
          <p:nvPr/>
        </p:nvSpPr>
        <p:spPr>
          <a:xfrm>
            <a:off x="6599012" y="2976145"/>
            <a:ext cx="476412" cy="369332"/>
          </a:xfrm>
          <a:prstGeom prst="rect">
            <a:avLst/>
          </a:prstGeom>
          <a:noFill/>
        </p:spPr>
        <p:txBody>
          <a:bodyPr wrap="none" rtlCol="0">
            <a:spAutoFit/>
          </a:bodyPr>
          <a:lstStyle/>
          <a:p>
            <a:r>
              <a:rPr lang="en-US" dirty="0"/>
              <a:t>0.5</a:t>
            </a:r>
          </a:p>
        </p:txBody>
      </p:sp>
    </p:spTree>
    <p:extLst>
      <p:ext uri="{BB962C8B-B14F-4D97-AF65-F5344CB8AC3E}">
        <p14:creationId xmlns:p14="http://schemas.microsoft.com/office/powerpoint/2010/main" val="217616558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9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11"/>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5"/>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8"/>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6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par>
                                <p:cTn id="25" presetID="1" presetClass="entr" presetSubtype="0" fill="hold" nodeType="withEffect">
                                  <p:stCondLst>
                                    <p:cond delay="0"/>
                                  </p:stCondLst>
                                  <p:childTnLst>
                                    <p:set>
                                      <p:cBhvr>
                                        <p:cTn id="26" dur="1" fill="hold">
                                          <p:stCondLst>
                                            <p:cond delay="0"/>
                                          </p:stCondLst>
                                        </p:cTn>
                                        <p:tgtEl>
                                          <p:spTgt spid="62"/>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63"/>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64"/>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6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66"/>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67"/>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68"/>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70"/>
                                        </p:tgtEl>
                                        <p:attrNameLst>
                                          <p:attrName>style.visibility</p:attrName>
                                        </p:attrNameLst>
                                      </p:cBhvr>
                                      <p:to>
                                        <p:strVal val="visible"/>
                                      </p:to>
                                    </p:set>
                                  </p:childTnLst>
                                </p:cTn>
                              </p:par>
                              <p:par>
                                <p:cTn id="41" presetID="1" presetClass="entr" presetSubtype="0" fill="hold" grpId="0" nodeType="withEffect">
                                  <p:stCondLst>
                                    <p:cond delay="0"/>
                                  </p:stCondLst>
                                  <p:childTnLst>
                                    <p:set>
                                      <p:cBhvr>
                                        <p:cTn id="42" dur="1" fill="hold">
                                          <p:stCondLst>
                                            <p:cond delay="0"/>
                                          </p:stCondLst>
                                        </p:cTn>
                                        <p:tgtEl>
                                          <p:spTgt spid="71"/>
                                        </p:tgtEl>
                                        <p:attrNameLst>
                                          <p:attrName>style.visibility</p:attrName>
                                        </p:attrNameLst>
                                      </p:cBhvr>
                                      <p:to>
                                        <p:strVal val="visible"/>
                                      </p:to>
                                    </p:set>
                                  </p:childTnLst>
                                </p:cTn>
                              </p:par>
                              <p:par>
                                <p:cTn id="43" presetID="1" presetClass="entr" presetSubtype="0" fill="hold" nodeType="withEffect">
                                  <p:stCondLst>
                                    <p:cond delay="0"/>
                                  </p:stCondLst>
                                  <p:childTnLst>
                                    <p:set>
                                      <p:cBhvr>
                                        <p:cTn id="44" dur="1" fill="hold">
                                          <p:stCondLst>
                                            <p:cond delay="0"/>
                                          </p:stCondLst>
                                        </p:cTn>
                                        <p:tgtEl>
                                          <p:spTgt spid="72"/>
                                        </p:tgtEl>
                                        <p:attrNameLst>
                                          <p:attrName>style.visibility</p:attrName>
                                        </p:attrNameLst>
                                      </p:cBhvr>
                                      <p:to>
                                        <p:strVal val="visible"/>
                                      </p:to>
                                    </p:set>
                                  </p:childTnLst>
                                </p:cTn>
                              </p:par>
                              <p:par>
                                <p:cTn id="45" presetID="1" presetClass="entr" presetSubtype="0" fill="hold" nodeType="withEffect">
                                  <p:stCondLst>
                                    <p:cond delay="0"/>
                                  </p:stCondLst>
                                  <p:childTnLst>
                                    <p:set>
                                      <p:cBhvr>
                                        <p:cTn id="46" dur="1" fill="hold">
                                          <p:stCondLst>
                                            <p:cond delay="0"/>
                                          </p:stCondLst>
                                        </p:cTn>
                                        <p:tgtEl>
                                          <p:spTgt spid="73"/>
                                        </p:tgtEl>
                                        <p:attrNameLst>
                                          <p:attrName>style.visibility</p:attrName>
                                        </p:attrNameLst>
                                      </p:cBhvr>
                                      <p:to>
                                        <p:strVal val="visible"/>
                                      </p:to>
                                    </p:set>
                                  </p:childTnLst>
                                </p:cTn>
                              </p:par>
                              <p:par>
                                <p:cTn id="47" presetID="1" presetClass="entr" presetSubtype="0" fill="hold" grpId="0" nodeType="withEffect">
                                  <p:stCondLst>
                                    <p:cond delay="0"/>
                                  </p:stCondLst>
                                  <p:childTnLst>
                                    <p:set>
                                      <p:cBhvr>
                                        <p:cTn id="48" dur="1" fill="hold">
                                          <p:stCondLst>
                                            <p:cond delay="0"/>
                                          </p:stCondLst>
                                        </p:cTn>
                                        <p:tgtEl>
                                          <p:spTgt spid="76"/>
                                        </p:tgtEl>
                                        <p:attrNameLst>
                                          <p:attrName>style.visibility</p:attrName>
                                        </p:attrNameLst>
                                      </p:cBhvr>
                                      <p:to>
                                        <p:strVal val="visible"/>
                                      </p:to>
                                    </p:set>
                                  </p:childTnLst>
                                </p:cTn>
                              </p:par>
                              <p:par>
                                <p:cTn id="49" presetID="1" presetClass="entr" presetSubtype="0" fill="hold" grpId="0" nodeType="withEffect">
                                  <p:stCondLst>
                                    <p:cond delay="0"/>
                                  </p:stCondLst>
                                  <p:childTnLst>
                                    <p:set>
                                      <p:cBhvr>
                                        <p:cTn id="50" dur="1" fill="hold">
                                          <p:stCondLst>
                                            <p:cond delay="0"/>
                                          </p:stCondLst>
                                        </p:cTn>
                                        <p:tgtEl>
                                          <p:spTgt spid="77"/>
                                        </p:tgtEl>
                                        <p:attrNameLst>
                                          <p:attrName>style.visibility</p:attrName>
                                        </p:attrNameLst>
                                      </p:cBhvr>
                                      <p:to>
                                        <p:strVal val="visible"/>
                                      </p:to>
                                    </p:set>
                                  </p:childTnLst>
                                </p:cTn>
                              </p:par>
                              <p:par>
                                <p:cTn id="51" presetID="1" presetClass="entr" presetSubtype="0" fill="hold" nodeType="withEffect">
                                  <p:stCondLst>
                                    <p:cond delay="0"/>
                                  </p:stCondLst>
                                  <p:childTnLst>
                                    <p:set>
                                      <p:cBhvr>
                                        <p:cTn id="52" dur="1" fill="hold">
                                          <p:stCondLst>
                                            <p:cond delay="0"/>
                                          </p:stCondLst>
                                        </p:cTn>
                                        <p:tgtEl>
                                          <p:spTgt spid="37"/>
                                        </p:tgtEl>
                                        <p:attrNameLst>
                                          <p:attrName>style.visibility</p:attrName>
                                        </p:attrNameLst>
                                      </p:cBhvr>
                                      <p:to>
                                        <p:strVal val="visible"/>
                                      </p:to>
                                    </p:set>
                                  </p:childTnLst>
                                </p:cTn>
                              </p:par>
                              <p:par>
                                <p:cTn id="53" presetID="1" presetClass="entr" presetSubtype="0" fill="hold" nodeType="withEffect">
                                  <p:stCondLst>
                                    <p:cond delay="0"/>
                                  </p:stCondLst>
                                  <p:childTnLst>
                                    <p:set>
                                      <p:cBhvr>
                                        <p:cTn id="54" dur="1" fill="hold">
                                          <p:stCondLst>
                                            <p:cond delay="0"/>
                                          </p:stCondLst>
                                        </p:cTn>
                                        <p:tgtEl>
                                          <p:spTgt spid="78"/>
                                        </p:tgtEl>
                                        <p:attrNameLst>
                                          <p:attrName>style.visibility</p:attrName>
                                        </p:attrNameLst>
                                      </p:cBhvr>
                                      <p:to>
                                        <p:strVal val="visible"/>
                                      </p:to>
                                    </p:set>
                                  </p:childTnLst>
                                </p:cTn>
                              </p:par>
                              <p:par>
                                <p:cTn id="55" presetID="1" presetClass="entr" presetSubtype="0" fill="hold" nodeType="withEffect">
                                  <p:stCondLst>
                                    <p:cond delay="0"/>
                                  </p:stCondLst>
                                  <p:childTnLst>
                                    <p:set>
                                      <p:cBhvr>
                                        <p:cTn id="56" dur="1" fill="hold">
                                          <p:stCondLst>
                                            <p:cond delay="0"/>
                                          </p:stCondLst>
                                        </p:cTn>
                                        <p:tgtEl>
                                          <p:spTgt spid="102"/>
                                        </p:tgtEl>
                                        <p:attrNameLst>
                                          <p:attrName>style.visibility</p:attrName>
                                        </p:attrNameLst>
                                      </p:cBhvr>
                                      <p:to>
                                        <p:strVal val="visible"/>
                                      </p:to>
                                    </p:set>
                                  </p:childTnLst>
                                </p:cTn>
                              </p:par>
                              <p:par>
                                <p:cTn id="57" presetID="1" presetClass="entr" presetSubtype="0" fill="hold" grpId="0" nodeType="withEffect">
                                  <p:stCondLst>
                                    <p:cond delay="0"/>
                                  </p:stCondLst>
                                  <p:childTnLst>
                                    <p:set>
                                      <p:cBhvr>
                                        <p:cTn id="58" dur="1" fill="hold">
                                          <p:stCondLst>
                                            <p:cond delay="0"/>
                                          </p:stCondLst>
                                        </p:cTn>
                                        <p:tgtEl>
                                          <p:spTgt spid="106"/>
                                        </p:tgtEl>
                                        <p:attrNameLst>
                                          <p:attrName>style.visibility</p:attrName>
                                        </p:attrNameLst>
                                      </p:cBhvr>
                                      <p:to>
                                        <p:strVal val="visible"/>
                                      </p:to>
                                    </p:set>
                                  </p:childTnLst>
                                </p:cTn>
                              </p:par>
                              <p:par>
                                <p:cTn id="59" presetID="1" presetClass="entr" presetSubtype="0" fill="hold" grpId="0" nodeType="withEffect">
                                  <p:stCondLst>
                                    <p:cond delay="0"/>
                                  </p:stCondLst>
                                  <p:childTnLst>
                                    <p:set>
                                      <p:cBhvr>
                                        <p:cTn id="60" dur="1" fill="hold">
                                          <p:stCondLst>
                                            <p:cond delay="0"/>
                                          </p:stCondLst>
                                        </p:cTn>
                                        <p:tgtEl>
                                          <p:spTgt spid="107"/>
                                        </p:tgtEl>
                                        <p:attrNameLst>
                                          <p:attrName>style.visibility</p:attrName>
                                        </p:attrNameLst>
                                      </p:cBhvr>
                                      <p:to>
                                        <p:strVal val="visible"/>
                                      </p:to>
                                    </p:set>
                                  </p:childTnLst>
                                </p:cTn>
                              </p:par>
                              <p:par>
                                <p:cTn id="61" presetID="1" presetClass="entr" presetSubtype="0" fill="hold" nodeType="withEffect">
                                  <p:stCondLst>
                                    <p:cond delay="0"/>
                                  </p:stCondLst>
                                  <p:childTnLst>
                                    <p:set>
                                      <p:cBhvr>
                                        <p:cTn id="62" dur="1" fill="hold">
                                          <p:stCondLst>
                                            <p:cond delay="0"/>
                                          </p:stCondLst>
                                        </p:cTn>
                                        <p:tgtEl>
                                          <p:spTgt spid="7"/>
                                        </p:tgtEl>
                                        <p:attrNameLst>
                                          <p:attrName>style.visibility</p:attrName>
                                        </p:attrNameLst>
                                      </p:cBhvr>
                                      <p:to>
                                        <p:strVal val="visible"/>
                                      </p:to>
                                    </p:set>
                                  </p:childTnLst>
                                </p:cTn>
                              </p:par>
                              <p:par>
                                <p:cTn id="63" presetID="1" presetClass="entr" presetSubtype="0" fill="hold" grpId="0" nodeType="withEffect">
                                  <p:stCondLst>
                                    <p:cond delay="0"/>
                                  </p:stCondLst>
                                  <p:childTnLst>
                                    <p:set>
                                      <p:cBhvr>
                                        <p:cTn id="64" dur="1" fill="hold">
                                          <p:stCondLst>
                                            <p:cond delay="0"/>
                                          </p:stCondLst>
                                        </p:cTn>
                                        <p:tgtEl>
                                          <p:spTgt spid="8"/>
                                        </p:tgtEl>
                                        <p:attrNameLst>
                                          <p:attrName>style.visibility</p:attrName>
                                        </p:attrNameLst>
                                      </p:cBhvr>
                                      <p:to>
                                        <p:strVal val="visible"/>
                                      </p:to>
                                    </p:set>
                                  </p:childTnLst>
                                </p:cTn>
                              </p:par>
                            </p:childTnLst>
                          </p:cTn>
                        </p:par>
                      </p:childTnLst>
                    </p:cTn>
                  </p:par>
                  <p:par>
                    <p:cTn id="65" fill="hold">
                      <p:stCondLst>
                        <p:cond delay="indefinite"/>
                      </p:stCondLst>
                      <p:childTnLst>
                        <p:par>
                          <p:cTn id="66" fill="hold">
                            <p:stCondLst>
                              <p:cond delay="0"/>
                            </p:stCondLst>
                            <p:childTnLst>
                              <p:par>
                                <p:cTn id="67" presetID="1" presetClass="entr" presetSubtype="0" fill="hold" nodeType="clickEffect">
                                  <p:stCondLst>
                                    <p:cond delay="0"/>
                                  </p:stCondLst>
                                  <p:childTnLst>
                                    <p:set>
                                      <p:cBhvr>
                                        <p:cTn id="6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6" grpId="0"/>
      <p:bldP spid="25" grpId="0"/>
      <p:bldP spid="28" grpId="0"/>
      <p:bldP spid="60" grpId="0"/>
      <p:bldP spid="63" grpId="0"/>
      <p:bldP spid="64" grpId="0"/>
      <p:bldP spid="65" grpId="0"/>
      <p:bldP spid="66" grpId="0"/>
      <p:bldP spid="70" grpId="0"/>
      <p:bldP spid="71" grpId="0"/>
      <p:bldP spid="76" grpId="0"/>
      <p:bldP spid="77" grpId="0"/>
      <p:bldP spid="106" grpId="0"/>
      <p:bldP spid="107" grpId="0"/>
      <p:bldP spid="8"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353348" y="3424328"/>
            <a:ext cx="2421846" cy="1711493"/>
          </a:xfrm>
        </p:spPr>
        <p:txBody>
          <a:bodyPr>
            <a:normAutofit fontScale="47500" lnSpcReduction="20000"/>
          </a:bodyPr>
          <a:lstStyle/>
          <a:p>
            <a:pPr marL="0" indent="0">
              <a:buNone/>
            </a:pPr>
            <a:endParaRPr lang="en-US" sz="4800" dirty="0"/>
          </a:p>
          <a:p>
            <a:pPr marL="0" indent="0">
              <a:lnSpc>
                <a:spcPct val="120000"/>
              </a:lnSpc>
              <a:buNone/>
            </a:pPr>
            <a:r>
              <a:rPr lang="en-US" sz="4800" b="1" dirty="0">
                <a:solidFill>
                  <a:srgbClr val="0070C0"/>
                </a:solidFill>
              </a:rPr>
              <a:t>Neutron multiplication factor of a system</a:t>
            </a:r>
            <a:endParaRPr lang="en-US" sz="4800" dirty="0">
              <a:solidFill>
                <a:srgbClr val="0070C0"/>
              </a:solidFill>
            </a:endParaRPr>
          </a:p>
        </p:txBody>
      </p:sp>
      <p:sp>
        <p:nvSpPr>
          <p:cNvPr id="4" name="Content Placeholder 2"/>
          <p:cNvSpPr txBox="1">
            <a:spLocks/>
          </p:cNvSpPr>
          <p:nvPr/>
        </p:nvSpPr>
        <p:spPr>
          <a:xfrm>
            <a:off x="781050" y="2209447"/>
            <a:ext cx="7886700" cy="1793170"/>
          </a:xfrm>
          <a:prstGeom prst="rect">
            <a:avLst/>
          </a:prstGeom>
        </p:spPr>
        <p:txBody>
          <a:bodyPr vert="horz" lIns="91440" tIns="45720" rIns="91440" bIns="45720" rtlCol="0">
            <a:norm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endParaRPr lang="en-US" dirty="0"/>
          </a:p>
        </p:txBody>
      </p:sp>
      <p:sp>
        <p:nvSpPr>
          <p:cNvPr id="5" name="Rectangle 4"/>
          <p:cNvSpPr/>
          <p:nvPr/>
        </p:nvSpPr>
        <p:spPr>
          <a:xfrm>
            <a:off x="609600" y="1605542"/>
            <a:ext cx="8058151" cy="1015663"/>
          </a:xfrm>
          <a:prstGeom prst="rect">
            <a:avLst/>
          </a:prstGeom>
        </p:spPr>
        <p:txBody>
          <a:bodyPr wrap="square">
            <a:spAutoFit/>
          </a:bodyPr>
          <a:lstStyle/>
          <a:p>
            <a:pPr algn="just"/>
            <a:r>
              <a:rPr lang="en-US" sz="2000" dirty="0">
                <a:latin typeface="Calibri" panose="020F0502020204030204" pitchFamily="34" charset="0"/>
                <a:ea typeface="Calibri" panose="020F0502020204030204" pitchFamily="34" charset="0"/>
              </a:rPr>
              <a:t>Monte Carlo methods are a </a:t>
            </a:r>
            <a:r>
              <a:rPr lang="en-US" sz="2000" i="1" dirty="0">
                <a:solidFill>
                  <a:schemeClr val="accent1">
                    <a:lumMod val="75000"/>
                  </a:schemeClr>
                </a:solidFill>
                <a:ea typeface="Calibri" panose="020F0502020204030204" pitchFamily="34" charset="0"/>
              </a:rPr>
              <a:t>class of computational algorithms </a:t>
            </a:r>
            <a:r>
              <a:rPr lang="en-US" sz="2000" dirty="0"/>
              <a:t>for simulating the behavior of various physical and mathematical systems</a:t>
            </a:r>
            <a:r>
              <a:rPr lang="en-US" dirty="0"/>
              <a:t>, </a:t>
            </a:r>
            <a:r>
              <a:rPr lang="en-US" sz="2000" dirty="0"/>
              <a:t>in which observations are </a:t>
            </a:r>
            <a:r>
              <a:rPr lang="en-US" sz="2000" i="1" dirty="0">
                <a:solidFill>
                  <a:schemeClr val="accent1">
                    <a:lumMod val="75000"/>
                  </a:schemeClr>
                </a:solidFill>
              </a:rPr>
              <a:t>randomly generated</a:t>
            </a:r>
            <a:r>
              <a:rPr lang="en-US" sz="2000" i="1" dirty="0"/>
              <a:t> </a:t>
            </a:r>
            <a:r>
              <a:rPr lang="en-US" sz="2000" dirty="0"/>
              <a:t>from the model.</a:t>
            </a:r>
          </a:p>
        </p:txBody>
      </p:sp>
      <p:pic>
        <p:nvPicPr>
          <p:cNvPr id="7" name="Picture 6"/>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3724040" y="4787905"/>
            <a:ext cx="2000719" cy="1165468"/>
          </a:xfrm>
          <a:prstGeom prst="rect">
            <a:avLst/>
          </a:prstGeom>
          <a:ln>
            <a:solidFill>
              <a:schemeClr val="tx1"/>
            </a:solidFill>
          </a:ln>
        </p:spPr>
      </p:pic>
      <p:sp>
        <p:nvSpPr>
          <p:cNvPr id="8" name="Rectangle 7"/>
          <p:cNvSpPr/>
          <p:nvPr/>
        </p:nvSpPr>
        <p:spPr>
          <a:xfrm>
            <a:off x="3352522" y="5953373"/>
            <a:ext cx="3336684" cy="369332"/>
          </a:xfrm>
          <a:prstGeom prst="rect">
            <a:avLst/>
          </a:prstGeom>
        </p:spPr>
        <p:txBody>
          <a:bodyPr wrap="square">
            <a:spAutoFit/>
          </a:bodyPr>
          <a:lstStyle/>
          <a:p>
            <a:r>
              <a:rPr lang="en-US" b="1" dirty="0"/>
              <a:t>Radiation transport problems </a:t>
            </a:r>
          </a:p>
        </p:txBody>
      </p:sp>
      <p:pic>
        <p:nvPicPr>
          <p:cNvPr id="9" name="Picture 8"/>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1052749" y="4790934"/>
            <a:ext cx="1907653" cy="1182808"/>
          </a:xfrm>
          <a:prstGeom prst="rect">
            <a:avLst/>
          </a:prstGeom>
          <a:ln>
            <a:solidFill>
              <a:schemeClr val="tx1"/>
            </a:solidFill>
          </a:ln>
        </p:spPr>
      </p:pic>
      <p:sp>
        <p:nvSpPr>
          <p:cNvPr id="10" name="Rectangle 9"/>
          <p:cNvSpPr/>
          <p:nvPr/>
        </p:nvSpPr>
        <p:spPr>
          <a:xfrm>
            <a:off x="1208579" y="5973741"/>
            <a:ext cx="1538240" cy="369332"/>
          </a:xfrm>
          <a:prstGeom prst="rect">
            <a:avLst/>
          </a:prstGeom>
        </p:spPr>
        <p:txBody>
          <a:bodyPr wrap="square">
            <a:spAutoFit/>
          </a:bodyPr>
          <a:lstStyle/>
          <a:p>
            <a:r>
              <a:rPr lang="en-US" b="1" dirty="0"/>
              <a:t>  Traffic flow </a:t>
            </a:r>
          </a:p>
        </p:txBody>
      </p:sp>
      <p:pic>
        <p:nvPicPr>
          <p:cNvPr id="11" name="Picture 10"/>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724040" y="3249936"/>
            <a:ext cx="2000719" cy="1138738"/>
          </a:xfrm>
          <a:prstGeom prst="rect">
            <a:avLst/>
          </a:prstGeom>
          <a:ln>
            <a:solidFill>
              <a:schemeClr val="tx1"/>
            </a:solidFill>
          </a:ln>
        </p:spPr>
      </p:pic>
      <p:sp>
        <p:nvSpPr>
          <p:cNvPr id="12" name="Rectangle 11"/>
          <p:cNvSpPr/>
          <p:nvPr/>
        </p:nvSpPr>
        <p:spPr>
          <a:xfrm>
            <a:off x="3760069" y="4354087"/>
            <a:ext cx="2521593" cy="369332"/>
          </a:xfrm>
          <a:prstGeom prst="rect">
            <a:avLst/>
          </a:prstGeom>
        </p:spPr>
        <p:txBody>
          <a:bodyPr wrap="square">
            <a:spAutoFit/>
          </a:bodyPr>
          <a:lstStyle/>
          <a:p>
            <a:r>
              <a:rPr lang="en-US" b="1" dirty="0"/>
              <a:t>Radiation therapy</a:t>
            </a:r>
          </a:p>
        </p:txBody>
      </p:sp>
      <p:pic>
        <p:nvPicPr>
          <p:cNvPr id="13" name="Picture 12"/>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044200" y="3215349"/>
            <a:ext cx="1916202" cy="1138738"/>
          </a:xfrm>
          <a:prstGeom prst="rect">
            <a:avLst/>
          </a:prstGeom>
          <a:ln>
            <a:solidFill>
              <a:schemeClr val="tx1"/>
            </a:solidFill>
          </a:ln>
        </p:spPr>
      </p:pic>
      <p:sp>
        <p:nvSpPr>
          <p:cNvPr id="16" name="Rectangle 15"/>
          <p:cNvSpPr/>
          <p:nvPr/>
        </p:nvSpPr>
        <p:spPr>
          <a:xfrm>
            <a:off x="993669" y="4280075"/>
            <a:ext cx="2101780" cy="464871"/>
          </a:xfrm>
          <a:prstGeom prst="rect">
            <a:avLst/>
          </a:prstGeom>
        </p:spPr>
        <p:txBody>
          <a:bodyPr wrap="square">
            <a:spAutoFit/>
          </a:bodyPr>
          <a:lstStyle/>
          <a:p>
            <a:pPr>
              <a:lnSpc>
                <a:spcPct val="150000"/>
              </a:lnSpc>
            </a:pPr>
            <a:r>
              <a:rPr lang="en-US" b="1" dirty="0"/>
              <a:t>weather forecasting</a:t>
            </a:r>
          </a:p>
        </p:txBody>
      </p:sp>
      <p:sp>
        <p:nvSpPr>
          <p:cNvPr id="15" name="Title 1"/>
          <p:cNvSpPr>
            <a:spLocks noGrp="1"/>
          </p:cNvSpPr>
          <p:nvPr>
            <p:ph type="title"/>
          </p:nvPr>
        </p:nvSpPr>
        <p:spPr>
          <a:xfrm>
            <a:off x="0" y="457202"/>
            <a:ext cx="9144000" cy="647698"/>
          </a:xfrm>
          <a:solidFill>
            <a:schemeClr val="bg1">
              <a:lumMod val="85000"/>
            </a:schemeClr>
          </a:solidFill>
        </p:spPr>
        <p:txBody>
          <a:bodyPr>
            <a:normAutofit/>
          </a:bodyPr>
          <a:lstStyle/>
          <a:p>
            <a:r>
              <a:rPr lang="en-US" sz="3200" b="1" dirty="0"/>
              <a:t>       Monte Carlo  </a:t>
            </a:r>
          </a:p>
        </p:txBody>
      </p:sp>
    </p:spTree>
    <p:extLst>
      <p:ext uri="{BB962C8B-B14F-4D97-AF65-F5344CB8AC3E}">
        <p14:creationId xmlns:p14="http://schemas.microsoft.com/office/powerpoint/2010/main" val="21099541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uiExpand="1" build="p"/>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8" name="Picture 117"/>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93483" y="1466460"/>
            <a:ext cx="1942736" cy="2097051"/>
          </a:xfrm>
          <a:prstGeom prst="rect">
            <a:avLst/>
          </a:prstGeom>
        </p:spPr>
      </p:pic>
      <p:sp>
        <p:nvSpPr>
          <p:cNvPr id="65" name="Title 1"/>
          <p:cNvSpPr txBox="1">
            <a:spLocks/>
          </p:cNvSpPr>
          <p:nvPr/>
        </p:nvSpPr>
        <p:spPr>
          <a:xfrm>
            <a:off x="0" y="457203"/>
            <a:ext cx="9144000" cy="64688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Neutron multiplication factor ( K</a:t>
            </a:r>
            <a:r>
              <a:rPr lang="en-US" sz="3200" b="1" baseline="-25000" dirty="0"/>
              <a:t>eff</a:t>
            </a:r>
            <a:r>
              <a:rPr lang="en-US" sz="3200" b="1" dirty="0"/>
              <a:t> )</a:t>
            </a:r>
            <a:endParaRPr lang="en-US" sz="3200" b="1" baseline="-25000" dirty="0"/>
          </a:p>
        </p:txBody>
      </p:sp>
      <p:sp>
        <p:nvSpPr>
          <p:cNvPr id="5" name="TextBox 4"/>
          <p:cNvSpPr txBox="1"/>
          <p:nvPr/>
        </p:nvSpPr>
        <p:spPr>
          <a:xfrm>
            <a:off x="739529" y="2136822"/>
            <a:ext cx="2244361" cy="584775"/>
          </a:xfrm>
          <a:prstGeom prst="rect">
            <a:avLst/>
          </a:prstGeom>
          <a:noFill/>
        </p:spPr>
        <p:txBody>
          <a:bodyPr wrap="square" rtlCol="0">
            <a:spAutoFit/>
          </a:bodyPr>
          <a:lstStyle/>
          <a:p>
            <a:r>
              <a:rPr lang="en-US" sz="1600" b="1" dirty="0">
                <a:solidFill>
                  <a:schemeClr val="tx1">
                    <a:lumMod val="75000"/>
                    <a:lumOff val="25000"/>
                  </a:schemeClr>
                </a:solidFill>
              </a:rPr>
              <a:t>Nuclear Fission</a:t>
            </a:r>
          </a:p>
          <a:p>
            <a:r>
              <a:rPr lang="en-US" sz="1600" b="1" dirty="0">
                <a:solidFill>
                  <a:schemeClr val="tx1">
                    <a:lumMod val="75000"/>
                    <a:lumOff val="25000"/>
                  </a:schemeClr>
                </a:solidFill>
              </a:rPr>
              <a:t>Chain reaction</a:t>
            </a:r>
          </a:p>
        </p:txBody>
      </p:sp>
      <p:pic>
        <p:nvPicPr>
          <p:cNvPr id="2" name="Picture 1"/>
          <p:cNvPicPr>
            <a:picLocks noChangeAspect="1"/>
          </p:cNvPicPr>
          <p:nvPr/>
        </p:nvPicPr>
        <p:blipFill>
          <a:blip r:embed="rId4"/>
          <a:stretch>
            <a:fillRect/>
          </a:stretch>
        </p:blipFill>
        <p:spPr>
          <a:xfrm>
            <a:off x="5588001" y="1363423"/>
            <a:ext cx="3186157" cy="2303122"/>
          </a:xfrm>
          <a:prstGeom prst="rect">
            <a:avLst/>
          </a:prstGeom>
        </p:spPr>
      </p:pic>
      <mc:AlternateContent xmlns:mc="http://schemas.openxmlformats.org/markup-compatibility/2006">
        <mc:Choice xmlns:a14="http://schemas.microsoft.com/office/drawing/2010/main" Requires="a14">
          <p:sp>
            <p:nvSpPr>
              <p:cNvPr id="4" name="TextBox 3"/>
              <p:cNvSpPr txBox="1"/>
              <p:nvPr/>
            </p:nvSpPr>
            <p:spPr>
              <a:xfrm>
                <a:off x="1747408" y="3754327"/>
                <a:ext cx="5159148" cy="575157"/>
              </a:xfrm>
              <a:prstGeom prst="rect">
                <a:avLst/>
              </a:prstGeom>
              <a:solidFill>
                <a:schemeClr val="bg1">
                  <a:lumMod val="85000"/>
                </a:schemeClr>
              </a:solidFill>
              <a:ln w="28575">
                <a:solidFill>
                  <a:schemeClr val="tx1"/>
                </a:solidFill>
              </a:ln>
            </p:spPr>
            <p:txBody>
              <a:bodyPr wrap="square" lIns="0" tIns="0" rIns="0" bIns="0" rtlCol="0">
                <a:spAutoFit/>
              </a:bodyPr>
              <a:lstStyle/>
              <a:p>
                <a:pPr/>
                <a14:m>
                  <m:oMathPara xmlns:m="http://schemas.openxmlformats.org/officeDocument/2006/math">
                    <m:oMathParaPr>
                      <m:jc m:val="centerGroup"/>
                    </m:oMathParaPr>
                    <m:oMath xmlns:m="http://schemas.openxmlformats.org/officeDocument/2006/math">
                      <m:r>
                        <a:rPr lang="en-US" b="1" i="1">
                          <a:latin typeface="Cambria Math" panose="02040503050406030204" pitchFamily="18" charset="0"/>
                        </a:rPr>
                        <m:t>𝑲</m:t>
                      </m:r>
                      <m:r>
                        <a:rPr lang="en-US" b="1" i="1" baseline="-25000">
                          <a:latin typeface="Cambria Math" panose="02040503050406030204" pitchFamily="18" charset="0"/>
                        </a:rPr>
                        <m:t>𝒆𝒇𝒇</m:t>
                      </m:r>
                      <m:r>
                        <a:rPr lang="en-US" i="1">
                          <a:latin typeface="Cambria Math" panose="02040503050406030204" pitchFamily="18" charset="0"/>
                        </a:rPr>
                        <m:t>= </m:t>
                      </m:r>
                      <m:f>
                        <m:fPr>
                          <m:ctrlPr>
                            <a:rPr lang="en-US" i="1">
                              <a:latin typeface="Cambria Math" panose="02040503050406030204" pitchFamily="18" charset="0"/>
                            </a:rPr>
                          </m:ctrlPr>
                        </m:fPr>
                        <m:num>
                          <m:r>
                            <a:rPr lang="en-US" b="1" i="1">
                              <a:latin typeface="Cambria Math" panose="02040503050406030204" pitchFamily="18" charset="0"/>
                            </a:rPr>
                            <m:t>𝑵𝒖𝒎𝒃𝒆𝒓</m:t>
                          </m:r>
                          <m:r>
                            <a:rPr lang="en-US" b="1" i="1">
                              <a:latin typeface="Cambria Math" panose="02040503050406030204" pitchFamily="18" charset="0"/>
                            </a:rPr>
                            <m:t> </m:t>
                          </m:r>
                          <m:r>
                            <a:rPr lang="en-US" b="1" i="1">
                              <a:latin typeface="Cambria Math" panose="02040503050406030204" pitchFamily="18" charset="0"/>
                            </a:rPr>
                            <m:t>𝒐𝒇</m:t>
                          </m:r>
                          <m:r>
                            <a:rPr lang="en-US" b="1" i="1">
                              <a:latin typeface="Cambria Math" panose="02040503050406030204" pitchFamily="18" charset="0"/>
                            </a:rPr>
                            <m:t> </m:t>
                          </m:r>
                          <m:r>
                            <a:rPr lang="en-US" b="1" i="1">
                              <a:latin typeface="Cambria Math" panose="02040503050406030204" pitchFamily="18" charset="0"/>
                            </a:rPr>
                            <m:t>𝒏𝒆𝒖𝒕𝒓𝒐𝒏𝒔</m:t>
                          </m:r>
                          <m:r>
                            <a:rPr lang="en-US" b="1" i="1">
                              <a:latin typeface="Cambria Math" panose="02040503050406030204" pitchFamily="18" charset="0"/>
                            </a:rPr>
                            <m:t> </m:t>
                          </m:r>
                          <m:r>
                            <a:rPr lang="en-US" b="1" i="1">
                              <a:latin typeface="Cambria Math" panose="02040503050406030204" pitchFamily="18" charset="0"/>
                            </a:rPr>
                            <m:t>𝒑𝒓𝒐𝒅𝒖𝒄𝒆𝒅</m:t>
                          </m:r>
                          <m:r>
                            <a:rPr lang="en-US" b="1" i="1">
                              <a:latin typeface="Cambria Math" panose="02040503050406030204" pitchFamily="18" charset="0"/>
                            </a:rPr>
                            <m:t>  </m:t>
                          </m:r>
                          <m:r>
                            <a:rPr lang="en-US" i="1">
                              <a:latin typeface="Cambria Math" panose="02040503050406030204" pitchFamily="18" charset="0"/>
                            </a:rPr>
                            <m:t>(2</m:t>
                          </m:r>
                          <m:r>
                            <a:rPr lang="en-US" i="1" baseline="30000">
                              <a:latin typeface="Cambria Math" panose="02040503050406030204" pitchFamily="18" charset="0"/>
                            </a:rPr>
                            <m:t>𝑛𝑑</m:t>
                          </m:r>
                          <m:r>
                            <a:rPr lang="en-US" i="1">
                              <a:latin typeface="Cambria Math" panose="02040503050406030204" pitchFamily="18" charset="0"/>
                            </a:rPr>
                            <m:t> )</m:t>
                          </m:r>
                        </m:num>
                        <m:den>
                          <m:r>
                            <a:rPr lang="en-US" b="1" i="1">
                              <a:latin typeface="Cambria Math" panose="02040503050406030204" pitchFamily="18" charset="0"/>
                            </a:rPr>
                            <m:t>𝑵𝒖𝒎𝒃𝒆𝒓</m:t>
                          </m:r>
                          <m:r>
                            <a:rPr lang="en-US" b="1" i="1">
                              <a:latin typeface="Cambria Math" panose="02040503050406030204" pitchFamily="18" charset="0"/>
                            </a:rPr>
                            <m:t> </m:t>
                          </m:r>
                          <m:r>
                            <a:rPr lang="en-US" b="1" i="1">
                              <a:latin typeface="Cambria Math" panose="02040503050406030204" pitchFamily="18" charset="0"/>
                            </a:rPr>
                            <m:t>𝒐𝒇</m:t>
                          </m:r>
                          <m:r>
                            <a:rPr lang="en-US" b="1" i="1">
                              <a:latin typeface="Cambria Math" panose="02040503050406030204" pitchFamily="18" charset="0"/>
                            </a:rPr>
                            <m:t> </m:t>
                          </m:r>
                          <m:r>
                            <a:rPr lang="en-US" b="1" i="1">
                              <a:latin typeface="Cambria Math" panose="02040503050406030204" pitchFamily="18" charset="0"/>
                            </a:rPr>
                            <m:t>𝒏𝒆𝒖𝒕𝒓𝒐𝒏𝒔</m:t>
                          </m:r>
                          <m:r>
                            <a:rPr lang="en-US" b="1" i="1">
                              <a:latin typeface="Cambria Math" panose="02040503050406030204" pitchFamily="18" charset="0"/>
                            </a:rPr>
                            <m:t> </m:t>
                          </m:r>
                          <m:r>
                            <a:rPr lang="en-US" b="1" i="1">
                              <a:latin typeface="Cambria Math" panose="02040503050406030204" pitchFamily="18" charset="0"/>
                            </a:rPr>
                            <m:t>𝒔𝒕𝒂𝒓𝒕𝒆𝒅</m:t>
                          </m:r>
                          <m:r>
                            <a:rPr lang="en-US" b="1" i="1">
                              <a:latin typeface="Cambria Math" panose="02040503050406030204" pitchFamily="18" charset="0"/>
                            </a:rPr>
                            <m:t> </m:t>
                          </m:r>
                          <m:r>
                            <a:rPr lang="en-US" i="1">
                              <a:latin typeface="Cambria Math" panose="02040503050406030204" pitchFamily="18" charset="0"/>
                            </a:rPr>
                            <m:t>(1</m:t>
                          </m:r>
                          <m:r>
                            <a:rPr lang="en-US" i="1" baseline="30000">
                              <a:latin typeface="Cambria Math" panose="02040503050406030204" pitchFamily="18" charset="0"/>
                            </a:rPr>
                            <m:t>𝑠𝑡</m:t>
                          </m:r>
                          <m:r>
                            <a:rPr lang="en-US" i="1">
                              <a:latin typeface="Cambria Math" panose="02040503050406030204" pitchFamily="18" charset="0"/>
                            </a:rPr>
                            <m:t>)</m:t>
                          </m:r>
                        </m:den>
                      </m:f>
                    </m:oMath>
                  </m:oMathPara>
                </a14:m>
                <a:endParaRPr lang="en-US" dirty="0"/>
              </a:p>
            </p:txBody>
          </p:sp>
        </mc:Choice>
        <mc:Fallback>
          <p:sp>
            <p:nvSpPr>
              <p:cNvPr id="4" name="TextBox 3"/>
              <p:cNvSpPr txBox="1">
                <a:spLocks noRot="1" noChangeAspect="1" noMove="1" noResize="1" noEditPoints="1" noAdjustHandles="1" noChangeArrowheads="1" noChangeShapeType="1" noTextEdit="1"/>
              </p:cNvSpPr>
              <p:nvPr/>
            </p:nvSpPr>
            <p:spPr>
              <a:xfrm>
                <a:off x="1747408" y="3754327"/>
                <a:ext cx="5159148" cy="575157"/>
              </a:xfrm>
              <a:prstGeom prst="rect">
                <a:avLst/>
              </a:prstGeom>
              <a:blipFill>
                <a:blip r:embed="rId5"/>
                <a:stretch>
                  <a:fillRect/>
                </a:stretch>
              </a:blipFill>
              <a:ln w="28575">
                <a:solidFill>
                  <a:schemeClr val="tx1"/>
                </a:solidFill>
              </a:ln>
            </p:spPr>
            <p:txBody>
              <a:bodyPr/>
              <a:lstStyle/>
              <a:p>
                <a:r>
                  <a:rPr lang="en-IN">
                    <a:noFill/>
                  </a:rPr>
                  <a:t> </a:t>
                </a:r>
              </a:p>
            </p:txBody>
          </p:sp>
        </mc:Fallback>
      </mc:AlternateContent>
      <p:pic>
        <p:nvPicPr>
          <p:cNvPr id="3" name="Picture 2"/>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450682" y="3614585"/>
            <a:ext cx="1752600" cy="1700022"/>
          </a:xfrm>
          <a:prstGeom prst="rect">
            <a:avLst/>
          </a:prstGeom>
          <a:ln>
            <a:solidFill>
              <a:schemeClr val="tx1">
                <a:lumMod val="85000"/>
                <a:lumOff val="15000"/>
              </a:schemeClr>
            </a:solidFill>
          </a:ln>
        </p:spPr>
      </p:pic>
      <p:pic>
        <p:nvPicPr>
          <p:cNvPr id="6" name="Picture 5"/>
          <p:cNvPicPr>
            <a:picLocks noChangeAspect="1"/>
          </p:cNvPicPr>
          <p:nvPr/>
        </p:nvPicPr>
        <p:blipFill>
          <a:blip r:embed="rId7"/>
          <a:stretch>
            <a:fillRect/>
          </a:stretch>
        </p:blipFill>
        <p:spPr>
          <a:xfrm>
            <a:off x="936351" y="3614586"/>
            <a:ext cx="1850715" cy="1751097"/>
          </a:xfrm>
          <a:prstGeom prst="rect">
            <a:avLst/>
          </a:prstGeom>
          <a:ln>
            <a:solidFill>
              <a:schemeClr val="tx1">
                <a:lumMod val="85000"/>
                <a:lumOff val="15000"/>
              </a:schemeClr>
            </a:solidFill>
          </a:ln>
        </p:spPr>
      </p:pic>
      <p:pic>
        <p:nvPicPr>
          <p:cNvPr id="7" name="Picture 6"/>
          <p:cNvPicPr>
            <a:picLocks noChangeAspect="1"/>
          </p:cNvPicPr>
          <p:nvPr/>
        </p:nvPicPr>
        <p:blipFill>
          <a:blip r:embed="rId8"/>
          <a:stretch>
            <a:fillRect/>
          </a:stretch>
        </p:blipFill>
        <p:spPr>
          <a:xfrm>
            <a:off x="5835265" y="3614585"/>
            <a:ext cx="2168952" cy="1700022"/>
          </a:xfrm>
          <a:prstGeom prst="rect">
            <a:avLst/>
          </a:prstGeom>
        </p:spPr>
      </p:pic>
      <p:sp>
        <p:nvSpPr>
          <p:cNvPr id="8" name="TextBox 7"/>
          <p:cNvSpPr txBox="1"/>
          <p:nvPr/>
        </p:nvSpPr>
        <p:spPr>
          <a:xfrm>
            <a:off x="3956432" y="5371042"/>
            <a:ext cx="677430" cy="307777"/>
          </a:xfrm>
          <a:prstGeom prst="rect">
            <a:avLst/>
          </a:prstGeom>
          <a:noFill/>
        </p:spPr>
        <p:txBody>
          <a:bodyPr wrap="none" rtlCol="0">
            <a:spAutoFit/>
          </a:bodyPr>
          <a:lstStyle/>
          <a:p>
            <a:r>
              <a:rPr lang="en-US" sz="1400" b="1" dirty="0" err="1"/>
              <a:t>K</a:t>
            </a:r>
            <a:r>
              <a:rPr lang="en-US" sz="1400" b="1" baseline="-25000" dirty="0" err="1"/>
              <a:t>eff</a:t>
            </a:r>
            <a:r>
              <a:rPr lang="en-US" sz="1400" b="1" dirty="0"/>
              <a:t> = 1</a:t>
            </a:r>
          </a:p>
        </p:txBody>
      </p:sp>
      <p:sp>
        <p:nvSpPr>
          <p:cNvPr id="11" name="TextBox 10"/>
          <p:cNvSpPr txBox="1"/>
          <p:nvPr/>
        </p:nvSpPr>
        <p:spPr>
          <a:xfrm>
            <a:off x="6581026" y="5371042"/>
            <a:ext cx="677430" cy="307777"/>
          </a:xfrm>
          <a:prstGeom prst="rect">
            <a:avLst/>
          </a:prstGeom>
          <a:noFill/>
        </p:spPr>
        <p:txBody>
          <a:bodyPr wrap="none" rtlCol="0">
            <a:spAutoFit/>
          </a:bodyPr>
          <a:lstStyle/>
          <a:p>
            <a:r>
              <a:rPr lang="en-US" sz="1400" b="1" dirty="0" err="1"/>
              <a:t>K</a:t>
            </a:r>
            <a:r>
              <a:rPr lang="en-US" sz="1400" b="1" baseline="-25000" dirty="0" err="1"/>
              <a:t>eff</a:t>
            </a:r>
            <a:r>
              <a:rPr lang="en-US" sz="1400" b="1" dirty="0"/>
              <a:t> &gt; 1</a:t>
            </a:r>
          </a:p>
        </p:txBody>
      </p:sp>
      <p:sp>
        <p:nvSpPr>
          <p:cNvPr id="12" name="TextBox 11"/>
          <p:cNvSpPr txBox="1"/>
          <p:nvPr/>
        </p:nvSpPr>
        <p:spPr>
          <a:xfrm>
            <a:off x="1522992" y="5375434"/>
            <a:ext cx="677430" cy="307777"/>
          </a:xfrm>
          <a:prstGeom prst="rect">
            <a:avLst/>
          </a:prstGeom>
          <a:noFill/>
        </p:spPr>
        <p:txBody>
          <a:bodyPr wrap="none" rtlCol="0">
            <a:spAutoFit/>
          </a:bodyPr>
          <a:lstStyle/>
          <a:p>
            <a:r>
              <a:rPr lang="en-US" sz="1400" b="1" dirty="0" err="1"/>
              <a:t>K</a:t>
            </a:r>
            <a:r>
              <a:rPr lang="en-US" sz="1400" b="1" baseline="-25000" dirty="0" err="1"/>
              <a:t>eff</a:t>
            </a:r>
            <a:r>
              <a:rPr lang="en-US" sz="1400" b="1" dirty="0"/>
              <a:t> &lt; 1</a:t>
            </a:r>
          </a:p>
        </p:txBody>
      </p:sp>
    </p:spTree>
    <p:extLst>
      <p:ext uri="{BB962C8B-B14F-4D97-AF65-F5344CB8AC3E}">
        <p14:creationId xmlns:p14="http://schemas.microsoft.com/office/powerpoint/2010/main" val="36514654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42" presetClass="path" presetSubtype="0" accel="50000" decel="50000" fill="hold" grpId="1" nodeType="clickEffect">
                                  <p:stCondLst>
                                    <p:cond delay="0"/>
                                  </p:stCondLst>
                                  <p:childTnLst>
                                    <p:animMotion origin="layout" path="M -3.88889E-6 1.7094E-6 L 0.00035 0.34188 " pathEditMode="relative" rAng="0" ptsTypes="AA">
                                      <p:cBhvr>
                                        <p:cTn id="10" dur="2000" fill="hold"/>
                                        <p:tgtEl>
                                          <p:spTgt spid="4"/>
                                        </p:tgtEl>
                                        <p:attrNameLst>
                                          <p:attrName>ppt_x</p:attrName>
                                          <p:attrName>ppt_y</p:attrName>
                                        </p:attrNameLst>
                                      </p:cBhvr>
                                      <p:rCtr x="17" y="17094"/>
                                    </p:animMotion>
                                  </p:childTnLst>
                                </p:cTn>
                              </p:par>
                              <p:par>
                                <p:cTn id="11" presetID="1" presetClass="entr" presetSubtype="0" fill="hold" nodeType="withEffect">
                                  <p:stCondLst>
                                    <p:cond delay="0"/>
                                  </p:stCondLst>
                                  <p:childTnLst>
                                    <p:set>
                                      <p:cBhvr>
                                        <p:cTn id="12" dur="1" fill="hold">
                                          <p:stCondLst>
                                            <p:cond delay="0"/>
                                          </p:stCondLst>
                                        </p:cTn>
                                        <p:tgtEl>
                                          <p:spTgt spid="3"/>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7"/>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4" grpId="1" animBg="1"/>
      <p:bldP spid="8" grpId="0"/>
      <p:bldP spid="11" grpId="0"/>
      <p:bldP spid="12" grpId="0"/>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9600" y="1689129"/>
            <a:ext cx="7924800" cy="3785652"/>
          </a:xfrm>
          <a:prstGeom prst="rect">
            <a:avLst/>
          </a:prstGeom>
          <a:noFill/>
        </p:spPr>
        <p:txBody>
          <a:bodyPr wrap="square" rtlCol="0">
            <a:spAutoFit/>
          </a:bodyPr>
          <a:lstStyle/>
          <a:p>
            <a:pPr marL="182880" indent="-342900">
              <a:lnSpc>
                <a:spcPct val="150000"/>
              </a:lnSpc>
              <a:buFont typeface="Arial" panose="020B0604020202020204" pitchFamily="34" charset="0"/>
              <a:buChar char="•"/>
            </a:pPr>
            <a:r>
              <a:rPr lang="en-US" sz="2000" b="1" dirty="0"/>
              <a:t>Licensed Monte Carlo Criticality codes are not available in  India</a:t>
            </a:r>
          </a:p>
          <a:p>
            <a:pPr marL="338138" indent="-338138">
              <a:lnSpc>
                <a:spcPct val="150000"/>
              </a:lnSpc>
              <a:buFont typeface="Arial" panose="020B0604020202020204" pitchFamily="34" charset="0"/>
              <a:buChar char="•"/>
            </a:pPr>
            <a:r>
              <a:rPr lang="en-US" sz="2000" b="1" dirty="0"/>
              <a:t>Not much significant organized  effort for situations outside reactor    geometry</a:t>
            </a:r>
          </a:p>
          <a:p>
            <a:pPr marL="342900" indent="-342900">
              <a:lnSpc>
                <a:spcPct val="150000"/>
              </a:lnSpc>
              <a:buFont typeface="Arial" panose="020B0604020202020204" pitchFamily="34" charset="0"/>
              <a:buChar char="•"/>
            </a:pPr>
            <a:r>
              <a:rPr lang="en-US" sz="2000" b="1" dirty="0"/>
              <a:t>To ensure safety, a proper tool is required for analysis of complex fissile systems. </a:t>
            </a:r>
          </a:p>
          <a:p>
            <a:pPr marL="342900" indent="-342900">
              <a:lnSpc>
                <a:spcPct val="150000"/>
              </a:lnSpc>
              <a:buFont typeface="Arial" panose="020B0604020202020204" pitchFamily="34" charset="0"/>
              <a:buChar char="•"/>
            </a:pPr>
            <a:endParaRPr lang="en-US" sz="2000" b="1" dirty="0"/>
          </a:p>
          <a:p>
            <a:pPr>
              <a:lnSpc>
                <a:spcPct val="150000"/>
              </a:lnSpc>
            </a:pPr>
            <a:r>
              <a:rPr lang="en-US" sz="2000" b="1" dirty="0">
                <a:solidFill>
                  <a:srgbClr val="008000"/>
                </a:solidFill>
              </a:rPr>
              <a:t>      Therefore, development of a Monte Carlo code indigenously , which is      	applicable to complex geometries is  highly desirable.</a:t>
            </a:r>
          </a:p>
        </p:txBody>
      </p:sp>
      <p:sp>
        <p:nvSpPr>
          <p:cNvPr id="6"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Reason for development</a:t>
            </a:r>
            <a:endParaRPr lang="en-US" sz="3200" b="1" baseline="-25000" dirty="0">
              <a:solidFill>
                <a:schemeClr val="bg1">
                  <a:lumMod val="65000"/>
                </a:schemeClr>
              </a:solidFill>
            </a:endParaRPr>
          </a:p>
        </p:txBody>
      </p:sp>
    </p:spTree>
    <p:extLst>
      <p:ext uri="{BB962C8B-B14F-4D97-AF65-F5344CB8AC3E}">
        <p14:creationId xmlns:p14="http://schemas.microsoft.com/office/powerpoint/2010/main" val="435980157"/>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 name="Title 1"/>
          <p:cNvSpPr txBox="1">
            <a:spLocks/>
          </p:cNvSpPr>
          <p:nvPr/>
        </p:nvSpPr>
        <p:spPr>
          <a:xfrm>
            <a:off x="-2113" y="460427"/>
            <a:ext cx="9144000" cy="625557"/>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Method</a:t>
            </a:r>
            <a:endParaRPr lang="en-US" sz="3200" b="1" baseline="-25000" dirty="0">
              <a:solidFill>
                <a:schemeClr val="bg1">
                  <a:lumMod val="65000"/>
                </a:schemeClr>
              </a:solidFill>
            </a:endParaRPr>
          </a:p>
        </p:txBody>
      </p:sp>
      <p:sp>
        <p:nvSpPr>
          <p:cNvPr id="12" name="TextBox 11"/>
          <p:cNvSpPr txBox="1"/>
          <p:nvPr/>
        </p:nvSpPr>
        <p:spPr>
          <a:xfrm>
            <a:off x="5689653" y="1651682"/>
            <a:ext cx="3191935" cy="1138773"/>
          </a:xfrm>
          <a:prstGeom prst="rect">
            <a:avLst/>
          </a:prstGeom>
          <a:noFill/>
        </p:spPr>
        <p:txBody>
          <a:bodyPr wrap="square" rtlCol="0">
            <a:spAutoFit/>
          </a:bodyPr>
          <a:lstStyle/>
          <a:p>
            <a:pPr algn="ctr"/>
            <a:r>
              <a:rPr lang="en-US" b="1" dirty="0">
                <a:solidFill>
                  <a:srgbClr val="008000"/>
                </a:solidFill>
              </a:rPr>
              <a:t>MODULE INPUT</a:t>
            </a:r>
          </a:p>
          <a:p>
            <a:pPr algn="ctr"/>
            <a:endParaRPr lang="en-US" b="1" dirty="0">
              <a:solidFill>
                <a:srgbClr val="008000"/>
              </a:solidFill>
            </a:endParaRPr>
          </a:p>
          <a:p>
            <a:pPr algn="ctr"/>
            <a:r>
              <a:rPr lang="en-US" sz="1600" b="1" dirty="0">
                <a:solidFill>
                  <a:srgbClr val="008000"/>
                </a:solidFill>
              </a:rPr>
              <a:t>Shows Warning</a:t>
            </a:r>
          </a:p>
          <a:p>
            <a:pPr algn="ctr"/>
            <a:r>
              <a:rPr lang="en-US" sz="1600" b="1" dirty="0">
                <a:solidFill>
                  <a:srgbClr val="008000"/>
                </a:solidFill>
              </a:rPr>
              <a:t>Execution stops with fatal error</a:t>
            </a:r>
          </a:p>
        </p:txBody>
      </p:sp>
      <p:sp>
        <p:nvSpPr>
          <p:cNvPr id="2" name="TextBox 1"/>
          <p:cNvSpPr txBox="1"/>
          <p:nvPr/>
        </p:nvSpPr>
        <p:spPr>
          <a:xfrm>
            <a:off x="344312" y="5812015"/>
            <a:ext cx="6626577" cy="307777"/>
          </a:xfrm>
          <a:prstGeom prst="rect">
            <a:avLst/>
          </a:prstGeom>
          <a:solidFill>
            <a:schemeClr val="bg1">
              <a:lumMod val="85000"/>
            </a:schemeClr>
          </a:solidFill>
        </p:spPr>
        <p:txBody>
          <a:bodyPr wrap="square" rtlCol="0">
            <a:spAutoFit/>
          </a:bodyPr>
          <a:lstStyle>
            <a:defPPr>
              <a:defRPr lang="en-US"/>
            </a:defPPr>
          </a:lstStyle>
          <a:p>
            <a:r>
              <a:rPr lang="en-US" sz="1400" dirty="0"/>
              <a:t>m1    92235 -93.71     92238 -5.27      92234 -1.02</a:t>
            </a:r>
          </a:p>
        </p:txBody>
      </p:sp>
      <p:sp>
        <p:nvSpPr>
          <p:cNvPr id="3" name="TextBox 2"/>
          <p:cNvSpPr txBox="1"/>
          <p:nvPr/>
        </p:nvSpPr>
        <p:spPr>
          <a:xfrm>
            <a:off x="344311" y="4977841"/>
            <a:ext cx="6626577" cy="523220"/>
          </a:xfrm>
          <a:prstGeom prst="rect">
            <a:avLst/>
          </a:prstGeom>
          <a:solidFill>
            <a:schemeClr val="bg1">
              <a:lumMod val="85000"/>
            </a:schemeClr>
          </a:solidFill>
        </p:spPr>
        <p:txBody>
          <a:bodyPr wrap="square" rtlCol="0">
            <a:spAutoFit/>
          </a:bodyPr>
          <a:lstStyle/>
          <a:p>
            <a:r>
              <a:rPr lang="en-US" sz="1400" dirty="0"/>
              <a:t>1      1      -18.74  -1      imp:n=1   $   enriched uranium sphere (godiva)</a:t>
            </a:r>
          </a:p>
          <a:p>
            <a:r>
              <a:rPr lang="en-US" sz="1400" dirty="0"/>
              <a:t>2      0                    1       imp:n=0   $   all space outside the sphere</a:t>
            </a:r>
          </a:p>
        </p:txBody>
      </p:sp>
      <p:sp>
        <p:nvSpPr>
          <p:cNvPr id="5" name="TextBox 4"/>
          <p:cNvSpPr txBox="1"/>
          <p:nvPr/>
        </p:nvSpPr>
        <p:spPr>
          <a:xfrm>
            <a:off x="344313" y="5502326"/>
            <a:ext cx="6626577" cy="307777"/>
          </a:xfrm>
          <a:prstGeom prst="rect">
            <a:avLst/>
          </a:prstGeom>
          <a:solidFill>
            <a:schemeClr val="bg1">
              <a:lumMod val="95000"/>
            </a:schemeClr>
          </a:solidFill>
        </p:spPr>
        <p:txBody>
          <a:bodyPr wrap="square" rtlCol="0">
            <a:spAutoFit/>
          </a:bodyPr>
          <a:lstStyle/>
          <a:p>
            <a:r>
              <a:rPr lang="en-US" sz="1400" dirty="0">
                <a:solidFill>
                  <a:sysClr val="windowText" lastClr="000000"/>
                </a:solidFill>
              </a:rPr>
              <a:t>1     so      8.741                             $ radius of the Godiva sphere</a:t>
            </a:r>
          </a:p>
        </p:txBody>
      </p:sp>
      <p:pic>
        <p:nvPicPr>
          <p:cNvPr id="13" name="Picture 12"/>
          <p:cNvPicPr>
            <a:picLocks noChangeAspect="1"/>
          </p:cNvPicPr>
          <p:nvPr/>
        </p:nvPicPr>
        <p:blipFill rotWithShape="1">
          <a:blip r:embed="rId2">
            <a:extLst>
              <a:ext uri="{28A0092B-C50C-407E-A947-70E740481C1C}">
                <a14:useLocalDpi xmlns:a14="http://schemas.microsoft.com/office/drawing/2010/main" val="0"/>
              </a:ext>
            </a:extLst>
          </a:blip>
          <a:srcRect l="16331" t="4647" r="15379" b="5668"/>
          <a:stretch/>
        </p:blipFill>
        <p:spPr>
          <a:xfrm>
            <a:off x="656384" y="2554447"/>
            <a:ext cx="2018595" cy="1892058"/>
          </a:xfrm>
          <a:prstGeom prst="rect">
            <a:avLst/>
          </a:prstGeom>
        </p:spPr>
      </p:pic>
      <p:sp>
        <p:nvSpPr>
          <p:cNvPr id="14" name="TextBox 13"/>
          <p:cNvSpPr txBox="1"/>
          <p:nvPr/>
        </p:nvSpPr>
        <p:spPr>
          <a:xfrm>
            <a:off x="924153" y="2967208"/>
            <a:ext cx="1524230" cy="276999"/>
          </a:xfrm>
          <a:prstGeom prst="rect">
            <a:avLst/>
          </a:prstGeom>
          <a:noFill/>
        </p:spPr>
        <p:txBody>
          <a:bodyPr wrap="square" rtlCol="0">
            <a:spAutoFit/>
          </a:bodyPr>
          <a:lstStyle/>
          <a:p>
            <a:r>
              <a:rPr lang="en-US" sz="1200" b="1" dirty="0"/>
              <a:t>U-235, U-238 U-234</a:t>
            </a:r>
          </a:p>
        </p:txBody>
      </p:sp>
      <p:sp>
        <p:nvSpPr>
          <p:cNvPr id="24" name="Rectangle 23"/>
          <p:cNvSpPr/>
          <p:nvPr/>
        </p:nvSpPr>
        <p:spPr>
          <a:xfrm>
            <a:off x="344310" y="1221208"/>
            <a:ext cx="4904584" cy="783032"/>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n-US" dirty="0">
                <a:ln w="0"/>
                <a:solidFill>
                  <a:schemeClr val="tx1"/>
                </a:solidFill>
                <a:effectLst>
                  <a:outerShdw blurRad="38100" dist="19050" dir="2700000" algn="tl" rotWithShape="0">
                    <a:schemeClr val="dk1">
                      <a:alpha val="40000"/>
                    </a:schemeClr>
                  </a:outerShdw>
                </a:effectLst>
              </a:rPr>
              <a:t>1.Processing user input  (Geometry and Materials)</a:t>
            </a:r>
          </a:p>
          <a:p>
            <a:r>
              <a:rPr lang="en-US" dirty="0">
                <a:ln w="0"/>
                <a:solidFill>
                  <a:schemeClr val="tx1"/>
                </a:solidFill>
                <a:effectLst>
                  <a:outerShdw blurRad="38100" dist="19050" dir="2700000" algn="tl" rotWithShape="0">
                    <a:schemeClr val="dk1">
                      <a:alpha val="40000"/>
                    </a:schemeClr>
                  </a:outerShdw>
                </a:effectLst>
              </a:rPr>
              <a:t>2.Reading nuclide cross-section data</a:t>
            </a:r>
          </a:p>
        </p:txBody>
      </p:sp>
      <p:sp>
        <p:nvSpPr>
          <p:cNvPr id="4" name="Rectangle 3"/>
          <p:cNvSpPr/>
          <p:nvPr/>
        </p:nvSpPr>
        <p:spPr>
          <a:xfrm>
            <a:off x="7285621" y="5078872"/>
            <a:ext cx="1065101" cy="3175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Cells</a:t>
            </a:r>
          </a:p>
        </p:txBody>
      </p:sp>
      <p:sp>
        <p:nvSpPr>
          <p:cNvPr id="16" name="Rectangle 15"/>
          <p:cNvSpPr/>
          <p:nvPr/>
        </p:nvSpPr>
        <p:spPr>
          <a:xfrm>
            <a:off x="7285621" y="5499232"/>
            <a:ext cx="1065101" cy="3175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Surfaces</a:t>
            </a:r>
          </a:p>
        </p:txBody>
      </p:sp>
      <p:sp>
        <p:nvSpPr>
          <p:cNvPr id="18" name="Rectangle 17"/>
          <p:cNvSpPr/>
          <p:nvPr/>
        </p:nvSpPr>
        <p:spPr>
          <a:xfrm>
            <a:off x="7285621" y="5915995"/>
            <a:ext cx="1065101" cy="317500"/>
          </a:xfrm>
          <a:prstGeom prst="rect">
            <a:avLst/>
          </a:prstGeom>
          <a:solidFill>
            <a:schemeClr val="bg1">
              <a:lumMod val="95000"/>
            </a:schemeClr>
          </a:solidFill>
          <a:ln>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chemeClr val="tx1"/>
                </a:solidFill>
              </a:rPr>
              <a:t>Materials</a:t>
            </a:r>
          </a:p>
        </p:txBody>
      </p:sp>
      <p:cxnSp>
        <p:nvCxnSpPr>
          <p:cNvPr id="7" name="Straight Arrow Connector 6"/>
          <p:cNvCxnSpPr>
            <a:stCxn id="4" idx="1"/>
            <a:endCxn id="3" idx="3"/>
          </p:cNvCxnSpPr>
          <p:nvPr/>
        </p:nvCxnSpPr>
        <p:spPr>
          <a:xfrm flipH="1">
            <a:off x="6970888" y="5237623"/>
            <a:ext cx="314733" cy="1829"/>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9" name="Straight Arrow Connector 8"/>
          <p:cNvCxnSpPr>
            <a:stCxn id="16" idx="1"/>
            <a:endCxn id="5" idx="3"/>
          </p:cNvCxnSpPr>
          <p:nvPr/>
        </p:nvCxnSpPr>
        <p:spPr>
          <a:xfrm flipH="1" flipV="1">
            <a:off x="6970890" y="5656214"/>
            <a:ext cx="314731" cy="1768"/>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2" name="Straight Arrow Connector 21"/>
          <p:cNvCxnSpPr>
            <a:stCxn id="18" idx="1"/>
            <a:endCxn id="2" idx="3"/>
          </p:cNvCxnSpPr>
          <p:nvPr/>
        </p:nvCxnSpPr>
        <p:spPr>
          <a:xfrm flipH="1" flipV="1">
            <a:off x="6970888" y="5965903"/>
            <a:ext cx="314732" cy="108842"/>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2" name="TextBox 31"/>
          <p:cNvSpPr txBox="1"/>
          <p:nvPr/>
        </p:nvSpPr>
        <p:spPr>
          <a:xfrm>
            <a:off x="1823558" y="3523111"/>
            <a:ext cx="937106" cy="276999"/>
          </a:xfrm>
          <a:prstGeom prst="rect">
            <a:avLst/>
          </a:prstGeom>
          <a:noFill/>
        </p:spPr>
        <p:txBody>
          <a:bodyPr wrap="square" rtlCol="0">
            <a:spAutoFit/>
          </a:bodyPr>
          <a:lstStyle/>
          <a:p>
            <a:r>
              <a:rPr lang="en-US" sz="1200" b="1" dirty="0">
                <a:solidFill>
                  <a:srgbClr val="C00000"/>
                </a:solidFill>
              </a:rPr>
              <a:t>8.741 cm</a:t>
            </a:r>
          </a:p>
        </p:txBody>
      </p:sp>
      <p:sp>
        <p:nvSpPr>
          <p:cNvPr id="30" name="Title 1"/>
          <p:cNvSpPr txBox="1">
            <a:spLocks/>
          </p:cNvSpPr>
          <p:nvPr/>
        </p:nvSpPr>
        <p:spPr>
          <a:xfrm>
            <a:off x="0" y="460748"/>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6" name="TextBox 5"/>
          <p:cNvSpPr txBox="1"/>
          <p:nvPr/>
        </p:nvSpPr>
        <p:spPr>
          <a:xfrm>
            <a:off x="1342515" y="3901137"/>
            <a:ext cx="646331" cy="338554"/>
          </a:xfrm>
          <a:prstGeom prst="rect">
            <a:avLst/>
          </a:prstGeom>
          <a:noFill/>
        </p:spPr>
        <p:txBody>
          <a:bodyPr wrap="none" rtlCol="0">
            <a:spAutoFit/>
          </a:bodyPr>
          <a:lstStyle/>
          <a:p>
            <a:r>
              <a:rPr lang="en-US" sz="1600" b="1" dirty="0"/>
              <a:t>Cell 1</a:t>
            </a:r>
          </a:p>
        </p:txBody>
      </p:sp>
      <p:sp>
        <p:nvSpPr>
          <p:cNvPr id="8" name="TextBox 7"/>
          <p:cNvSpPr txBox="1"/>
          <p:nvPr/>
        </p:nvSpPr>
        <p:spPr>
          <a:xfrm>
            <a:off x="398098" y="4250101"/>
            <a:ext cx="646331" cy="338554"/>
          </a:xfrm>
          <a:prstGeom prst="rect">
            <a:avLst/>
          </a:prstGeom>
          <a:noFill/>
        </p:spPr>
        <p:txBody>
          <a:bodyPr wrap="none" rtlCol="0">
            <a:spAutoFit/>
          </a:bodyPr>
          <a:lstStyle/>
          <a:p>
            <a:r>
              <a:rPr lang="en-US" sz="1600" b="1" dirty="0"/>
              <a:t>Cell 2</a:t>
            </a:r>
          </a:p>
        </p:txBody>
      </p:sp>
      <p:sp>
        <p:nvSpPr>
          <p:cNvPr id="28" name="TextBox 27"/>
          <p:cNvSpPr txBox="1"/>
          <p:nvPr/>
        </p:nvSpPr>
        <p:spPr>
          <a:xfrm>
            <a:off x="344311" y="2023661"/>
            <a:ext cx="4079065" cy="461665"/>
          </a:xfrm>
          <a:prstGeom prst="rect">
            <a:avLst/>
          </a:prstGeom>
          <a:noFill/>
        </p:spPr>
        <p:txBody>
          <a:bodyPr wrap="none" rtlCol="0">
            <a:spAutoFit/>
          </a:bodyPr>
          <a:lstStyle/>
          <a:p>
            <a:r>
              <a:rPr lang="en-US" sz="2400" b="1" u="sng" dirty="0"/>
              <a:t>Godiva Reactor </a:t>
            </a:r>
            <a:r>
              <a:rPr lang="en-US" sz="1600" dirty="0"/>
              <a:t>(Benchmark Problem)</a:t>
            </a:r>
          </a:p>
        </p:txBody>
      </p:sp>
      <p:sp>
        <p:nvSpPr>
          <p:cNvPr id="31" name="Chevron 30"/>
          <p:cNvSpPr/>
          <p:nvPr/>
        </p:nvSpPr>
        <p:spPr>
          <a:xfrm>
            <a:off x="1" y="3113496"/>
            <a:ext cx="2292111" cy="444706"/>
          </a:xfrm>
          <a:prstGeom prst="chevr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Input</a:t>
            </a:r>
          </a:p>
        </p:txBody>
      </p:sp>
      <p:sp>
        <p:nvSpPr>
          <p:cNvPr id="34" name="Chevron 33"/>
          <p:cNvSpPr/>
          <p:nvPr/>
        </p:nvSpPr>
        <p:spPr>
          <a:xfrm>
            <a:off x="6551525" y="3118234"/>
            <a:ext cx="2590139" cy="439969"/>
          </a:xfrm>
          <a:prstGeom prst="chevr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output</a:t>
            </a:r>
          </a:p>
        </p:txBody>
      </p:sp>
      <p:sp>
        <p:nvSpPr>
          <p:cNvPr id="21" name="Chevron 20"/>
          <p:cNvSpPr/>
          <p:nvPr/>
        </p:nvSpPr>
        <p:spPr>
          <a:xfrm>
            <a:off x="12701" y="647701"/>
            <a:ext cx="2292111" cy="432377"/>
          </a:xfrm>
          <a:prstGeom prst="chevron">
            <a:avLst/>
          </a:prstGeom>
          <a:solidFill>
            <a:schemeClr val="tx1">
              <a:lumMod val="85000"/>
              <a:lumOff val="15000"/>
            </a:schemeClr>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Input</a:t>
            </a:r>
          </a:p>
        </p:txBody>
      </p:sp>
      <p:sp>
        <p:nvSpPr>
          <p:cNvPr id="26" name="Rectangle 25"/>
          <p:cNvSpPr/>
          <p:nvPr/>
        </p:nvSpPr>
        <p:spPr>
          <a:xfrm>
            <a:off x="3134515" y="3215189"/>
            <a:ext cx="1947207" cy="830997"/>
          </a:xfrm>
          <a:prstGeom prst="rect">
            <a:avLst/>
          </a:prstGeom>
        </p:spPr>
        <p:txBody>
          <a:bodyPr wrap="square">
            <a:spAutoFit/>
          </a:bodyPr>
          <a:lstStyle/>
          <a:p>
            <a:r>
              <a:rPr lang="en-US" sz="1600" dirty="0"/>
              <a:t>User need to provide the </a:t>
            </a:r>
            <a:r>
              <a:rPr lang="en-US" sz="1600" i="1" dirty="0"/>
              <a:t>cross section data of all nuclide</a:t>
            </a:r>
          </a:p>
        </p:txBody>
      </p:sp>
      <p:sp>
        <p:nvSpPr>
          <p:cNvPr id="27" name="TextBox 26"/>
          <p:cNvSpPr txBox="1"/>
          <p:nvPr/>
        </p:nvSpPr>
        <p:spPr>
          <a:xfrm>
            <a:off x="5742119" y="3215188"/>
            <a:ext cx="3087001" cy="1631216"/>
          </a:xfrm>
          <a:prstGeom prst="rect">
            <a:avLst/>
          </a:prstGeom>
          <a:noFill/>
        </p:spPr>
        <p:txBody>
          <a:bodyPr wrap="square" rtlCol="0">
            <a:spAutoFit/>
          </a:bodyPr>
          <a:lstStyle/>
          <a:p>
            <a:pPr algn="ctr"/>
            <a:r>
              <a:rPr lang="en-US" b="1" dirty="0">
                <a:solidFill>
                  <a:srgbClr val="008000"/>
                </a:solidFill>
              </a:rPr>
              <a:t>MODULE CROSS_SECTION</a:t>
            </a:r>
          </a:p>
          <a:p>
            <a:pPr algn="ctr"/>
            <a:endParaRPr lang="en-US" b="1" dirty="0">
              <a:solidFill>
                <a:srgbClr val="008000"/>
              </a:solidFill>
            </a:endParaRPr>
          </a:p>
          <a:p>
            <a:pPr algn="ctr"/>
            <a:r>
              <a:rPr lang="en-US" sz="1600" b="1" dirty="0">
                <a:solidFill>
                  <a:srgbClr val="008000"/>
                </a:solidFill>
              </a:rPr>
              <a:t>Reads the cross section of all nuclide from ace formatted file and stores them in computer memory for further usage</a:t>
            </a:r>
          </a:p>
        </p:txBody>
      </p:sp>
      <p:sp>
        <p:nvSpPr>
          <p:cNvPr id="33" name="Chevron 32"/>
          <p:cNvSpPr/>
          <p:nvPr/>
        </p:nvSpPr>
        <p:spPr>
          <a:xfrm>
            <a:off x="2160431" y="3120145"/>
            <a:ext cx="4521723" cy="438058"/>
          </a:xfrm>
          <a:prstGeom prst="chevron">
            <a:avLst/>
          </a:prstGeom>
          <a:solidFill>
            <a:schemeClr val="bg1">
              <a:lumMod val="85000"/>
            </a:schemeClr>
          </a:solidFill>
          <a:ln>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tx1"/>
                </a:solidFill>
              </a:rPr>
              <a:t>Simulate all particles</a:t>
            </a:r>
          </a:p>
        </p:txBody>
      </p:sp>
    </p:spTree>
    <p:extLst>
      <p:ext uri="{BB962C8B-B14F-4D97-AF65-F5344CB8AC3E}">
        <p14:creationId xmlns:p14="http://schemas.microsoft.com/office/powerpoint/2010/main" val="25238279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path" presetSubtype="0" accel="50000" decel="50000" fill="hold" grpId="0" nodeType="clickEffect">
                                  <p:stCondLst>
                                    <p:cond delay="0"/>
                                  </p:stCondLst>
                                  <p:childTnLst>
                                    <p:animMotion origin="layout" path="M 2.77778E-6 -1.45299E-6 L 0.00104 -0.41586 " pathEditMode="relative" rAng="0" ptsTypes="AA">
                                      <p:cBhvr>
                                        <p:cTn id="6" dur="750" fill="hold"/>
                                        <p:tgtEl>
                                          <p:spTgt spid="31"/>
                                        </p:tgtEl>
                                        <p:attrNameLst>
                                          <p:attrName>ppt_x</p:attrName>
                                          <p:attrName>ppt_y</p:attrName>
                                        </p:attrNameLst>
                                      </p:cBhvr>
                                      <p:rCtr x="52" y="-20807"/>
                                    </p:animMotion>
                                  </p:childTnLst>
                                </p:cTn>
                              </p:par>
                              <p:par>
                                <p:cTn id="7" presetID="42" presetClass="path" presetSubtype="0" accel="50000" decel="50000" fill="hold" grpId="0" nodeType="withEffect">
                                  <p:stCondLst>
                                    <p:cond delay="0"/>
                                  </p:stCondLst>
                                  <p:childTnLst>
                                    <p:animMotion origin="layout" path="M 3.05556E-6 4.35897E-6 L 0.00017 -0.41667 " pathEditMode="relative" rAng="0" ptsTypes="AA">
                                      <p:cBhvr>
                                        <p:cTn id="8" dur="750" fill="hold"/>
                                        <p:tgtEl>
                                          <p:spTgt spid="33"/>
                                        </p:tgtEl>
                                        <p:attrNameLst>
                                          <p:attrName>ppt_x</p:attrName>
                                          <p:attrName>ppt_y</p:attrName>
                                        </p:attrNameLst>
                                      </p:cBhvr>
                                      <p:rCtr x="0" y="-20833"/>
                                    </p:animMotion>
                                  </p:childTnLst>
                                </p:cTn>
                              </p:par>
                              <p:par>
                                <p:cTn id="9" presetID="42" presetClass="path" presetSubtype="0" accel="50000" decel="50000" fill="hold" grpId="0" nodeType="withEffect">
                                  <p:stCondLst>
                                    <p:cond delay="0"/>
                                  </p:stCondLst>
                                  <p:childTnLst>
                                    <p:animMotion origin="layout" path="M 2.77778E-7 1.45299E-6 L 0.00017 -0.4156 " pathEditMode="relative" rAng="0" ptsTypes="AA">
                                      <p:cBhvr>
                                        <p:cTn id="10" dur="750" fill="hold"/>
                                        <p:tgtEl>
                                          <p:spTgt spid="34"/>
                                        </p:tgtEl>
                                        <p:attrNameLst>
                                          <p:attrName>ppt_x</p:attrName>
                                          <p:attrName>ppt_y</p:attrName>
                                        </p:attrNameLst>
                                      </p:cBhvr>
                                      <p:rCtr x="0" y="-20780"/>
                                    </p:animMotion>
                                  </p:childTnLst>
                                </p:cTn>
                              </p:par>
                              <p:par>
                                <p:cTn id="11" presetID="10" presetClass="exit" presetSubtype="0" fill="hold" grpId="0" nodeType="withEffect">
                                  <p:stCondLst>
                                    <p:cond delay="0"/>
                                  </p:stCondLst>
                                  <p:childTnLst>
                                    <p:animEffect transition="out" filter="fade">
                                      <p:cBhvr>
                                        <p:cTn id="12" dur="500"/>
                                        <p:tgtEl>
                                          <p:spTgt spid="17"/>
                                        </p:tgtEl>
                                      </p:cBhvr>
                                    </p:animEffect>
                                    <p:set>
                                      <p:cBhvr>
                                        <p:cTn id="13" dur="1" fill="hold">
                                          <p:stCondLst>
                                            <p:cond delay="499"/>
                                          </p:stCondLst>
                                        </p:cTn>
                                        <p:tgtEl>
                                          <p:spTgt spid="17"/>
                                        </p:tgtEl>
                                        <p:attrNameLst>
                                          <p:attrName>style.visibility</p:attrName>
                                        </p:attrNameLst>
                                      </p:cBhvr>
                                      <p:to>
                                        <p:strVal val="hidden"/>
                                      </p:to>
                                    </p:set>
                                  </p:childTnLst>
                                </p:cTn>
                              </p:par>
                              <p:par>
                                <p:cTn id="14" presetID="10" presetClass="entr" presetSubtype="0" fill="hold" grpId="0" nodeType="withEffect">
                                  <p:stCondLst>
                                    <p:cond delay="0"/>
                                  </p:stCondLst>
                                  <p:childTnLst>
                                    <p:set>
                                      <p:cBhvr>
                                        <p:cTn id="15" dur="1" fill="hold">
                                          <p:stCondLst>
                                            <p:cond delay="0"/>
                                          </p:stCondLst>
                                        </p:cTn>
                                        <p:tgtEl>
                                          <p:spTgt spid="30"/>
                                        </p:tgtEl>
                                        <p:attrNameLst>
                                          <p:attrName>style.visibility</p:attrName>
                                        </p:attrNameLst>
                                      </p:cBhvr>
                                      <p:to>
                                        <p:strVal val="visible"/>
                                      </p:to>
                                    </p:set>
                                    <p:animEffect transition="in" filter="fade">
                                      <p:cBhvr>
                                        <p:cTn id="16" dur="500"/>
                                        <p:tgtEl>
                                          <p:spTgt spid="30"/>
                                        </p:tgtEl>
                                      </p:cBhvr>
                                    </p:animEffect>
                                  </p:childTnLst>
                                </p:cTn>
                              </p:par>
                            </p:childTnLst>
                          </p:cTn>
                        </p:par>
                        <p:par>
                          <p:cTn id="17" fill="hold">
                            <p:stCondLst>
                              <p:cond delay="750"/>
                            </p:stCondLst>
                            <p:childTnLst>
                              <p:par>
                                <p:cTn id="18" presetID="1" presetClass="entr" presetSubtype="0" fill="hold" grpId="0" nodeType="afterEffect">
                                  <p:stCondLst>
                                    <p:cond delay="0"/>
                                  </p:stCondLst>
                                  <p:childTnLst>
                                    <p:set>
                                      <p:cBhvr>
                                        <p:cTn id="19" dur="1" fill="hold">
                                          <p:stCondLst>
                                            <p:cond delay="0"/>
                                          </p:stCondLst>
                                        </p:cTn>
                                        <p:tgtEl>
                                          <p:spTgt spid="21"/>
                                        </p:tgtEl>
                                        <p:attrNameLst>
                                          <p:attrName>style.visibility</p:attrName>
                                        </p:attrNameLst>
                                      </p:cBhvr>
                                      <p:to>
                                        <p:strVal val="visible"/>
                                      </p:to>
                                    </p:set>
                                  </p:childTnLst>
                                </p:cTn>
                              </p:par>
                              <p:par>
                                <p:cTn id="20" presetID="1" presetClass="entr" presetSubtype="0" fill="hold" grpId="0" nodeType="withEffect">
                                  <p:stCondLst>
                                    <p:cond delay="0"/>
                                  </p:stCondLst>
                                  <p:childTnLst>
                                    <p:set>
                                      <p:cBhvr>
                                        <p:cTn id="21" dur="1" fill="hold">
                                          <p:stCondLst>
                                            <p:cond delay="0"/>
                                          </p:stCondLst>
                                        </p:cTn>
                                        <p:tgtEl>
                                          <p:spTgt spid="24"/>
                                        </p:tgtEl>
                                        <p:attrNameLst>
                                          <p:attrName>style.visibility</p:attrName>
                                        </p:attrNameLst>
                                      </p:cBhvr>
                                      <p:to>
                                        <p:strVal val="visible"/>
                                      </p:to>
                                    </p:set>
                                  </p:childTnLst>
                                </p:cTn>
                              </p:par>
                              <p:par>
                                <p:cTn id="22" presetID="1" presetClass="entr" presetSubtype="0" fill="hold" grpId="0" nodeType="withEffect">
                                  <p:stCondLst>
                                    <p:cond delay="0"/>
                                  </p:stCondLst>
                                  <p:childTnLst>
                                    <p:set>
                                      <p:cBhvr>
                                        <p:cTn id="23" dur="1" fill="hold">
                                          <p:stCondLst>
                                            <p:cond delay="0"/>
                                          </p:stCondLst>
                                        </p:cTn>
                                        <p:tgtEl>
                                          <p:spTgt spid="28"/>
                                        </p:tgtEl>
                                        <p:attrNameLst>
                                          <p:attrName>style.visibility</p:attrName>
                                        </p:attrNameLst>
                                      </p:cBhvr>
                                      <p:to>
                                        <p:strVal val="visible"/>
                                      </p:to>
                                    </p:set>
                                  </p:childTnLst>
                                </p:cTn>
                              </p:par>
                              <p:par>
                                <p:cTn id="24" presetID="1" presetClass="entr" presetSubtype="0" fill="hold" nodeType="withEffect">
                                  <p:stCondLst>
                                    <p:cond delay="0"/>
                                  </p:stCondLst>
                                  <p:childTnLst>
                                    <p:set>
                                      <p:cBhvr>
                                        <p:cTn id="25" dur="1" fill="hold">
                                          <p:stCondLst>
                                            <p:cond delay="0"/>
                                          </p:stCondLst>
                                        </p:cTn>
                                        <p:tgtEl>
                                          <p:spTgt spid="13"/>
                                        </p:tgtEl>
                                        <p:attrNameLst>
                                          <p:attrName>style.visibility</p:attrName>
                                        </p:attrNameLst>
                                      </p:cBhvr>
                                      <p:to>
                                        <p:strVal val="visible"/>
                                      </p:to>
                                    </p:set>
                                  </p:childTnLst>
                                </p:cTn>
                              </p:par>
                              <p:par>
                                <p:cTn id="26" presetID="1" presetClass="entr" presetSubtype="0" fill="hold" grpId="0" nodeType="withEffect">
                                  <p:stCondLst>
                                    <p:cond delay="0"/>
                                  </p:stCondLst>
                                  <p:childTnLst>
                                    <p:set>
                                      <p:cBhvr>
                                        <p:cTn id="27" dur="1" fill="hold">
                                          <p:stCondLst>
                                            <p:cond delay="0"/>
                                          </p:stCondLst>
                                        </p:cTn>
                                        <p:tgtEl>
                                          <p:spTgt spid="32"/>
                                        </p:tgtEl>
                                        <p:attrNameLst>
                                          <p:attrName>style.visibility</p:attrName>
                                        </p:attrNameLst>
                                      </p:cBhvr>
                                      <p:to>
                                        <p:strVal val="visible"/>
                                      </p:to>
                                    </p:set>
                                  </p:childTnLst>
                                </p:cTn>
                              </p:par>
                              <p:par>
                                <p:cTn id="28" presetID="1" presetClass="entr" presetSubtype="0" fill="hold" grpId="0" nodeType="withEffect">
                                  <p:stCondLst>
                                    <p:cond delay="0"/>
                                  </p:stCondLst>
                                  <p:childTnLst>
                                    <p:set>
                                      <p:cBhvr>
                                        <p:cTn id="29" dur="1" fill="hold">
                                          <p:stCondLst>
                                            <p:cond delay="0"/>
                                          </p:stCondLst>
                                        </p:cTn>
                                        <p:tgtEl>
                                          <p:spTgt spid="6"/>
                                        </p:tgtEl>
                                        <p:attrNameLst>
                                          <p:attrName>style.visibility</p:attrName>
                                        </p:attrNameLst>
                                      </p:cBhvr>
                                      <p:to>
                                        <p:strVal val="visible"/>
                                      </p:to>
                                    </p:set>
                                  </p:childTnLst>
                                </p:cTn>
                              </p:par>
                              <p:par>
                                <p:cTn id="30" presetID="1" presetClass="entr" presetSubtype="0" fill="hold" grpId="0" nodeType="withEffect">
                                  <p:stCondLst>
                                    <p:cond delay="0"/>
                                  </p:stCondLst>
                                  <p:childTnLst>
                                    <p:set>
                                      <p:cBhvr>
                                        <p:cTn id="31" dur="1" fill="hold">
                                          <p:stCondLst>
                                            <p:cond delay="0"/>
                                          </p:stCondLst>
                                        </p:cTn>
                                        <p:tgtEl>
                                          <p:spTgt spid="8"/>
                                        </p:tgtEl>
                                        <p:attrNameLst>
                                          <p:attrName>style.visibility</p:attrName>
                                        </p:attrNameLst>
                                      </p:cBhvr>
                                      <p:to>
                                        <p:strVal val="visible"/>
                                      </p:to>
                                    </p:set>
                                  </p:childTnLst>
                                </p:cTn>
                              </p:par>
                              <p:par>
                                <p:cTn id="32" presetID="1" presetClass="entr" presetSubtype="0" fill="hold" grpId="0" nodeType="withEffect">
                                  <p:stCondLst>
                                    <p:cond delay="0"/>
                                  </p:stCondLst>
                                  <p:childTnLst>
                                    <p:set>
                                      <p:cBhvr>
                                        <p:cTn id="33" dur="1" fill="hold">
                                          <p:stCondLst>
                                            <p:cond delay="0"/>
                                          </p:stCondLst>
                                        </p:cTn>
                                        <p:tgtEl>
                                          <p:spTgt spid="14"/>
                                        </p:tgtEl>
                                        <p:attrNameLst>
                                          <p:attrName>style.visibility</p:attrName>
                                        </p:attrNameLst>
                                      </p:cBhvr>
                                      <p:to>
                                        <p:strVal val="visible"/>
                                      </p:to>
                                    </p:set>
                                  </p:childTnLst>
                                </p:cTn>
                              </p:par>
                              <p:par>
                                <p:cTn id="34" presetID="1" presetClass="entr" presetSubtype="0" fill="hold" grpId="0" nodeType="withEffect">
                                  <p:stCondLst>
                                    <p:cond delay="0"/>
                                  </p:stCondLst>
                                  <p:childTnLst>
                                    <p:set>
                                      <p:cBhvr>
                                        <p:cTn id="35" dur="1" fill="hold">
                                          <p:stCondLst>
                                            <p:cond delay="0"/>
                                          </p:stCondLst>
                                        </p:cTn>
                                        <p:tgtEl>
                                          <p:spTgt spid="26"/>
                                        </p:tgtEl>
                                        <p:attrNameLst>
                                          <p:attrName>style.visibility</p:attrName>
                                        </p:attrNameLst>
                                      </p:cBhvr>
                                      <p:to>
                                        <p:strVal val="visible"/>
                                      </p:to>
                                    </p:set>
                                  </p:childTnLst>
                                </p:cTn>
                              </p:par>
                            </p:childTnLst>
                          </p:cTn>
                        </p:par>
                      </p:childTnLst>
                    </p:cTn>
                  </p:par>
                  <p:par>
                    <p:cTn id="36" fill="hold">
                      <p:stCondLst>
                        <p:cond delay="indefinite"/>
                      </p:stCondLst>
                      <p:childTnLst>
                        <p:par>
                          <p:cTn id="37" fill="hold">
                            <p:stCondLst>
                              <p:cond delay="0"/>
                            </p:stCondLst>
                            <p:childTnLst>
                              <p:par>
                                <p:cTn id="38" presetID="10" presetClass="entr" presetSubtype="0" fill="hold" grpId="0"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fade">
                                      <p:cBhvr>
                                        <p:cTn id="40" dur="250"/>
                                        <p:tgtEl>
                                          <p:spTgt spid="2"/>
                                        </p:tgtEl>
                                      </p:cBhvr>
                                    </p:animEffect>
                                  </p:childTnLst>
                                </p:cTn>
                              </p:par>
                              <p:par>
                                <p:cTn id="41" presetID="10" presetClass="entr" presetSubtype="0" fill="hold" grpId="0" nodeType="withEffect">
                                  <p:stCondLst>
                                    <p:cond delay="0"/>
                                  </p:stCondLst>
                                  <p:childTnLst>
                                    <p:set>
                                      <p:cBhvr>
                                        <p:cTn id="42" dur="1" fill="hold">
                                          <p:stCondLst>
                                            <p:cond delay="0"/>
                                          </p:stCondLst>
                                        </p:cTn>
                                        <p:tgtEl>
                                          <p:spTgt spid="3"/>
                                        </p:tgtEl>
                                        <p:attrNameLst>
                                          <p:attrName>style.visibility</p:attrName>
                                        </p:attrNameLst>
                                      </p:cBhvr>
                                      <p:to>
                                        <p:strVal val="visible"/>
                                      </p:to>
                                    </p:set>
                                    <p:animEffect transition="in" filter="fade">
                                      <p:cBhvr>
                                        <p:cTn id="43" dur="250"/>
                                        <p:tgtEl>
                                          <p:spTgt spid="3"/>
                                        </p:tgtEl>
                                      </p:cBhvr>
                                    </p:animEffect>
                                  </p:childTnLst>
                                </p:cTn>
                              </p:par>
                              <p:par>
                                <p:cTn id="44" presetID="10" presetClass="entr" presetSubtype="0" fill="hold" grpId="0" nodeType="withEffect">
                                  <p:stCondLst>
                                    <p:cond delay="0"/>
                                  </p:stCondLst>
                                  <p:childTnLst>
                                    <p:set>
                                      <p:cBhvr>
                                        <p:cTn id="45" dur="1" fill="hold">
                                          <p:stCondLst>
                                            <p:cond delay="0"/>
                                          </p:stCondLst>
                                        </p:cTn>
                                        <p:tgtEl>
                                          <p:spTgt spid="5"/>
                                        </p:tgtEl>
                                        <p:attrNameLst>
                                          <p:attrName>style.visibility</p:attrName>
                                        </p:attrNameLst>
                                      </p:cBhvr>
                                      <p:to>
                                        <p:strVal val="visible"/>
                                      </p:to>
                                    </p:set>
                                    <p:animEffect transition="in" filter="fade">
                                      <p:cBhvr>
                                        <p:cTn id="46" dur="250"/>
                                        <p:tgtEl>
                                          <p:spTgt spid="5"/>
                                        </p:tgtEl>
                                      </p:cBhvr>
                                    </p:animEffect>
                                  </p:childTnLst>
                                </p:cTn>
                              </p:par>
                              <p:par>
                                <p:cTn id="47" presetID="10" presetClass="entr" presetSubtype="0" fill="hold" grpId="0" nodeType="withEffect">
                                  <p:stCondLst>
                                    <p:cond delay="0"/>
                                  </p:stCondLst>
                                  <p:childTnLst>
                                    <p:set>
                                      <p:cBhvr>
                                        <p:cTn id="48" dur="1" fill="hold">
                                          <p:stCondLst>
                                            <p:cond delay="0"/>
                                          </p:stCondLst>
                                        </p:cTn>
                                        <p:tgtEl>
                                          <p:spTgt spid="4"/>
                                        </p:tgtEl>
                                        <p:attrNameLst>
                                          <p:attrName>style.visibility</p:attrName>
                                        </p:attrNameLst>
                                      </p:cBhvr>
                                      <p:to>
                                        <p:strVal val="visible"/>
                                      </p:to>
                                    </p:set>
                                    <p:animEffect transition="in" filter="fade">
                                      <p:cBhvr>
                                        <p:cTn id="49" dur="250"/>
                                        <p:tgtEl>
                                          <p:spTgt spid="4"/>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16"/>
                                        </p:tgtEl>
                                        <p:attrNameLst>
                                          <p:attrName>style.visibility</p:attrName>
                                        </p:attrNameLst>
                                      </p:cBhvr>
                                      <p:to>
                                        <p:strVal val="visible"/>
                                      </p:to>
                                    </p:set>
                                    <p:animEffect transition="in" filter="fade">
                                      <p:cBhvr>
                                        <p:cTn id="52" dur="250"/>
                                        <p:tgtEl>
                                          <p:spTgt spid="1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18"/>
                                        </p:tgtEl>
                                        <p:attrNameLst>
                                          <p:attrName>style.visibility</p:attrName>
                                        </p:attrNameLst>
                                      </p:cBhvr>
                                      <p:to>
                                        <p:strVal val="visible"/>
                                      </p:to>
                                    </p:set>
                                    <p:animEffect transition="in" filter="fade">
                                      <p:cBhvr>
                                        <p:cTn id="55" dur="250"/>
                                        <p:tgtEl>
                                          <p:spTgt spid="18"/>
                                        </p:tgtEl>
                                      </p:cBhvr>
                                    </p:animEffect>
                                  </p:childTnLst>
                                </p:cTn>
                              </p:par>
                              <p:par>
                                <p:cTn id="56" presetID="10" presetClass="entr" presetSubtype="0" fill="hold" nodeType="withEffect">
                                  <p:stCondLst>
                                    <p:cond delay="0"/>
                                  </p:stCondLst>
                                  <p:childTnLst>
                                    <p:set>
                                      <p:cBhvr>
                                        <p:cTn id="57" dur="1" fill="hold">
                                          <p:stCondLst>
                                            <p:cond delay="0"/>
                                          </p:stCondLst>
                                        </p:cTn>
                                        <p:tgtEl>
                                          <p:spTgt spid="7"/>
                                        </p:tgtEl>
                                        <p:attrNameLst>
                                          <p:attrName>style.visibility</p:attrName>
                                        </p:attrNameLst>
                                      </p:cBhvr>
                                      <p:to>
                                        <p:strVal val="visible"/>
                                      </p:to>
                                    </p:set>
                                    <p:animEffect transition="in" filter="fade">
                                      <p:cBhvr>
                                        <p:cTn id="58" dur="250"/>
                                        <p:tgtEl>
                                          <p:spTgt spid="7"/>
                                        </p:tgtEl>
                                      </p:cBhvr>
                                    </p:animEffect>
                                  </p:childTnLst>
                                </p:cTn>
                              </p:par>
                              <p:par>
                                <p:cTn id="59" presetID="10" presetClass="entr" presetSubtype="0" fill="hold" nodeType="withEffect">
                                  <p:stCondLst>
                                    <p:cond delay="0"/>
                                  </p:stCondLst>
                                  <p:childTnLst>
                                    <p:set>
                                      <p:cBhvr>
                                        <p:cTn id="60" dur="1" fill="hold">
                                          <p:stCondLst>
                                            <p:cond delay="0"/>
                                          </p:stCondLst>
                                        </p:cTn>
                                        <p:tgtEl>
                                          <p:spTgt spid="9"/>
                                        </p:tgtEl>
                                        <p:attrNameLst>
                                          <p:attrName>style.visibility</p:attrName>
                                        </p:attrNameLst>
                                      </p:cBhvr>
                                      <p:to>
                                        <p:strVal val="visible"/>
                                      </p:to>
                                    </p:set>
                                    <p:animEffect transition="in" filter="fade">
                                      <p:cBhvr>
                                        <p:cTn id="61" dur="250"/>
                                        <p:tgtEl>
                                          <p:spTgt spid="9"/>
                                        </p:tgtEl>
                                      </p:cBhvr>
                                    </p:animEffect>
                                  </p:childTnLst>
                                </p:cTn>
                              </p:par>
                              <p:par>
                                <p:cTn id="62" presetID="10" presetClass="entr" presetSubtype="0" fill="hold" nodeType="withEffect">
                                  <p:stCondLst>
                                    <p:cond delay="0"/>
                                  </p:stCondLst>
                                  <p:childTnLst>
                                    <p:set>
                                      <p:cBhvr>
                                        <p:cTn id="63" dur="1" fill="hold">
                                          <p:stCondLst>
                                            <p:cond delay="0"/>
                                          </p:stCondLst>
                                        </p:cTn>
                                        <p:tgtEl>
                                          <p:spTgt spid="22"/>
                                        </p:tgtEl>
                                        <p:attrNameLst>
                                          <p:attrName>style.visibility</p:attrName>
                                        </p:attrNameLst>
                                      </p:cBhvr>
                                      <p:to>
                                        <p:strVal val="visible"/>
                                      </p:to>
                                    </p:set>
                                    <p:animEffect transition="in" filter="fade">
                                      <p:cBhvr>
                                        <p:cTn id="64" dur="250"/>
                                        <p:tgtEl>
                                          <p:spTgt spid="22"/>
                                        </p:tgtEl>
                                      </p:cBhvr>
                                    </p:animEffect>
                                  </p:childTnLst>
                                </p:cTn>
                              </p:par>
                            </p:childTnLst>
                          </p:cTn>
                        </p:par>
                      </p:childTnLst>
                    </p:cTn>
                  </p:par>
                  <p:par>
                    <p:cTn id="65" fill="hold">
                      <p:stCondLst>
                        <p:cond delay="indefinite"/>
                      </p:stCondLst>
                      <p:childTnLst>
                        <p:par>
                          <p:cTn id="66" fill="hold">
                            <p:stCondLst>
                              <p:cond delay="0"/>
                            </p:stCondLst>
                            <p:childTnLst>
                              <p:par>
                                <p:cTn id="67" presetID="10" presetClass="entr" presetSubtype="0" fill="hold" grpId="0" nodeType="clickEffect">
                                  <p:stCondLst>
                                    <p:cond delay="0"/>
                                  </p:stCondLst>
                                  <p:childTnLst>
                                    <p:set>
                                      <p:cBhvr>
                                        <p:cTn id="68" dur="1" fill="hold">
                                          <p:stCondLst>
                                            <p:cond delay="0"/>
                                          </p:stCondLst>
                                        </p:cTn>
                                        <p:tgtEl>
                                          <p:spTgt spid="27"/>
                                        </p:tgtEl>
                                        <p:attrNameLst>
                                          <p:attrName>style.visibility</p:attrName>
                                        </p:attrNameLst>
                                      </p:cBhvr>
                                      <p:to>
                                        <p:strVal val="visible"/>
                                      </p:to>
                                    </p:set>
                                    <p:animEffect transition="in" filter="fade">
                                      <p:cBhvr>
                                        <p:cTn id="69" dur="250"/>
                                        <p:tgtEl>
                                          <p:spTgt spid="27"/>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12"/>
                                        </p:tgtEl>
                                        <p:attrNameLst>
                                          <p:attrName>style.visibility</p:attrName>
                                        </p:attrNameLst>
                                      </p:cBhvr>
                                      <p:to>
                                        <p:strVal val="visible"/>
                                      </p:to>
                                    </p:set>
                                    <p:animEffect transition="in" filter="fade">
                                      <p:cBhvr>
                                        <p:cTn id="72" dur="25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 grpId="0" animBg="1"/>
      <p:bldP spid="12" grpId="0"/>
      <p:bldP spid="2" grpId="0" animBg="1"/>
      <p:bldP spid="3" grpId="0" animBg="1"/>
      <p:bldP spid="5" grpId="0" animBg="1"/>
      <p:bldP spid="14" grpId="0"/>
      <p:bldP spid="24" grpId="0" animBg="1"/>
      <p:bldP spid="4" grpId="0" animBg="1"/>
      <p:bldP spid="16" grpId="0" animBg="1"/>
      <p:bldP spid="18" grpId="0" animBg="1"/>
      <p:bldP spid="32" grpId="0"/>
      <p:bldP spid="30" grpId="0" animBg="1"/>
      <p:bldP spid="6" grpId="0"/>
      <p:bldP spid="8" grpId="0"/>
      <p:bldP spid="28" grpId="0"/>
      <p:bldP spid="31" grpId="0" animBg="1"/>
      <p:bldP spid="34" grpId="0" animBg="1"/>
      <p:bldP spid="21" grpId="0" animBg="1"/>
      <p:bldP spid="26" grpId="0"/>
      <p:bldP spid="27" grpId="0"/>
      <p:bldP spid="33" grpId="0" animBg="1"/>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 name="Rectangle 28"/>
          <p:cNvSpPr/>
          <p:nvPr/>
        </p:nvSpPr>
        <p:spPr>
          <a:xfrm>
            <a:off x="340541" y="2654455"/>
            <a:ext cx="2452512" cy="1840097"/>
          </a:xfrm>
          <a:prstGeom prst="rect">
            <a:avLst/>
          </a:prstGeom>
          <a:solidFill>
            <a:schemeClr val="accent2">
              <a:lumMod val="20000"/>
              <a:lumOff val="80000"/>
            </a:schemeClr>
          </a:solidFill>
          <a:ln>
            <a:solidFill>
              <a:schemeClr val="accent2">
                <a:lumMod val="75000"/>
              </a:schemeClr>
            </a:solidFill>
          </a:ln>
          <a:scene3d>
            <a:camera prst="perspectiveRigh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effectLst>
                <a:outerShdw blurRad="75057" dist="38100" dir="5400000" sy="-20000" rotWithShape="0">
                  <a:prstClr val="black">
                    <a:alpha val="25000"/>
                  </a:prstClr>
                </a:outerShdw>
              </a:effectLst>
            </a:endParaRPr>
          </a:p>
        </p:txBody>
      </p:sp>
      <p:sp>
        <p:nvSpPr>
          <p:cNvPr id="24" name="TextBox 23"/>
          <p:cNvSpPr txBox="1"/>
          <p:nvPr/>
        </p:nvSpPr>
        <p:spPr>
          <a:xfrm>
            <a:off x="613159" y="2851230"/>
            <a:ext cx="1885241" cy="1446550"/>
          </a:xfrm>
          <a:prstGeom prst="rect">
            <a:avLst/>
          </a:prstGeom>
          <a:noFill/>
        </p:spPr>
        <p:txBody>
          <a:bodyPr wrap="square" rtlCol="0">
            <a:spAutoFit/>
          </a:bodyPr>
          <a:lstStyle/>
          <a:p>
            <a:r>
              <a:rPr lang="en-US" sz="1600" dirty="0"/>
              <a:t>Requirement of </a:t>
            </a:r>
            <a:r>
              <a:rPr lang="en-US" sz="2000" dirty="0">
                <a:solidFill>
                  <a:schemeClr val="accent2">
                    <a:lumMod val="75000"/>
                  </a:schemeClr>
                </a:solidFill>
              </a:rPr>
              <a:t>huge quantity</a:t>
            </a:r>
            <a:r>
              <a:rPr lang="en-US" sz="1600" dirty="0">
                <a:solidFill>
                  <a:schemeClr val="accent2">
                    <a:lumMod val="75000"/>
                  </a:schemeClr>
                </a:solidFill>
              </a:rPr>
              <a:t> </a:t>
            </a:r>
            <a:r>
              <a:rPr lang="en-US" sz="1600" dirty="0"/>
              <a:t>of random Numbers with </a:t>
            </a:r>
          </a:p>
          <a:p>
            <a:r>
              <a:rPr lang="en-US" sz="2000" dirty="0">
                <a:solidFill>
                  <a:schemeClr val="accent2">
                    <a:lumMod val="75000"/>
                  </a:schemeClr>
                </a:solidFill>
              </a:rPr>
              <a:t>good quality</a:t>
            </a:r>
          </a:p>
        </p:txBody>
      </p:sp>
      <p:sp>
        <p:nvSpPr>
          <p:cNvPr id="31" name="Rectangle 30"/>
          <p:cNvSpPr/>
          <p:nvPr/>
        </p:nvSpPr>
        <p:spPr>
          <a:xfrm>
            <a:off x="3006399" y="2654457"/>
            <a:ext cx="2782712" cy="1840097"/>
          </a:xfrm>
          <a:prstGeom prst="rect">
            <a:avLst/>
          </a:prstGeom>
          <a:solidFill>
            <a:schemeClr val="accent1">
              <a:lumMod val="40000"/>
              <a:lumOff val="60000"/>
            </a:schemeClr>
          </a:solidFill>
          <a:ln>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2" name="TextBox 31"/>
          <p:cNvSpPr txBox="1"/>
          <p:nvPr/>
        </p:nvSpPr>
        <p:spPr>
          <a:xfrm>
            <a:off x="3171227" y="2834024"/>
            <a:ext cx="2630312" cy="1754326"/>
          </a:xfrm>
          <a:prstGeom prst="rect">
            <a:avLst/>
          </a:prstGeom>
          <a:noFill/>
        </p:spPr>
        <p:txBody>
          <a:bodyPr wrap="square" rtlCol="0">
            <a:spAutoFit/>
          </a:bodyPr>
          <a:lstStyle/>
          <a:p>
            <a:r>
              <a:rPr lang="en-US" dirty="0"/>
              <a:t>How far to collision ?</a:t>
            </a:r>
          </a:p>
          <a:p>
            <a:r>
              <a:rPr lang="en-US" dirty="0"/>
              <a:t>Which Nuclide ?</a:t>
            </a:r>
          </a:p>
          <a:p>
            <a:r>
              <a:rPr lang="en-US" dirty="0"/>
              <a:t>New Energy &amp; Direction ?</a:t>
            </a:r>
          </a:p>
          <a:p>
            <a:r>
              <a:rPr lang="en-US" dirty="0"/>
              <a:t>Any secondary ?</a:t>
            </a:r>
          </a:p>
          <a:p>
            <a:r>
              <a:rPr lang="en-US" dirty="0"/>
              <a:t>Is particle alive ? </a:t>
            </a:r>
          </a:p>
          <a:p>
            <a:endParaRPr lang="en-US" dirty="0"/>
          </a:p>
        </p:txBody>
      </p:sp>
      <p:sp>
        <p:nvSpPr>
          <p:cNvPr id="33" name="Rectangle 32"/>
          <p:cNvSpPr/>
          <p:nvPr/>
        </p:nvSpPr>
        <p:spPr>
          <a:xfrm>
            <a:off x="5980727" y="2654455"/>
            <a:ext cx="2925915" cy="1840097"/>
          </a:xfrm>
          <a:prstGeom prst="rect">
            <a:avLst/>
          </a:prstGeom>
          <a:solidFill>
            <a:schemeClr val="accent6">
              <a:lumMod val="20000"/>
              <a:lumOff val="80000"/>
            </a:schemeClr>
          </a:solidFill>
          <a:ln>
            <a:solidFill>
              <a:srgbClr val="00B050"/>
            </a:solidFill>
          </a:ln>
          <a:scene3d>
            <a:camera prst="perspectiveLeft"/>
            <a:lightRig rig="threePt" dir="t"/>
          </a:scene3d>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4" name="TextBox 33"/>
          <p:cNvSpPr txBox="1"/>
          <p:nvPr/>
        </p:nvSpPr>
        <p:spPr>
          <a:xfrm>
            <a:off x="6105193" y="2851231"/>
            <a:ext cx="2918178" cy="1200329"/>
          </a:xfrm>
          <a:prstGeom prst="rect">
            <a:avLst/>
          </a:prstGeom>
          <a:noFill/>
        </p:spPr>
        <p:txBody>
          <a:bodyPr wrap="square" rtlCol="0">
            <a:spAutoFit/>
          </a:bodyPr>
          <a:lstStyle/>
          <a:p>
            <a:r>
              <a:rPr lang="en-US" dirty="0"/>
              <a:t>In which cell a particle is ?</a:t>
            </a:r>
          </a:p>
          <a:p>
            <a:r>
              <a:rPr lang="en-US" dirty="0"/>
              <a:t>How far to boundary ?</a:t>
            </a:r>
          </a:p>
          <a:p>
            <a:r>
              <a:rPr lang="en-US" dirty="0"/>
              <a:t>What is after the boundary?</a:t>
            </a:r>
          </a:p>
          <a:p>
            <a:r>
              <a:rPr lang="en-US" dirty="0"/>
              <a:t>Does particle leaking out ?</a:t>
            </a:r>
          </a:p>
        </p:txBody>
      </p:sp>
      <p:sp>
        <p:nvSpPr>
          <p:cNvPr id="23"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cxnSp>
        <p:nvCxnSpPr>
          <p:cNvPr id="8" name="Straight Arrow Connector 7"/>
          <p:cNvCxnSpPr>
            <a:endCxn id="38" idx="0"/>
          </p:cNvCxnSpPr>
          <p:nvPr/>
        </p:nvCxnSpPr>
        <p:spPr>
          <a:xfrm flipH="1">
            <a:off x="4639031" y="976507"/>
            <a:ext cx="11293" cy="689403"/>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4" name="Elbow Connector 13"/>
          <p:cNvCxnSpPr>
            <a:endCxn id="37" idx="0"/>
          </p:cNvCxnSpPr>
          <p:nvPr/>
        </p:nvCxnSpPr>
        <p:spPr>
          <a:xfrm rot="10800000" flipV="1">
            <a:off x="1793349" y="1288166"/>
            <a:ext cx="2845683" cy="377743"/>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18" name="Elbow Connector 17"/>
          <p:cNvCxnSpPr>
            <a:endCxn id="39" idx="0"/>
          </p:cNvCxnSpPr>
          <p:nvPr/>
        </p:nvCxnSpPr>
        <p:spPr>
          <a:xfrm>
            <a:off x="4639031" y="1288165"/>
            <a:ext cx="2672099" cy="378679"/>
          </a:xfrm>
          <a:prstGeom prst="bentConnector2">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37" name="TextBox 36"/>
          <p:cNvSpPr txBox="1"/>
          <p:nvPr/>
        </p:nvSpPr>
        <p:spPr>
          <a:xfrm>
            <a:off x="76554" y="1665909"/>
            <a:ext cx="3433586" cy="400110"/>
          </a:xfrm>
          <a:prstGeom prst="rect">
            <a:avLst/>
          </a:prstGeom>
          <a:solidFill>
            <a:schemeClr val="accent2">
              <a:lumMod val="20000"/>
              <a:lumOff val="80000"/>
            </a:schemeClr>
          </a:solidFill>
        </p:spPr>
        <p:txBody>
          <a:bodyPr wrap="square" rtlCol="0">
            <a:spAutoFit/>
          </a:bodyPr>
          <a:lstStyle/>
          <a:p>
            <a:r>
              <a:rPr lang="en-US" sz="2000" dirty="0">
                <a:effectLst>
                  <a:outerShdw blurRad="38100" dist="38100" dir="2700000" algn="tl">
                    <a:srgbClr val="000000">
                      <a:alpha val="43137"/>
                    </a:srgbClr>
                  </a:outerShdw>
                </a:effectLst>
              </a:rPr>
              <a:t>1. Random number Generation</a:t>
            </a:r>
          </a:p>
        </p:txBody>
      </p:sp>
      <p:sp>
        <p:nvSpPr>
          <p:cNvPr id="38" name="TextBox 37"/>
          <p:cNvSpPr txBox="1"/>
          <p:nvPr/>
        </p:nvSpPr>
        <p:spPr>
          <a:xfrm>
            <a:off x="3555297" y="1665909"/>
            <a:ext cx="2167466" cy="400110"/>
          </a:xfrm>
          <a:prstGeom prst="rect">
            <a:avLst/>
          </a:prstGeom>
          <a:solidFill>
            <a:schemeClr val="accent5">
              <a:lumMod val="20000"/>
              <a:lumOff val="80000"/>
            </a:schemeClr>
          </a:solidFill>
        </p:spPr>
        <p:txBody>
          <a:bodyPr wrap="square" rtlCol="0">
            <a:spAutoFit/>
          </a:bodyPr>
          <a:lstStyle/>
          <a:p>
            <a:r>
              <a:rPr lang="en-US" sz="2000" dirty="0">
                <a:effectLst>
                  <a:outerShdw blurRad="38100" dist="38100" dir="2700000" algn="tl">
                    <a:srgbClr val="000000">
                      <a:alpha val="43137"/>
                    </a:srgbClr>
                  </a:outerShdw>
                </a:effectLst>
              </a:rPr>
              <a:t>2. Required Physics</a:t>
            </a:r>
          </a:p>
        </p:txBody>
      </p:sp>
      <p:sp>
        <p:nvSpPr>
          <p:cNvPr id="39" name="TextBox 38"/>
          <p:cNvSpPr txBox="1"/>
          <p:nvPr/>
        </p:nvSpPr>
        <p:spPr>
          <a:xfrm>
            <a:off x="5765393" y="1666843"/>
            <a:ext cx="3091472" cy="400110"/>
          </a:xfrm>
          <a:prstGeom prst="rect">
            <a:avLst/>
          </a:prstGeom>
          <a:solidFill>
            <a:schemeClr val="accent6">
              <a:lumMod val="20000"/>
              <a:lumOff val="80000"/>
            </a:schemeClr>
          </a:solidFill>
        </p:spPr>
        <p:txBody>
          <a:bodyPr wrap="square" rtlCol="0">
            <a:spAutoFit/>
          </a:bodyPr>
          <a:lstStyle/>
          <a:p>
            <a:r>
              <a:rPr lang="en-US" sz="2000" dirty="0">
                <a:effectLst>
                  <a:outerShdw blurRad="38100" dist="38100" dir="2700000" algn="tl">
                    <a:srgbClr val="000000">
                      <a:alpha val="43137"/>
                    </a:srgbClr>
                  </a:outerShdw>
                </a:effectLst>
              </a:rPr>
              <a:t>3. Computational Geometry</a:t>
            </a:r>
          </a:p>
        </p:txBody>
      </p:sp>
      <p:sp>
        <p:nvSpPr>
          <p:cNvPr id="19" name="Chevron 18"/>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0" name="Chevron 19"/>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6" name="Chevron 25"/>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404569054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509311" y="1592630"/>
            <a:ext cx="7447172" cy="369332"/>
          </a:xfrm>
          <a:prstGeom prst="rect">
            <a:avLst/>
          </a:prstGeom>
          <a:noFill/>
        </p:spPr>
        <p:txBody>
          <a:bodyPr wrap="square" rtlCol="0">
            <a:spAutoFit/>
          </a:bodyPr>
          <a:lstStyle/>
          <a:p>
            <a:r>
              <a:rPr lang="en-US" dirty="0">
                <a:solidFill>
                  <a:schemeClr val="bg2">
                    <a:lumMod val="25000"/>
                  </a:schemeClr>
                </a:solidFill>
              </a:rPr>
              <a:t>Requirement of </a:t>
            </a:r>
            <a:r>
              <a:rPr lang="en-US" b="1" dirty="0">
                <a:solidFill>
                  <a:schemeClr val="accent2">
                    <a:lumMod val="75000"/>
                  </a:schemeClr>
                </a:solidFill>
              </a:rPr>
              <a:t>HUGE</a:t>
            </a:r>
            <a:r>
              <a:rPr lang="en-US" dirty="0"/>
              <a:t> </a:t>
            </a:r>
            <a:r>
              <a:rPr lang="en-US" dirty="0">
                <a:solidFill>
                  <a:schemeClr val="bg2">
                    <a:lumMod val="25000"/>
                  </a:schemeClr>
                </a:solidFill>
              </a:rPr>
              <a:t>quantity (millions) of random numbers</a:t>
            </a:r>
          </a:p>
        </p:txBody>
      </p:sp>
      <p:sp>
        <p:nvSpPr>
          <p:cNvPr id="15" name="TextBox 14"/>
          <p:cNvSpPr txBox="1"/>
          <p:nvPr/>
        </p:nvSpPr>
        <p:spPr>
          <a:xfrm>
            <a:off x="509312" y="1976856"/>
            <a:ext cx="5285847" cy="1231106"/>
          </a:xfrm>
          <a:prstGeom prst="rect">
            <a:avLst/>
          </a:prstGeom>
          <a:noFill/>
        </p:spPr>
        <p:txBody>
          <a:bodyPr wrap="square" rtlCol="0">
            <a:spAutoFit/>
          </a:bodyPr>
          <a:lstStyle/>
          <a:p>
            <a:r>
              <a:rPr lang="en-US" b="1" u="sng" dirty="0">
                <a:solidFill>
                  <a:schemeClr val="accent2">
                    <a:lumMod val="75000"/>
                  </a:schemeClr>
                </a:solidFill>
              </a:rPr>
              <a:t>Required properties</a:t>
            </a:r>
          </a:p>
          <a:p>
            <a:r>
              <a:rPr lang="en-US" sz="1400" b="1" dirty="0"/>
              <a:t>Long period </a:t>
            </a:r>
            <a:r>
              <a:rPr lang="en-US" sz="1400" dirty="0"/>
              <a:t>– capable of generating huge quantity of random </a:t>
            </a:r>
          </a:p>
          <a:p>
            <a:r>
              <a:rPr lang="en-US" sz="1400" dirty="0"/>
              <a:t>	    numbers without repetition</a:t>
            </a:r>
          </a:p>
          <a:p>
            <a:r>
              <a:rPr lang="en-US" sz="1400" b="1" dirty="0"/>
              <a:t>Uniformity   </a:t>
            </a:r>
            <a:r>
              <a:rPr lang="en-US" sz="1400" dirty="0"/>
              <a:t>– should generate random numbers uniformly from 0 to 1</a:t>
            </a:r>
          </a:p>
          <a:p>
            <a:r>
              <a:rPr lang="en-US" sz="1400" b="1" dirty="0"/>
              <a:t>Time    </a:t>
            </a:r>
            <a:r>
              <a:rPr lang="en-US" sz="1400" dirty="0"/>
              <a:t>          – should generate random numbers  in optimum time</a:t>
            </a:r>
          </a:p>
        </p:txBody>
      </p:sp>
      <p:sp>
        <p:nvSpPr>
          <p:cNvPr id="28"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30" name="TextBox 29"/>
          <p:cNvSpPr txBox="1"/>
          <p:nvPr/>
        </p:nvSpPr>
        <p:spPr>
          <a:xfrm>
            <a:off x="561214" y="1092504"/>
            <a:ext cx="3072634" cy="369332"/>
          </a:xfrm>
          <a:prstGeom prst="rect">
            <a:avLst/>
          </a:prstGeom>
          <a:solidFill>
            <a:schemeClr val="accent2">
              <a:lumMod val="20000"/>
              <a:lumOff val="80000"/>
            </a:schemeClr>
          </a:solidFill>
        </p:spPr>
        <p:txBody>
          <a:bodyPr wrap="square" rtlCol="0">
            <a:spAutoFit/>
          </a:bodyPr>
          <a:lstStyle/>
          <a:p>
            <a:r>
              <a:rPr lang="en-US" dirty="0">
                <a:effectLst>
                  <a:outerShdw blurRad="38100" dist="38100" dir="2700000" algn="tl">
                    <a:srgbClr val="000000">
                      <a:alpha val="43137"/>
                    </a:srgbClr>
                  </a:outerShdw>
                </a:effectLst>
              </a:rPr>
              <a:t>1. Random number generation</a:t>
            </a:r>
          </a:p>
        </p:txBody>
      </p:sp>
      <p:sp>
        <p:nvSpPr>
          <p:cNvPr id="17" name="Chevron 16"/>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graphicFrame>
        <p:nvGraphicFramePr>
          <p:cNvPr id="19" name="Table 18"/>
          <p:cNvGraphicFramePr>
            <a:graphicFrameLocks noGrp="1"/>
          </p:cNvGraphicFramePr>
          <p:nvPr/>
        </p:nvGraphicFramePr>
        <p:xfrm>
          <a:off x="509311" y="3350993"/>
          <a:ext cx="7862794" cy="2910387"/>
        </p:xfrm>
        <a:graphic>
          <a:graphicData uri="http://schemas.openxmlformats.org/drawingml/2006/table">
            <a:tbl>
              <a:tblPr>
                <a:tableStyleId>{5C22544A-7EE6-4342-B048-85BDC9FD1C3A}</a:tableStyleId>
              </a:tblPr>
              <a:tblGrid>
                <a:gridCol w="1992498">
                  <a:extLst>
                    <a:ext uri="{9D8B030D-6E8A-4147-A177-3AD203B41FA5}">
                      <a16:colId xmlns:a16="http://schemas.microsoft.com/office/drawing/2014/main" val="20000"/>
                    </a:ext>
                  </a:extLst>
                </a:gridCol>
                <a:gridCol w="1754468">
                  <a:extLst>
                    <a:ext uri="{9D8B030D-6E8A-4147-A177-3AD203B41FA5}">
                      <a16:colId xmlns:a16="http://schemas.microsoft.com/office/drawing/2014/main" val="20001"/>
                    </a:ext>
                  </a:extLst>
                </a:gridCol>
                <a:gridCol w="915855">
                  <a:extLst>
                    <a:ext uri="{9D8B030D-6E8A-4147-A177-3AD203B41FA5}">
                      <a16:colId xmlns:a16="http://schemas.microsoft.com/office/drawing/2014/main" val="20002"/>
                    </a:ext>
                  </a:extLst>
                </a:gridCol>
                <a:gridCol w="915855">
                  <a:extLst>
                    <a:ext uri="{9D8B030D-6E8A-4147-A177-3AD203B41FA5}">
                      <a16:colId xmlns:a16="http://schemas.microsoft.com/office/drawing/2014/main" val="20003"/>
                    </a:ext>
                  </a:extLst>
                </a:gridCol>
                <a:gridCol w="2284118">
                  <a:extLst>
                    <a:ext uri="{9D8B030D-6E8A-4147-A177-3AD203B41FA5}">
                      <a16:colId xmlns:a16="http://schemas.microsoft.com/office/drawing/2014/main" val="20004"/>
                    </a:ext>
                  </a:extLst>
                </a:gridCol>
              </a:tblGrid>
              <a:tr h="320379">
                <a:tc>
                  <a:txBody>
                    <a:bodyPr/>
                    <a:lstStyle/>
                    <a:p>
                      <a:pPr marL="0" marR="0" algn="ctr">
                        <a:lnSpc>
                          <a:spcPct val="105000"/>
                        </a:lnSpc>
                        <a:spcBef>
                          <a:spcPts val="1200"/>
                        </a:spcBef>
                        <a:spcAft>
                          <a:spcPts val="0"/>
                        </a:spcAft>
                      </a:pPr>
                      <a:r>
                        <a:rPr lang="en-US" sz="1600" b="1" dirty="0">
                          <a:effectLst/>
                        </a:rPr>
                        <a:t>Description</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800"/>
                        </a:spcAft>
                      </a:pPr>
                      <a:r>
                        <a:rPr lang="en-US" sz="1600" dirty="0">
                          <a:effectLst/>
                        </a:rPr>
                        <a:t> </a:t>
                      </a:r>
                      <a:r>
                        <a:rPr lang="en-US" sz="1600" b="1" dirty="0">
                          <a:effectLst/>
                        </a:rPr>
                        <a:t>Seeds</a:t>
                      </a:r>
                      <a:r>
                        <a:rPr lang="en-US" sz="1600" dirty="0">
                          <a:effectLst/>
                        </a:rPr>
                        <a:t>                                                                 </a:t>
                      </a:r>
                      <a:endParaRPr lang="en-US" sz="16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800"/>
                        </a:spcAft>
                      </a:pPr>
                      <a:r>
                        <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rPr>
                        <a:t>Period</a:t>
                      </a: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0"/>
                        </a:spcAft>
                      </a:pPr>
                      <a:r>
                        <a:rPr lang="en-US" sz="1600" b="1" dirty="0">
                          <a:effectLst/>
                        </a:rPr>
                        <a:t>Average</a:t>
                      </a:r>
                      <a:endPar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algn="ctr">
                        <a:lnSpc>
                          <a:spcPct val="105000"/>
                        </a:lnSpc>
                        <a:spcBef>
                          <a:spcPts val="0"/>
                        </a:spcBef>
                        <a:spcAft>
                          <a:spcPts val="0"/>
                        </a:spcAft>
                      </a:pPr>
                      <a:r>
                        <a:rPr lang="en-US" sz="1600" b="1" dirty="0">
                          <a:solidFill>
                            <a:srgbClr val="00000A"/>
                          </a:solidFill>
                          <a:effectLst/>
                          <a:latin typeface="Calibri" panose="020F0502020204030204" pitchFamily="34" charset="0"/>
                          <a:ea typeface="Calibri" panose="020F0502020204030204" pitchFamily="34" charset="0"/>
                          <a:cs typeface="Calibri" panose="020F0502020204030204" pitchFamily="34" charset="0"/>
                        </a:rPr>
                        <a:t>Time for 100 million(sec)</a:t>
                      </a: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0000"/>
                  </a:ext>
                </a:extLst>
              </a:tr>
              <a:tr h="286536">
                <a:tc>
                  <a:txBody>
                    <a:bodyPr/>
                    <a:lstStyle/>
                    <a:p>
                      <a:pPr marL="0" marR="0" lvl="0" indent="0" algn="l">
                        <a:lnSpc>
                          <a:spcPct val="105000"/>
                        </a:lnSpc>
                        <a:spcBef>
                          <a:spcPts val="0"/>
                        </a:spcBef>
                        <a:spcAft>
                          <a:spcPts val="0"/>
                        </a:spcAft>
                        <a:buSzPts val="1200"/>
                        <a:buFont typeface="+mj-lt"/>
                        <a:buNone/>
                      </a:pPr>
                      <a:r>
                        <a:rPr lang="en-US" sz="1400" b="1" dirty="0">
                          <a:solidFill>
                            <a:srgbClr val="C00000"/>
                          </a:solidFill>
                          <a:effectLst/>
                        </a:rPr>
                        <a:t>1. r4_random (s1, s2, s3)</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1&lt; S1, S2, S3 &lt; 30000</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algn="ctr">
                        <a:lnSpc>
                          <a:spcPct val="100000"/>
                        </a:lnSpc>
                        <a:spcAft>
                          <a:spcPts val="0"/>
                        </a:spcAft>
                      </a:pPr>
                      <a:r>
                        <a:rPr lang="en-US" sz="1400" b="1" dirty="0">
                          <a:effectLst/>
                        </a:rPr>
                        <a:t>&gt;6.9x10</a:t>
                      </a:r>
                      <a:r>
                        <a:rPr lang="en-US" sz="1400" b="1" baseline="30000" dirty="0">
                          <a:effectLst/>
                        </a:rPr>
                        <a:t>12</a:t>
                      </a:r>
                      <a:endParaRPr lang="en-US" sz="1400" b="1" dirty="0">
                        <a:effectLst/>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0.4998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9.6250</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1"/>
                  </a:ext>
                </a:extLst>
              </a:tr>
              <a:tr h="295355">
                <a:tc>
                  <a:txBody>
                    <a:bodyPr/>
                    <a:lstStyle/>
                    <a:p>
                      <a:pPr marL="0" marR="0" lvl="0" indent="0" algn="l">
                        <a:lnSpc>
                          <a:spcPct val="107000"/>
                        </a:lnSpc>
                        <a:spcBef>
                          <a:spcPts val="0"/>
                        </a:spcBef>
                        <a:spcAft>
                          <a:spcPts val="0"/>
                        </a:spcAft>
                        <a:buSzPts val="1200"/>
                        <a:buFont typeface="+mj-lt"/>
                        <a:buNone/>
                      </a:pPr>
                      <a:r>
                        <a:rPr lang="en-US" sz="1400" b="1" dirty="0">
                          <a:solidFill>
                            <a:srgbClr val="C00000"/>
                          </a:solidFill>
                          <a:effectLst/>
                        </a:rPr>
                        <a:t>2. r4_uni (s1, s2)</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1&lt; S1,S2 &lt;2147483562</a:t>
                      </a: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1200"/>
                        </a:spcBef>
                        <a:spcAft>
                          <a:spcPts val="0"/>
                        </a:spcAft>
                      </a:pPr>
                      <a:r>
                        <a:rPr lang="en-US" sz="1400" b="1" dirty="0">
                          <a:effectLst/>
                        </a:rPr>
                        <a:t>&gt;2.3x10</a:t>
                      </a:r>
                      <a:r>
                        <a:rPr lang="en-US" sz="1400" b="1" baseline="30000" dirty="0">
                          <a:effectLst/>
                        </a:rPr>
                        <a:t>18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0.5000</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7.0156</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2"/>
                  </a:ext>
                </a:extLst>
              </a:tr>
              <a:tr h="320634">
                <a:tc>
                  <a:txBody>
                    <a:bodyPr/>
                    <a:lstStyle/>
                    <a:p>
                      <a:pPr marL="0" marR="0" lvl="0" indent="0" algn="l">
                        <a:lnSpc>
                          <a:spcPct val="107000"/>
                        </a:lnSpc>
                        <a:spcBef>
                          <a:spcPts val="0"/>
                        </a:spcBef>
                        <a:spcAft>
                          <a:spcPts val="0"/>
                        </a:spcAft>
                        <a:buSzPts val="1200"/>
                        <a:buFont typeface="+mj-lt"/>
                        <a:buNone/>
                      </a:pPr>
                      <a:r>
                        <a:rPr lang="en-US" sz="1400" b="1" dirty="0">
                          <a:solidFill>
                            <a:srgbClr val="C00000"/>
                          </a:solidFill>
                          <a:effectLst/>
                        </a:rPr>
                        <a:t>3. r8_random (s1, s2, s3)</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1 &lt; S1, S2, S3 &lt; 30000</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0000"/>
                        </a:lnSpc>
                        <a:spcBef>
                          <a:spcPts val="1200"/>
                        </a:spcBef>
                        <a:spcAft>
                          <a:spcPts val="0"/>
                        </a:spcAft>
                      </a:pPr>
                      <a:r>
                        <a:rPr lang="en-US" sz="1400" b="1" dirty="0">
                          <a:effectLst/>
                        </a:rPr>
                        <a:t>&gt;6.9x10</a:t>
                      </a:r>
                      <a:r>
                        <a:rPr lang="en-US" sz="1400" b="1" baseline="30000" dirty="0">
                          <a:effectLst/>
                        </a:rPr>
                        <a:t>12</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dirty="0">
                          <a:effectLst/>
                        </a:rPr>
                        <a:t> </a:t>
                      </a:r>
                      <a:r>
                        <a:rPr lang="en-US" sz="1400" b="1" dirty="0">
                          <a:effectLst/>
                        </a:rPr>
                        <a:t>0.4998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11.3906 </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3"/>
                  </a:ext>
                </a:extLst>
              </a:tr>
              <a:tr h="273132">
                <a:tc>
                  <a:txBody>
                    <a:bodyPr/>
                    <a:lstStyle/>
                    <a:p>
                      <a:pPr marL="0" marR="0" lvl="0" indent="0" algn="l">
                        <a:lnSpc>
                          <a:spcPct val="107000"/>
                        </a:lnSpc>
                        <a:spcBef>
                          <a:spcPts val="0"/>
                        </a:spcBef>
                        <a:spcAft>
                          <a:spcPts val="0"/>
                        </a:spcAft>
                        <a:buSzPts val="1200"/>
                        <a:buFont typeface="+mj-lt"/>
                        <a:buNone/>
                      </a:pPr>
                      <a:r>
                        <a:rPr lang="en-US" sz="1400" b="1" dirty="0">
                          <a:solidFill>
                            <a:srgbClr val="C00000"/>
                          </a:solidFill>
                          <a:effectLst/>
                        </a:rPr>
                        <a:t>4. r8_uni (s1, s2)</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1&lt; S1,S2 &lt;2147483562</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400" b="0" dirty="0">
                          <a:effectLst/>
                        </a:rPr>
                        <a:t>&gt;</a:t>
                      </a:r>
                      <a:r>
                        <a:rPr lang="en-US" sz="1400" b="1" dirty="0">
                          <a:effectLst/>
                        </a:rPr>
                        <a:t>2.3x10</a:t>
                      </a:r>
                      <a:r>
                        <a:rPr lang="en-US" sz="1400" b="1" baseline="30000" dirty="0">
                          <a:effectLst/>
                        </a:rPr>
                        <a:t>18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0.5000</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8.0625 </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4"/>
                  </a:ext>
                </a:extLst>
              </a:tr>
              <a:tr h="320634">
                <a:tc>
                  <a:txBody>
                    <a:bodyPr/>
                    <a:lstStyle/>
                    <a:p>
                      <a:pPr marL="0" marR="0" lvl="0" indent="0" algn="l">
                        <a:lnSpc>
                          <a:spcPct val="107000"/>
                        </a:lnSpc>
                        <a:spcBef>
                          <a:spcPts val="0"/>
                        </a:spcBef>
                        <a:spcAft>
                          <a:spcPts val="0"/>
                        </a:spcAft>
                        <a:buSzPts val="1200"/>
                        <a:buFont typeface="+mj-lt"/>
                        <a:buNone/>
                      </a:pPr>
                      <a:r>
                        <a:rPr lang="en-US" sz="1400" b="1" dirty="0">
                          <a:solidFill>
                            <a:srgbClr val="C00000"/>
                          </a:solidFill>
                          <a:effectLst/>
                        </a:rPr>
                        <a:t>5. r4_uniform_01 (seed2)</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1&lt;  S1  &lt;2147483562</a:t>
                      </a: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400" dirty="0">
                          <a:effectLst/>
                        </a:rPr>
                        <a:t>NA</a:t>
                      </a:r>
                      <a:endParaRPr lang="en-US" sz="14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0.4997</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5.2655</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5"/>
                  </a:ext>
                </a:extLst>
              </a:tr>
              <a:tr h="285008">
                <a:tc>
                  <a:txBody>
                    <a:bodyPr/>
                    <a:lstStyle/>
                    <a:p>
                      <a:pPr marL="0" marR="0" lvl="0" indent="0" algn="l">
                        <a:lnSpc>
                          <a:spcPct val="107000"/>
                        </a:lnSpc>
                        <a:spcBef>
                          <a:spcPts val="0"/>
                        </a:spcBef>
                        <a:spcAft>
                          <a:spcPts val="0"/>
                        </a:spcAft>
                        <a:buSzPts val="1200"/>
                        <a:buFont typeface="+mj-lt"/>
                        <a:buNone/>
                      </a:pPr>
                      <a:r>
                        <a:rPr lang="en-US" sz="1400" b="1" dirty="0">
                          <a:solidFill>
                            <a:srgbClr val="C00000"/>
                          </a:solidFill>
                          <a:effectLst/>
                        </a:rPr>
                        <a:t>6. r8_uniform_01 (seed3)</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1&lt; S1 &lt;2147483562</a:t>
                      </a:r>
                      <a:r>
                        <a:rPr lang="en-US" sz="1200" dirty="0">
                          <a:effectLst/>
                        </a:rPr>
                        <a:t> </a:t>
                      </a:r>
                      <a:endParaRPr lang="en-US" sz="12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400" dirty="0">
                          <a:effectLst/>
                        </a:rPr>
                        <a:t>NA</a:t>
                      </a:r>
                      <a:endParaRPr lang="en-US" sz="14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0.4997</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 8.5156</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6"/>
                  </a:ext>
                </a:extLst>
              </a:tr>
              <a:tr h="273132">
                <a:tc>
                  <a:txBody>
                    <a:bodyPr/>
                    <a:lstStyle/>
                    <a:p>
                      <a:pPr marL="0" marR="0" lvl="0" indent="0" algn="l">
                        <a:lnSpc>
                          <a:spcPct val="100000"/>
                        </a:lnSpc>
                        <a:spcBef>
                          <a:spcPts val="0"/>
                        </a:spcBef>
                        <a:spcAft>
                          <a:spcPts val="800"/>
                        </a:spcAft>
                        <a:buSzPts val="1200"/>
                        <a:buFont typeface="+mj-lt"/>
                        <a:buNone/>
                      </a:pPr>
                      <a:r>
                        <a:rPr lang="en-US" sz="1400" b="1" dirty="0">
                          <a:solidFill>
                            <a:srgbClr val="C00000"/>
                          </a:solidFill>
                          <a:effectLst/>
                        </a:rPr>
                        <a:t>7.</a:t>
                      </a:r>
                      <a:r>
                        <a:rPr lang="en-US" sz="1400" b="1" baseline="0" dirty="0">
                          <a:solidFill>
                            <a:srgbClr val="C00000"/>
                          </a:solidFill>
                          <a:effectLst/>
                        </a:rPr>
                        <a:t> </a:t>
                      </a:r>
                      <a:r>
                        <a:rPr lang="en-US" sz="1400" b="1" dirty="0" err="1">
                          <a:solidFill>
                            <a:srgbClr val="C00000"/>
                          </a:solidFill>
                          <a:effectLst/>
                        </a:rPr>
                        <a:t>ranC</a:t>
                      </a:r>
                      <a:r>
                        <a:rPr lang="en-US" sz="1400" b="1" dirty="0">
                          <a:solidFill>
                            <a:srgbClr val="C00000"/>
                          </a:solidFill>
                          <a:effectLst/>
                        </a:rPr>
                        <a:t>(</a:t>
                      </a:r>
                      <a:r>
                        <a:rPr lang="en-US" sz="1400" b="1" dirty="0" err="1">
                          <a:solidFill>
                            <a:srgbClr val="C00000"/>
                          </a:solidFill>
                          <a:effectLst/>
                        </a:rPr>
                        <a:t>idumC</a:t>
                      </a:r>
                      <a:r>
                        <a:rPr lang="en-US" sz="1400" b="1" dirty="0">
                          <a:solidFill>
                            <a:srgbClr val="C00000"/>
                          </a:solidFill>
                          <a:effectLst/>
                        </a:rPr>
                        <a:t>)</a:t>
                      </a:r>
                      <a:r>
                        <a:rPr lang="en-US" sz="1400" b="1" baseline="0" dirty="0">
                          <a:solidFill>
                            <a:srgbClr val="C00000"/>
                          </a:solidFill>
                          <a:effectLst/>
                        </a:rPr>
                        <a:t>                       </a:t>
                      </a:r>
                      <a:endParaRPr lang="en-US" sz="1400" dirty="0">
                        <a:effectLst/>
                      </a:endParaRP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S1 = Negative integer</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400" b="1" dirty="0">
                          <a:effectLst/>
                        </a:rPr>
                        <a:t>&gt;2x10</a:t>
                      </a:r>
                      <a:r>
                        <a:rPr lang="en-US" sz="1400" b="1" baseline="30000" dirty="0">
                          <a:effectLst/>
                        </a:rPr>
                        <a:t>18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0.4999</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lvl="0" indent="0" algn="ctr" defTabSz="685800" rtl="0" eaLnBrk="1" fontAlgn="auto" latinLnBrk="0" hangingPunct="1">
                        <a:lnSpc>
                          <a:spcPct val="105000"/>
                        </a:lnSpc>
                        <a:spcBef>
                          <a:spcPts val="0"/>
                        </a:spcBef>
                        <a:spcAft>
                          <a:spcPts val="800"/>
                        </a:spcAft>
                        <a:buClrTx/>
                        <a:buSzTx/>
                        <a:buFontTx/>
                        <a:buNone/>
                        <a:tabLst/>
                        <a:defRPr/>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28.4062 </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7"/>
                  </a:ext>
                </a:extLst>
              </a:tr>
              <a:tr h="261257">
                <a:tc>
                  <a:txBody>
                    <a:bodyPr/>
                    <a:lstStyle/>
                    <a:p>
                      <a:pPr marL="0" marR="0" lvl="0" indent="0" algn="l">
                        <a:lnSpc>
                          <a:spcPct val="105000"/>
                        </a:lnSpc>
                        <a:spcBef>
                          <a:spcPts val="0"/>
                        </a:spcBef>
                        <a:spcAft>
                          <a:spcPts val="800"/>
                        </a:spcAft>
                        <a:buSzPts val="1200"/>
                        <a:buFont typeface="+mj-lt"/>
                        <a:buNone/>
                      </a:pPr>
                      <a:r>
                        <a:rPr lang="en-US" sz="1400" b="1" dirty="0">
                          <a:solidFill>
                            <a:srgbClr val="C00000"/>
                          </a:solidFill>
                          <a:effectLst/>
                        </a:rPr>
                        <a:t>8.</a:t>
                      </a:r>
                      <a:r>
                        <a:rPr lang="en-US" sz="1400" b="1" baseline="0" dirty="0">
                          <a:solidFill>
                            <a:srgbClr val="C00000"/>
                          </a:solidFill>
                          <a:effectLst/>
                        </a:rPr>
                        <a:t> </a:t>
                      </a:r>
                      <a:r>
                        <a:rPr lang="en-US" sz="1400" b="1" dirty="0" err="1">
                          <a:solidFill>
                            <a:srgbClr val="C00000"/>
                          </a:solidFill>
                          <a:effectLst/>
                        </a:rPr>
                        <a:t>ranE</a:t>
                      </a:r>
                      <a:r>
                        <a:rPr lang="en-US" sz="1400" b="1" dirty="0">
                          <a:solidFill>
                            <a:srgbClr val="C00000"/>
                          </a:solidFill>
                          <a:effectLst/>
                        </a:rPr>
                        <a:t>(</a:t>
                      </a:r>
                      <a:r>
                        <a:rPr lang="en-US" sz="1400" b="1" dirty="0" err="1">
                          <a:solidFill>
                            <a:srgbClr val="C00000"/>
                          </a:solidFill>
                          <a:effectLst/>
                        </a:rPr>
                        <a:t>idumE</a:t>
                      </a:r>
                      <a:r>
                        <a:rPr lang="en-US" sz="1400" b="1" dirty="0">
                          <a:solidFill>
                            <a:srgbClr val="C00000"/>
                          </a:solidFill>
                          <a:effectLst/>
                        </a:rPr>
                        <a:t>)</a:t>
                      </a:r>
                      <a:endParaRPr lang="en-US" sz="1400" dirty="0">
                        <a:effectLst/>
                        <a:latin typeface="Times New Roman" panose="02020603050405020304" pitchFamily="18"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200" b="1" dirty="0">
                          <a:effectLst/>
                        </a:rPr>
                        <a:t> S1 = Negative integer </a:t>
                      </a:r>
                      <a:endParaRPr lang="en-US" sz="12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algn="ctr">
                        <a:lnSpc>
                          <a:spcPct val="105000"/>
                        </a:lnSpc>
                        <a:spcBef>
                          <a:spcPts val="0"/>
                        </a:spcBef>
                        <a:spcAft>
                          <a:spcPts val="800"/>
                        </a:spcAft>
                      </a:pPr>
                      <a:r>
                        <a:rPr lang="en-US" sz="1400" b="1" dirty="0">
                          <a:effectLst/>
                        </a:rPr>
                        <a:t>&gt;2x10</a:t>
                      </a:r>
                      <a:r>
                        <a:rPr lang="en-US" sz="1400" b="1" baseline="30000" dirty="0">
                          <a:effectLst/>
                        </a:rPr>
                        <a:t>18</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0" marR="0" algn="ctr">
                        <a:lnSpc>
                          <a:spcPct val="105000"/>
                        </a:lnSpc>
                        <a:spcBef>
                          <a:spcPts val="0"/>
                        </a:spcBef>
                        <a:spcAft>
                          <a:spcPts val="0"/>
                        </a:spcAft>
                      </a:pPr>
                      <a:r>
                        <a:rPr lang="en-US" sz="1400" b="1" dirty="0">
                          <a:effectLst/>
                        </a:rPr>
                        <a:t>0.5003</a:t>
                      </a:r>
                      <a:endParaRPr lang="en-US" sz="1400" b="1"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tc>
                  <a:txBody>
                    <a:bodyPr/>
                    <a:lstStyle/>
                    <a:p>
                      <a:pPr marL="119380" marR="0" lvl="0" indent="0" algn="ctr" defTabSz="685800" rtl="0" eaLnBrk="1" fontAlgn="auto" latinLnBrk="0" hangingPunct="1">
                        <a:lnSpc>
                          <a:spcPct val="105000"/>
                        </a:lnSpc>
                        <a:spcBef>
                          <a:spcPts val="0"/>
                        </a:spcBef>
                        <a:spcAft>
                          <a:spcPts val="800"/>
                        </a:spcAft>
                        <a:buClrTx/>
                        <a:buSzTx/>
                        <a:buFontTx/>
                        <a:buNone/>
                        <a:tabLst/>
                        <a:defRPr/>
                      </a:pPr>
                      <a:r>
                        <a:rPr lang="en-US" sz="1100" b="1" dirty="0">
                          <a:solidFill>
                            <a:srgbClr val="00000A"/>
                          </a:solidFill>
                          <a:effectLst/>
                          <a:latin typeface="Times New Roman" panose="02020603050405020304" pitchFamily="18" charset="0"/>
                          <a:ea typeface="Calibri" panose="020F0502020204030204" pitchFamily="34" charset="0"/>
                          <a:cs typeface="Calibri" panose="020F0502020204030204" pitchFamily="34" charset="0"/>
                        </a:rPr>
                        <a:t>18.6094 </a:t>
                      </a:r>
                      <a:endParaRPr lang="en-US" sz="1100" dirty="0">
                        <a:solidFill>
                          <a:srgbClr val="00000A"/>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dot"/>
                      <a:round/>
                      <a:headEnd type="none" w="med" len="med"/>
                      <a:tailEnd type="none" w="med" len="med"/>
                    </a:lnB>
                  </a:tcPr>
                </a:tc>
                <a:extLst>
                  <a:ext uri="{0D108BD9-81ED-4DB2-BD59-A6C34878D82A}">
                    <a16:rowId xmlns:a16="http://schemas.microsoft.com/office/drawing/2014/main" val="10008"/>
                  </a:ext>
                </a:extLst>
              </a:tr>
              <a:tr h="273133">
                <a:tc>
                  <a:txBody>
                    <a:bodyPr/>
                    <a:lstStyle/>
                    <a:p>
                      <a:r>
                        <a:rPr lang="en-US" b="1" dirty="0">
                          <a:solidFill>
                            <a:schemeClr val="bg1"/>
                          </a:solidFill>
                        </a:rPr>
                        <a:t>9. Prn(s)</a:t>
                      </a:r>
                    </a:p>
                  </a:txBody>
                  <a:tcPr marL="43526" marR="43526" marT="0" marB="0" anchor="ctr">
                    <a:lnL w="12700" cap="flat" cmpd="sng" algn="ctr">
                      <a:solidFill>
                        <a:schemeClr val="tx1"/>
                      </a:solidFill>
                      <a:prstDash val="solid"/>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pPr algn="ctr"/>
                      <a:r>
                        <a:rPr lang="en-US" sz="1200" b="1" dirty="0">
                          <a:solidFill>
                            <a:schemeClr val="bg1"/>
                          </a:solidFill>
                        </a:rPr>
                        <a:t>S1=</a:t>
                      </a:r>
                      <a:r>
                        <a:rPr lang="en-US" sz="1200" b="1" baseline="0" dirty="0">
                          <a:solidFill>
                            <a:schemeClr val="bg1"/>
                          </a:solidFill>
                        </a:rPr>
                        <a:t> positive integer</a:t>
                      </a:r>
                      <a:endParaRPr lang="en-US" sz="1200" b="1" dirty="0">
                        <a:solidFill>
                          <a:schemeClr val="bg1"/>
                        </a:solidFill>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US" sz="1400" b="1" dirty="0">
                          <a:solidFill>
                            <a:schemeClr val="bg1"/>
                          </a:solidFill>
                          <a:effectLst/>
                        </a:rPr>
                        <a:t>&gt;2.3x10</a:t>
                      </a:r>
                      <a:r>
                        <a:rPr lang="en-US" sz="1400" b="1" baseline="30000" dirty="0">
                          <a:solidFill>
                            <a:schemeClr val="bg1"/>
                          </a:solidFill>
                          <a:effectLst/>
                        </a:rPr>
                        <a:t>18</a:t>
                      </a:r>
                      <a:endParaRPr lang="en-US" sz="1400" b="1"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pPr algn="ctr"/>
                      <a:r>
                        <a:rPr lang="en-US" b="1" dirty="0">
                          <a:solidFill>
                            <a:schemeClr val="bg1"/>
                          </a:solidFill>
                        </a:rPr>
                        <a:t>0.5001</a:t>
                      </a:r>
                    </a:p>
                  </a:txBody>
                  <a:tcPr marL="43526" marR="43526" marT="0" marB="0" anchor="ctr">
                    <a:lnL w="12700" cap="flat" cmpd="sng" algn="ctr">
                      <a:solidFill>
                        <a:schemeClr val="tx1"/>
                      </a:solidFill>
                      <a:prstDash val="dot"/>
                      <a:round/>
                      <a:headEnd type="none" w="med" len="med"/>
                      <a:tailEnd type="none" w="med" len="med"/>
                    </a:lnL>
                    <a:lnR w="12700" cap="flat" cmpd="sng" algn="ctr">
                      <a:solidFill>
                        <a:schemeClr val="tx1"/>
                      </a:solidFill>
                      <a:prstDash val="dot"/>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tc>
                  <a:txBody>
                    <a:bodyPr/>
                    <a:lstStyle/>
                    <a:p>
                      <a:pPr marL="119380" marR="0" algn="ctr">
                        <a:lnSpc>
                          <a:spcPct val="105000"/>
                        </a:lnSpc>
                        <a:spcBef>
                          <a:spcPts val="0"/>
                        </a:spcBef>
                        <a:spcAft>
                          <a:spcPts val="800"/>
                        </a:spcAft>
                      </a:pPr>
                      <a:r>
                        <a:rPr lang="en-US" sz="1100" b="1" dirty="0">
                          <a:solidFill>
                            <a:schemeClr val="bg1"/>
                          </a:solidFill>
                          <a:effectLst/>
                          <a:latin typeface="Times New Roman" panose="02020603050405020304" pitchFamily="18" charset="0"/>
                          <a:ea typeface="Calibri" panose="020F0502020204030204" pitchFamily="34" charset="0"/>
                          <a:cs typeface="Calibri" panose="020F0502020204030204" pitchFamily="34" charset="0"/>
                        </a:rPr>
                        <a:t>5.0186</a:t>
                      </a:r>
                      <a:endParaRPr lang="en-US" sz="1100" dirty="0">
                        <a:solidFill>
                          <a:schemeClr val="bg1"/>
                        </a:solidFill>
                        <a:effectLst/>
                        <a:latin typeface="Calibri" panose="020F0502020204030204" pitchFamily="34" charset="0"/>
                        <a:ea typeface="Calibri" panose="020F0502020204030204" pitchFamily="34" charset="0"/>
                        <a:cs typeface="Calibri" panose="020F0502020204030204" pitchFamily="34" charset="0"/>
                      </a:endParaRPr>
                    </a:p>
                  </a:txBody>
                  <a:tcPr marL="68580" marR="68580" marT="0" marB="0" anchor="ctr">
                    <a:lnL w="12700" cap="flat" cmpd="sng" algn="ctr">
                      <a:solidFill>
                        <a:schemeClr val="tx1"/>
                      </a:solidFill>
                      <a:prstDash val="dot"/>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dot"/>
                      <a:round/>
                      <a:headEnd type="none" w="med" len="med"/>
                      <a:tailEnd type="none" w="med" len="med"/>
                    </a:lnT>
                    <a:lnB w="12700" cap="flat" cmpd="sng" algn="ctr">
                      <a:solidFill>
                        <a:schemeClr val="tx1"/>
                      </a:solidFill>
                      <a:prstDash val="solid"/>
                      <a:round/>
                      <a:headEnd type="none" w="med" len="med"/>
                      <a:tailEnd type="none" w="med" len="med"/>
                    </a:lnB>
                    <a:solidFill>
                      <a:schemeClr val="accent2">
                        <a:lumMod val="50000"/>
                      </a:schemeClr>
                    </a:solidFill>
                  </a:tcPr>
                </a:tc>
                <a:extLst>
                  <a:ext uri="{0D108BD9-81ED-4DB2-BD59-A6C34878D82A}">
                    <a16:rowId xmlns:a16="http://schemas.microsoft.com/office/drawing/2014/main" val="10009"/>
                  </a:ext>
                </a:extLst>
              </a:tr>
            </a:tbl>
          </a:graphicData>
        </a:graphic>
      </p:graphicFrame>
      <p:sp>
        <p:nvSpPr>
          <p:cNvPr id="20" name="TextBox 19"/>
          <p:cNvSpPr txBox="1"/>
          <p:nvPr/>
        </p:nvSpPr>
        <p:spPr>
          <a:xfrm>
            <a:off x="6066048" y="2104993"/>
            <a:ext cx="2567313" cy="861774"/>
          </a:xfrm>
          <a:prstGeom prst="rect">
            <a:avLst/>
          </a:prstGeom>
          <a:noFill/>
        </p:spPr>
        <p:txBody>
          <a:bodyPr wrap="square" rtlCol="0">
            <a:spAutoFit/>
          </a:bodyPr>
          <a:lstStyle/>
          <a:p>
            <a:pPr algn="ctr"/>
            <a:r>
              <a:rPr lang="en-US" b="1" dirty="0">
                <a:solidFill>
                  <a:srgbClr val="008000"/>
                </a:solidFill>
              </a:rPr>
              <a:t>MODULE RANDOM</a:t>
            </a:r>
          </a:p>
          <a:p>
            <a:pPr algn="ctr"/>
            <a:endParaRPr lang="en-US" sz="1600" b="1" dirty="0">
              <a:solidFill>
                <a:srgbClr val="008000"/>
              </a:solidFill>
            </a:endParaRPr>
          </a:p>
          <a:p>
            <a:pPr algn="ctr"/>
            <a:r>
              <a:rPr lang="en-US" sz="1600" b="1" dirty="0">
                <a:solidFill>
                  <a:srgbClr val="008000"/>
                </a:solidFill>
              </a:rPr>
              <a:t>Gives random numbers</a:t>
            </a:r>
          </a:p>
        </p:txBody>
      </p:sp>
      <p:sp>
        <p:nvSpPr>
          <p:cNvPr id="21" name="Chevron 20"/>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2" name="Chevron 21"/>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3042718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animEffect transition="in" filter="fade">
                                      <p:cBhvr>
                                        <p:cTn id="7" dur="500"/>
                                        <p:tgtEl>
                                          <p:spTgt spid="19"/>
                                        </p:tgtEl>
                                      </p:cBhvr>
                                    </p:animEffect>
                                  </p:childTnLst>
                                </p:cTn>
                              </p:par>
                              <p:par>
                                <p:cTn id="8" presetID="1" presetClass="entr" presetSubtype="0" fill="hold" grpId="0" nodeType="withEffect">
                                  <p:stCondLst>
                                    <p:cond delay="0"/>
                                  </p:stCondLst>
                                  <p:childTnLst>
                                    <p:set>
                                      <p:cBhvr>
                                        <p:cTn id="9"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986595" y="1692978"/>
                <a:ext cx="3143250" cy="2297503"/>
              </a:xfrm>
            </p:spPr>
            <p:txBody>
              <a:bodyPr>
                <a:normAutofit fontScale="62500" lnSpcReduction="20000"/>
              </a:bodyPr>
              <a:lstStyle/>
              <a:p>
                <a:pPr marL="0" indent="0">
                  <a:lnSpc>
                    <a:spcPct val="120000"/>
                  </a:lnSpc>
                  <a:buNone/>
                </a:pPr>
                <a:r>
                  <a:rPr lang="en-US" sz="2600" b="1" u="sng" dirty="0"/>
                  <a:t>Distance to collision ?</a:t>
                </a:r>
              </a:p>
              <a:p>
                <a:pPr>
                  <a:lnSpc>
                    <a:spcPct val="120000"/>
                  </a:lnSpc>
                </a:pPr>
                <a:r>
                  <a:rPr lang="en-US" sz="2300" dirty="0"/>
                  <a:t>The probability of collision for a particle between </a:t>
                </a:r>
                <a:r>
                  <a:rPr lang="en-US" sz="2300" i="1" dirty="0"/>
                  <a:t>l </a:t>
                </a:r>
                <a:r>
                  <a:rPr lang="en-US" sz="2300" dirty="0"/>
                  <a:t>and </a:t>
                </a:r>
                <a:r>
                  <a:rPr lang="en-US" sz="2300" i="1" dirty="0"/>
                  <a:t>l </a:t>
                </a:r>
                <a:r>
                  <a:rPr lang="en-US" sz="2300" dirty="0"/>
                  <a:t>+ </a:t>
                </a:r>
                <a:r>
                  <a:rPr lang="en-US" sz="2300" i="1" dirty="0"/>
                  <a:t>dl </a:t>
                </a:r>
                <a:r>
                  <a:rPr lang="en-US" sz="2300" dirty="0"/>
                  <a:t>along its line of flight is given by</a:t>
                </a:r>
              </a:p>
              <a:p>
                <a:pPr>
                  <a:lnSpc>
                    <a:spcPct val="120000"/>
                  </a:lnSpc>
                </a:pPr>
                <a14:m>
                  <m:oMath xmlns:m="http://schemas.openxmlformats.org/officeDocument/2006/math">
                    <m:r>
                      <a:rPr lang="en-US" b="0" i="1" smtClean="0">
                        <a:latin typeface="Cambria Math" panose="02040503050406030204" pitchFamily="18" charset="0"/>
                      </a:rPr>
                      <m:t>𝑝</m:t>
                    </m:r>
                    <m:d>
                      <m:dPr>
                        <m:ctrlPr>
                          <a:rPr lang="en-US" b="0" i="1" smtClean="0">
                            <a:latin typeface="Cambria Math" panose="02040503050406030204" pitchFamily="18" charset="0"/>
                          </a:rPr>
                        </m:ctrlPr>
                      </m:dPr>
                      <m:e>
                        <m:r>
                          <a:rPr lang="en-US" b="0" i="1" smtClean="0">
                            <a:latin typeface="Cambria Math" panose="02040503050406030204" pitchFamily="18" charset="0"/>
                          </a:rPr>
                          <m:t>𝑥</m:t>
                        </m:r>
                      </m:e>
                    </m:d>
                    <m:r>
                      <a:rPr lang="en-US" b="0" i="1" smtClean="0">
                        <a:latin typeface="Cambria Math" panose="02040503050406030204" pitchFamily="18" charset="0"/>
                      </a:rPr>
                      <m:t>𝑑𝑥</m:t>
                    </m:r>
                    <m:r>
                      <a:rPr lang="en-US" b="0" i="1" smtClean="0">
                        <a:latin typeface="Cambria Math" panose="02040503050406030204" pitchFamily="18" charset="0"/>
                      </a:rPr>
                      <m:t>=</m:t>
                    </m:r>
                    <m:sSup>
                      <m:sSupPr>
                        <m:ctrlPr>
                          <a:rPr lang="en-US" b="0" i="1" smtClean="0">
                            <a:latin typeface="Cambria Math" panose="02040503050406030204" pitchFamily="18" charset="0"/>
                          </a:rPr>
                        </m:ctrlPr>
                      </m:sSupPr>
                      <m:e>
                        <m:r>
                          <a:rPr lang="en-US" b="0" i="1" smtClean="0">
                            <a:latin typeface="Cambria Math" panose="02040503050406030204" pitchFamily="18" charset="0"/>
                          </a:rPr>
                          <m:t>𝑒</m:t>
                        </m:r>
                      </m:e>
                      <m:sup>
                        <m:sSub>
                          <m:sSubPr>
                            <m:ctrlPr>
                              <a:rPr lang="en-US" b="0" i="1" smtClean="0">
                                <a:latin typeface="Cambria Math" panose="02040503050406030204" pitchFamily="18" charset="0"/>
                              </a:rPr>
                            </m:ctrlPr>
                          </m:sSubPr>
                          <m:e>
                            <m:r>
                              <a:rPr lang="en-US" b="0" i="1"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𝑡</m:t>
                            </m:r>
                          </m:sub>
                        </m:sSub>
                        <m:sSup>
                          <m:sSupPr>
                            <m:ctrlPr>
                              <a:rPr lang="en-US" b="0" i="1" smtClean="0">
                                <a:latin typeface="Cambria Math" panose="02040503050406030204" pitchFamily="18" charset="0"/>
                              </a:rPr>
                            </m:ctrlPr>
                          </m:sSupPr>
                          <m:e>
                            <m:r>
                              <a:rPr lang="en-US" b="0" i="1" smtClean="0">
                                <a:latin typeface="Cambria Math" panose="02040503050406030204" pitchFamily="18" charset="0"/>
                              </a:rPr>
                              <m:t>𝑙</m:t>
                            </m:r>
                          </m:e>
                          <m:sup>
                            <m:r>
                              <a:rPr lang="en-US" b="0" i="1" smtClean="0">
                                <a:latin typeface="Cambria Math" panose="02040503050406030204" pitchFamily="18" charset="0"/>
                              </a:rPr>
                              <m:t> </m:t>
                            </m:r>
                          </m:sup>
                        </m:sSup>
                      </m:sup>
                    </m:sSup>
                    <m:sSub>
                      <m:sSubPr>
                        <m:ctrlPr>
                          <a:rPr lang="en-US"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𝑡</m:t>
                        </m:r>
                      </m:sub>
                    </m:sSub>
                    <m:r>
                      <a:rPr lang="en-US" b="0" i="1" smtClean="0">
                        <a:latin typeface="Cambria Math" panose="02040503050406030204" pitchFamily="18" charset="0"/>
                      </a:rPr>
                      <m:t>𝑑𝑥</m:t>
                    </m:r>
                  </m:oMath>
                </a14:m>
                <a:endParaRPr lang="en-US" i="1" dirty="0"/>
              </a:p>
              <a:p>
                <a:pPr>
                  <a:lnSpc>
                    <a:spcPct val="120000"/>
                  </a:lnSpc>
                </a:pPr>
                <a14:m>
                  <m:oMath xmlns:m="http://schemas.openxmlformats.org/officeDocument/2006/math">
                    <m:r>
                      <a:rPr lang="en-US" b="0" i="1" smtClean="0">
                        <a:latin typeface="Cambria Math" panose="02040503050406030204" pitchFamily="18" charset="0"/>
                      </a:rPr>
                      <m:t>𝑥</m:t>
                    </m:r>
                    <m:r>
                      <a:rPr lang="en-US" b="0" i="1" smtClean="0">
                        <a:latin typeface="Cambria Math" panose="02040503050406030204" pitchFamily="18" charset="0"/>
                      </a:rPr>
                      <m:t>=− </m:t>
                    </m:r>
                    <m:f>
                      <m:fPr>
                        <m:ctrlPr>
                          <a:rPr lang="en-US" b="0" i="1" smtClean="0">
                            <a:latin typeface="Cambria Math" panose="02040503050406030204" pitchFamily="18" charset="0"/>
                          </a:rPr>
                        </m:ctrlPr>
                      </m:fPr>
                      <m:num>
                        <m:r>
                          <a:rPr lang="en-US" b="0" i="1" smtClean="0">
                            <a:latin typeface="Cambria Math" panose="02040503050406030204" pitchFamily="18" charset="0"/>
                          </a:rPr>
                          <m:t>1</m:t>
                        </m:r>
                      </m:num>
                      <m:den>
                        <m:sSub>
                          <m:sSubPr>
                            <m:ctrlPr>
                              <a:rPr lang="en-US" b="0" i="1" smtClean="0">
                                <a:latin typeface="Cambria Math" panose="02040503050406030204" pitchFamily="18" charset="0"/>
                              </a:rPr>
                            </m:ctrlPr>
                          </m:sSubPr>
                          <m:e>
                            <m:r>
                              <m:rPr>
                                <m:sty m:val="p"/>
                              </m:rPr>
                              <a:rPr lang="el-GR" b="0" i="1" smtClean="0">
                                <a:latin typeface="Cambria Math" panose="02040503050406030204" pitchFamily="18" charset="0"/>
                                <a:ea typeface="Cambria Math" panose="02040503050406030204" pitchFamily="18" charset="0"/>
                              </a:rPr>
                              <m:t>Σ</m:t>
                            </m:r>
                          </m:e>
                          <m:sub>
                            <m:r>
                              <a:rPr lang="en-US" b="0" i="1" smtClean="0">
                                <a:latin typeface="Cambria Math" panose="02040503050406030204" pitchFamily="18" charset="0"/>
                              </a:rPr>
                              <m:t>𝑡</m:t>
                            </m:r>
                          </m:sub>
                        </m:sSub>
                      </m:den>
                    </m:f>
                    <m:r>
                      <a:rPr lang="en-US" b="0" i="0" smtClean="0">
                        <a:latin typeface="Cambria Math" panose="02040503050406030204" pitchFamily="18" charset="0"/>
                      </a:rPr>
                      <m:t> </m:t>
                    </m:r>
                    <m:r>
                      <m:rPr>
                        <m:sty m:val="p"/>
                      </m:rPr>
                      <a:rPr lang="en-US" b="0" i="0" smtClean="0">
                        <a:latin typeface="Cambria Math" panose="02040503050406030204" pitchFamily="18" charset="0"/>
                      </a:rPr>
                      <m:t>ln</m:t>
                    </m:r>
                    <m:r>
                      <a:rPr lang="en-US" b="0" i="0" smtClean="0">
                        <a:latin typeface="Cambria Math" panose="02040503050406030204" pitchFamily="18" charset="0"/>
                      </a:rPr>
                      <m:t>(</m:t>
                    </m:r>
                    <m:r>
                      <m:rPr>
                        <m:sty m:val="p"/>
                      </m:rPr>
                      <a:rPr lang="el-GR" b="0" i="1" smtClean="0">
                        <a:latin typeface="Cambria Math" panose="02040503050406030204" pitchFamily="18" charset="0"/>
                        <a:ea typeface="Cambria Math" panose="02040503050406030204" pitchFamily="18" charset="0"/>
                      </a:rPr>
                      <m:t>ξ</m:t>
                    </m:r>
                    <m:r>
                      <a:rPr lang="en-US" b="0" i="1" smtClean="0">
                        <a:latin typeface="Cambria Math" panose="02040503050406030204" pitchFamily="18" charset="0"/>
                        <a:ea typeface="Cambria Math" panose="02040503050406030204" pitchFamily="18" charset="0"/>
                      </a:rPr>
                      <m:t>)</m:t>
                    </m:r>
                  </m:oMath>
                </a14:m>
                <a:endParaRPr lang="en-US" dirty="0"/>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986595" y="1692978"/>
                <a:ext cx="3143250" cy="2297503"/>
              </a:xfrm>
              <a:blipFill>
                <a:blip r:embed="rId2"/>
                <a:stretch>
                  <a:fillRect l="-1359" t="-796"/>
                </a:stretch>
              </a:blipFill>
            </p:spPr>
            <p:txBody>
              <a:bodyPr/>
              <a:lstStyle/>
              <a:p>
                <a:r>
                  <a:rPr lang="en-IN">
                    <a:noFill/>
                  </a:rPr>
                  <a:t> </a:t>
                </a:r>
              </a:p>
            </p:txBody>
          </p:sp>
        </mc:Fallback>
      </mc:AlternateContent>
      <p:pic>
        <p:nvPicPr>
          <p:cNvPr id="19" name="Picture 18"/>
          <p:cNvPicPr>
            <a:picLocks noChangeAspect="1"/>
          </p:cNvPicPr>
          <p:nvPr/>
        </p:nvPicPr>
        <p:blipFill rotWithShape="1">
          <a:blip r:embed="rId3"/>
          <a:srcRect t="11845"/>
          <a:stretch/>
        </p:blipFill>
        <p:spPr>
          <a:xfrm>
            <a:off x="1280151" y="3990480"/>
            <a:ext cx="2287764" cy="2076376"/>
          </a:xfrm>
          <a:prstGeom prst="rect">
            <a:avLst/>
          </a:prstGeom>
        </p:spPr>
      </p:pic>
      <p:sp>
        <p:nvSpPr>
          <p:cNvPr id="21" name="TextBox 20"/>
          <p:cNvSpPr txBox="1"/>
          <p:nvPr/>
        </p:nvSpPr>
        <p:spPr>
          <a:xfrm>
            <a:off x="5188401" y="1711244"/>
            <a:ext cx="2992094" cy="1600438"/>
          </a:xfrm>
          <a:prstGeom prst="rect">
            <a:avLst/>
          </a:prstGeom>
          <a:noFill/>
        </p:spPr>
        <p:txBody>
          <a:bodyPr wrap="square" rtlCol="0">
            <a:spAutoFit/>
          </a:bodyPr>
          <a:lstStyle/>
          <a:p>
            <a:r>
              <a:rPr lang="en-US" b="1" u="sng" dirty="0"/>
              <a:t>Which nuclide ?</a:t>
            </a:r>
          </a:p>
          <a:p>
            <a:pPr marL="285750" indent="-285750">
              <a:buFont typeface="Arial" panose="020B0604020202020204" pitchFamily="34" charset="0"/>
              <a:buChar char="•"/>
            </a:pPr>
            <a:r>
              <a:rPr lang="en-US" sz="1600" dirty="0"/>
              <a:t>We compare cross-section to determine which nuclide a neutron collides with</a:t>
            </a:r>
          </a:p>
          <a:p>
            <a:pPr marL="285750" indent="-285750">
              <a:buFont typeface="Arial" panose="020B0604020202020204" pitchFamily="34" charset="0"/>
              <a:buChar char="•"/>
            </a:pPr>
            <a:r>
              <a:rPr lang="en-US" sz="1600" dirty="0"/>
              <a:t>Normalize the Nuclide cross-sections for sampling</a:t>
            </a:r>
          </a:p>
        </p:txBody>
      </p:sp>
      <p:sp>
        <p:nvSpPr>
          <p:cNvPr id="17"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2" name="TextBox 1"/>
          <p:cNvSpPr txBox="1"/>
          <p:nvPr/>
        </p:nvSpPr>
        <p:spPr>
          <a:xfrm>
            <a:off x="1240252" y="5432235"/>
            <a:ext cx="301686" cy="369332"/>
          </a:xfrm>
          <a:prstGeom prst="rect">
            <a:avLst/>
          </a:prstGeom>
          <a:noFill/>
        </p:spPr>
        <p:txBody>
          <a:bodyPr wrap="none" rtlCol="0">
            <a:spAutoFit/>
          </a:bodyPr>
          <a:lstStyle/>
          <a:p>
            <a:r>
              <a:rPr lang="en-US" dirty="0"/>
              <a:t>0</a:t>
            </a:r>
          </a:p>
        </p:txBody>
      </p:sp>
      <p:sp>
        <p:nvSpPr>
          <p:cNvPr id="4" name="TextBox 3"/>
          <p:cNvSpPr txBox="1"/>
          <p:nvPr/>
        </p:nvSpPr>
        <p:spPr>
          <a:xfrm>
            <a:off x="1252953" y="4385680"/>
            <a:ext cx="301686" cy="369332"/>
          </a:xfrm>
          <a:prstGeom prst="rect">
            <a:avLst/>
          </a:prstGeom>
          <a:noFill/>
        </p:spPr>
        <p:txBody>
          <a:bodyPr wrap="none" rtlCol="0">
            <a:spAutoFit/>
          </a:bodyPr>
          <a:lstStyle/>
          <a:p>
            <a:r>
              <a:rPr lang="en-US" dirty="0"/>
              <a:t>1</a:t>
            </a:r>
          </a:p>
        </p:txBody>
      </p:sp>
      <p:cxnSp>
        <p:nvCxnSpPr>
          <p:cNvPr id="6" name="Straight Connector 5"/>
          <p:cNvCxnSpPr/>
          <p:nvPr/>
        </p:nvCxnSpPr>
        <p:spPr>
          <a:xfrm flipV="1">
            <a:off x="1240252" y="5054069"/>
            <a:ext cx="536962" cy="6989"/>
          </a:xfrm>
          <a:prstGeom prst="line">
            <a:avLst/>
          </a:prstGeom>
        </p:spPr>
        <p:style>
          <a:lnRef idx="1">
            <a:schemeClr val="accent1"/>
          </a:lnRef>
          <a:fillRef idx="0">
            <a:schemeClr val="accent1"/>
          </a:fillRef>
          <a:effectRef idx="0">
            <a:schemeClr val="accent1"/>
          </a:effectRef>
          <a:fontRef idx="minor">
            <a:schemeClr val="tx1"/>
          </a:fontRef>
        </p:style>
      </p:cxnSp>
      <p:cxnSp>
        <p:nvCxnSpPr>
          <p:cNvPr id="8" name="Straight Connector 7"/>
          <p:cNvCxnSpPr/>
          <p:nvPr/>
        </p:nvCxnSpPr>
        <p:spPr>
          <a:xfrm>
            <a:off x="1771073" y="5061058"/>
            <a:ext cx="0" cy="730285"/>
          </a:xfrm>
          <a:prstGeom prst="line">
            <a:avLst/>
          </a:prstGeom>
        </p:spPr>
        <p:style>
          <a:lnRef idx="1">
            <a:schemeClr val="accent1"/>
          </a:lnRef>
          <a:fillRef idx="0">
            <a:schemeClr val="accent1"/>
          </a:fillRef>
          <a:effectRef idx="0">
            <a:schemeClr val="accent1"/>
          </a:effectRef>
          <a:fontRef idx="minor">
            <a:schemeClr val="tx1"/>
          </a:fontRef>
        </p:style>
      </p:cxnSp>
      <p:cxnSp>
        <p:nvCxnSpPr>
          <p:cNvPr id="24" name="Straight Connector 23"/>
          <p:cNvCxnSpPr/>
          <p:nvPr/>
        </p:nvCxnSpPr>
        <p:spPr>
          <a:xfrm>
            <a:off x="1506141" y="4587947"/>
            <a:ext cx="0" cy="118372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cxnSp>
        <p:nvCxnSpPr>
          <p:cNvPr id="26" name="Straight Connector 25"/>
          <p:cNvCxnSpPr/>
          <p:nvPr/>
        </p:nvCxnSpPr>
        <p:spPr>
          <a:xfrm>
            <a:off x="1503874" y="5612387"/>
            <a:ext cx="167034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
        <p:nvSpPr>
          <p:cNvPr id="18" name="TextBox 17"/>
          <p:cNvSpPr txBox="1"/>
          <p:nvPr/>
        </p:nvSpPr>
        <p:spPr>
          <a:xfrm>
            <a:off x="561214" y="1092504"/>
            <a:ext cx="2122609" cy="369332"/>
          </a:xfrm>
          <a:prstGeom prst="rect">
            <a:avLst/>
          </a:prstGeom>
          <a:solidFill>
            <a:schemeClr val="accent1">
              <a:lumMod val="20000"/>
              <a:lumOff val="80000"/>
            </a:schemeClr>
          </a:solidFill>
        </p:spPr>
        <p:txBody>
          <a:bodyPr wrap="square" rtlCol="0">
            <a:spAutoFit/>
          </a:bodyPr>
          <a:lstStyle/>
          <a:p>
            <a:r>
              <a:rPr lang="en-US" dirty="0">
                <a:effectLst>
                  <a:outerShdw blurRad="38100" dist="38100" dir="2700000" algn="tl">
                    <a:srgbClr val="000000">
                      <a:alpha val="43137"/>
                    </a:srgbClr>
                  </a:outerShdw>
                </a:effectLst>
              </a:rPr>
              <a:t>2. Required Physics</a:t>
            </a:r>
          </a:p>
        </p:txBody>
      </p:sp>
      <p:sp>
        <p:nvSpPr>
          <p:cNvPr id="25" name="Chevron 24"/>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pic>
        <p:nvPicPr>
          <p:cNvPr id="10" name="Picture 9"/>
          <p:cNvPicPr>
            <a:picLocks noChangeAspect="1"/>
          </p:cNvPicPr>
          <p:nvPr/>
        </p:nvPicPr>
        <p:blipFill>
          <a:blip r:embed="rId4"/>
          <a:stretch>
            <a:fillRect/>
          </a:stretch>
        </p:blipFill>
        <p:spPr>
          <a:xfrm>
            <a:off x="4751495" y="3430607"/>
            <a:ext cx="3429000" cy="2152650"/>
          </a:xfrm>
          <a:prstGeom prst="rect">
            <a:avLst/>
          </a:prstGeom>
        </p:spPr>
      </p:pic>
      <p:sp>
        <p:nvSpPr>
          <p:cNvPr id="7" name="Oval 6"/>
          <p:cNvSpPr/>
          <p:nvPr/>
        </p:nvSpPr>
        <p:spPr>
          <a:xfrm>
            <a:off x="6868608" y="3421558"/>
            <a:ext cx="467324" cy="434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8" name="Oval 27"/>
          <p:cNvSpPr/>
          <p:nvPr/>
        </p:nvSpPr>
        <p:spPr>
          <a:xfrm>
            <a:off x="6878506" y="4072714"/>
            <a:ext cx="467324" cy="434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Oval 28"/>
          <p:cNvSpPr/>
          <p:nvPr/>
        </p:nvSpPr>
        <p:spPr>
          <a:xfrm>
            <a:off x="6904235" y="4721273"/>
            <a:ext cx="467324" cy="434562"/>
          </a:xfrm>
          <a:prstGeom prst="ellipse">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p:cNvSpPr txBox="1"/>
          <p:nvPr/>
        </p:nvSpPr>
        <p:spPr>
          <a:xfrm>
            <a:off x="6828276" y="3484389"/>
            <a:ext cx="567784" cy="276999"/>
          </a:xfrm>
          <a:prstGeom prst="rect">
            <a:avLst/>
          </a:prstGeom>
          <a:noFill/>
        </p:spPr>
        <p:txBody>
          <a:bodyPr wrap="none" rtlCol="0">
            <a:spAutoFit/>
          </a:bodyPr>
          <a:lstStyle/>
          <a:p>
            <a:r>
              <a:rPr lang="en-US" sz="1200" b="1" dirty="0">
                <a:solidFill>
                  <a:srgbClr val="FFFF00"/>
                </a:solidFill>
              </a:rPr>
              <a:t>U-235</a:t>
            </a:r>
          </a:p>
        </p:txBody>
      </p:sp>
      <p:sp>
        <p:nvSpPr>
          <p:cNvPr id="30" name="TextBox 29"/>
          <p:cNvSpPr txBox="1"/>
          <p:nvPr/>
        </p:nvSpPr>
        <p:spPr>
          <a:xfrm>
            <a:off x="6834533" y="4159612"/>
            <a:ext cx="567784" cy="276999"/>
          </a:xfrm>
          <a:prstGeom prst="rect">
            <a:avLst/>
          </a:prstGeom>
          <a:noFill/>
        </p:spPr>
        <p:txBody>
          <a:bodyPr wrap="none" rtlCol="0">
            <a:spAutoFit/>
          </a:bodyPr>
          <a:lstStyle/>
          <a:p>
            <a:r>
              <a:rPr lang="en-US" sz="1200" b="1" dirty="0">
                <a:solidFill>
                  <a:srgbClr val="FFFF00"/>
                </a:solidFill>
              </a:rPr>
              <a:t>U-234</a:t>
            </a:r>
          </a:p>
        </p:txBody>
      </p:sp>
      <p:sp>
        <p:nvSpPr>
          <p:cNvPr id="31" name="TextBox 30"/>
          <p:cNvSpPr txBox="1"/>
          <p:nvPr/>
        </p:nvSpPr>
        <p:spPr>
          <a:xfrm>
            <a:off x="6868609" y="4809364"/>
            <a:ext cx="566181" cy="276999"/>
          </a:xfrm>
          <a:prstGeom prst="rect">
            <a:avLst/>
          </a:prstGeom>
          <a:noFill/>
        </p:spPr>
        <p:txBody>
          <a:bodyPr wrap="none" rtlCol="0">
            <a:spAutoFit/>
          </a:bodyPr>
          <a:lstStyle/>
          <a:p>
            <a:r>
              <a:rPr lang="en-US" sz="1200" b="1" dirty="0">
                <a:solidFill>
                  <a:srgbClr val="FFFF00"/>
                </a:solidFill>
              </a:rPr>
              <a:t>U-238</a:t>
            </a:r>
          </a:p>
        </p:txBody>
      </p:sp>
      <p:sp>
        <p:nvSpPr>
          <p:cNvPr id="11" name="TextBox 10"/>
          <p:cNvSpPr txBox="1"/>
          <p:nvPr/>
        </p:nvSpPr>
        <p:spPr>
          <a:xfrm>
            <a:off x="756399" y="4876391"/>
            <a:ext cx="517642" cy="369332"/>
          </a:xfrm>
          <a:prstGeom prst="rect">
            <a:avLst/>
          </a:prstGeom>
          <a:noFill/>
        </p:spPr>
        <p:txBody>
          <a:bodyPr wrap="none" rtlCol="0">
            <a:spAutoFit/>
          </a:bodyPr>
          <a:lstStyle/>
          <a:p>
            <a:r>
              <a:rPr lang="en-US" dirty="0"/>
              <a:t>R.N</a:t>
            </a:r>
          </a:p>
        </p:txBody>
      </p:sp>
      <p:sp>
        <p:nvSpPr>
          <p:cNvPr id="32" name="Chevron 31"/>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33" name="Chevron 32"/>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pic>
        <p:nvPicPr>
          <p:cNvPr id="5" name="Picture 4"/>
          <p:cNvPicPr>
            <a:picLocks noChangeAspect="1"/>
          </p:cNvPicPr>
          <p:nvPr/>
        </p:nvPicPr>
        <p:blipFill>
          <a:blip r:embed="rId5"/>
          <a:stretch>
            <a:fillRect/>
          </a:stretch>
        </p:blipFill>
        <p:spPr>
          <a:xfrm>
            <a:off x="6165306" y="5736901"/>
            <a:ext cx="986393" cy="659911"/>
          </a:xfrm>
          <a:prstGeom prst="rect">
            <a:avLst/>
          </a:prstGeom>
        </p:spPr>
      </p:pic>
    </p:spTree>
    <p:extLst>
      <p:ext uri="{BB962C8B-B14F-4D97-AF65-F5344CB8AC3E}">
        <p14:creationId xmlns:p14="http://schemas.microsoft.com/office/powerpoint/2010/main" val="395827597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93024" y="2299834"/>
            <a:ext cx="3919599" cy="3726894"/>
          </a:xfrm>
        </p:spPr>
        <p:txBody>
          <a:bodyPr>
            <a:normAutofit/>
          </a:bodyPr>
          <a:lstStyle/>
          <a:p>
            <a:r>
              <a:rPr lang="en-US" sz="1800" dirty="0"/>
              <a:t>What is the particle </a:t>
            </a:r>
            <a:r>
              <a:rPr lang="en-US" sz="1800" b="1" dirty="0">
                <a:solidFill>
                  <a:schemeClr val="accent1">
                    <a:lumMod val="75000"/>
                  </a:schemeClr>
                </a:solidFill>
              </a:rPr>
              <a:t>direction</a:t>
            </a:r>
            <a:r>
              <a:rPr lang="en-US" sz="1800" dirty="0"/>
              <a:t> and </a:t>
            </a:r>
            <a:r>
              <a:rPr lang="en-US" sz="1800" b="1" dirty="0">
                <a:solidFill>
                  <a:schemeClr val="accent1">
                    <a:lumMod val="75000"/>
                  </a:schemeClr>
                </a:solidFill>
              </a:rPr>
              <a:t>energy</a:t>
            </a:r>
            <a:r>
              <a:rPr lang="en-US" sz="1800" dirty="0">
                <a:solidFill>
                  <a:schemeClr val="accent1">
                    <a:lumMod val="75000"/>
                  </a:schemeClr>
                </a:solidFill>
              </a:rPr>
              <a:t> </a:t>
            </a:r>
            <a:r>
              <a:rPr lang="en-US" sz="1800" dirty="0"/>
              <a:t>after the interaction ?</a:t>
            </a:r>
          </a:p>
          <a:p>
            <a:pPr marL="0" indent="0">
              <a:buNone/>
            </a:pPr>
            <a:r>
              <a:rPr lang="en-US" sz="1800" dirty="0"/>
              <a:t>   (if particle is alive )</a:t>
            </a:r>
          </a:p>
          <a:p>
            <a:pPr marL="0" indent="0">
              <a:buNone/>
            </a:pPr>
            <a:endParaRPr lang="en-US" sz="1800" dirty="0"/>
          </a:p>
          <a:p>
            <a:pPr marL="0" indent="0">
              <a:buNone/>
            </a:pPr>
            <a:endParaRPr lang="en-US" sz="1800" dirty="0"/>
          </a:p>
          <a:p>
            <a:pPr marL="0" indent="0">
              <a:buNone/>
            </a:pPr>
            <a:endParaRPr lang="en-US" sz="1800" dirty="0"/>
          </a:p>
          <a:p>
            <a:r>
              <a:rPr lang="en-US" sz="1800" dirty="0"/>
              <a:t>What is the </a:t>
            </a:r>
            <a:r>
              <a:rPr lang="en-US" sz="1800" b="1" dirty="0">
                <a:solidFill>
                  <a:schemeClr val="accent1">
                    <a:lumMod val="75000"/>
                  </a:schemeClr>
                </a:solidFill>
              </a:rPr>
              <a:t>number</a:t>
            </a:r>
            <a:r>
              <a:rPr lang="en-US" sz="1800" b="1" dirty="0">
                <a:solidFill>
                  <a:srgbClr val="C00000"/>
                </a:solidFill>
              </a:rPr>
              <a:t> </a:t>
            </a:r>
            <a:r>
              <a:rPr lang="en-US" sz="1800" b="1" dirty="0">
                <a:solidFill>
                  <a:schemeClr val="accent1">
                    <a:lumMod val="75000"/>
                  </a:schemeClr>
                </a:solidFill>
              </a:rPr>
              <a:t>of</a:t>
            </a:r>
            <a:r>
              <a:rPr lang="en-US" sz="1800" b="1" dirty="0">
                <a:solidFill>
                  <a:srgbClr val="C00000"/>
                </a:solidFill>
              </a:rPr>
              <a:t> </a:t>
            </a:r>
            <a:r>
              <a:rPr lang="en-US" sz="1800" b="1" dirty="0">
                <a:solidFill>
                  <a:schemeClr val="accent1">
                    <a:lumMod val="75000"/>
                  </a:schemeClr>
                </a:solidFill>
              </a:rPr>
              <a:t>neutron</a:t>
            </a:r>
            <a:r>
              <a:rPr lang="en-US" sz="1800" b="1" dirty="0">
                <a:solidFill>
                  <a:srgbClr val="C00000"/>
                </a:solidFill>
              </a:rPr>
              <a:t> </a:t>
            </a:r>
            <a:r>
              <a:rPr lang="en-US" sz="1800" dirty="0"/>
              <a:t>after the </a:t>
            </a:r>
            <a:r>
              <a:rPr lang="en-US" sz="1800" b="1" dirty="0">
                <a:solidFill>
                  <a:schemeClr val="accent1">
                    <a:lumMod val="75000"/>
                  </a:schemeClr>
                </a:solidFill>
              </a:rPr>
              <a:t>fission</a:t>
            </a:r>
            <a:r>
              <a:rPr lang="en-US" sz="1800" dirty="0">
                <a:solidFill>
                  <a:schemeClr val="accent1">
                    <a:lumMod val="75000"/>
                  </a:schemeClr>
                </a:solidFill>
              </a:rPr>
              <a:t> </a:t>
            </a:r>
            <a:r>
              <a:rPr lang="en-US" sz="1800" dirty="0"/>
              <a:t>?</a:t>
            </a:r>
          </a:p>
          <a:p>
            <a:pPr marL="0" indent="0">
              <a:buNone/>
            </a:pPr>
            <a:r>
              <a:rPr lang="en-US" sz="1800" dirty="0"/>
              <a:t>   (if fission event occurs)</a:t>
            </a:r>
          </a:p>
        </p:txBody>
      </p:sp>
      <p:sp>
        <p:nvSpPr>
          <p:cNvPr id="13"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2" name="TextBox 1"/>
          <p:cNvSpPr txBox="1"/>
          <p:nvPr/>
        </p:nvSpPr>
        <p:spPr>
          <a:xfrm>
            <a:off x="5040671" y="2135713"/>
            <a:ext cx="3578212" cy="3139321"/>
          </a:xfrm>
          <a:prstGeom prst="rect">
            <a:avLst/>
          </a:prstGeom>
          <a:noFill/>
        </p:spPr>
        <p:txBody>
          <a:bodyPr wrap="square" rtlCol="0">
            <a:spAutoFit/>
          </a:bodyPr>
          <a:lstStyle/>
          <a:p>
            <a:r>
              <a:rPr lang="en-US" b="1" dirty="0">
                <a:solidFill>
                  <a:srgbClr val="008000"/>
                </a:solidFill>
              </a:rPr>
              <a:t>      MODULE physics</a:t>
            </a:r>
          </a:p>
          <a:p>
            <a:pPr marL="285750" indent="-285750">
              <a:buFont typeface="Arial" panose="020B0604020202020204" pitchFamily="34" charset="0"/>
              <a:buChar char="•"/>
            </a:pPr>
            <a:endParaRPr lang="en-US" b="1" dirty="0">
              <a:solidFill>
                <a:srgbClr val="008000"/>
              </a:solidFill>
            </a:endParaRPr>
          </a:p>
          <a:p>
            <a:pPr marL="285750" indent="-285750">
              <a:buFont typeface="Arial" panose="020B0604020202020204" pitchFamily="34" charset="0"/>
              <a:buChar char="•"/>
            </a:pPr>
            <a:r>
              <a:rPr lang="en-US" dirty="0">
                <a:solidFill>
                  <a:srgbClr val="008000"/>
                </a:solidFill>
              </a:rPr>
              <a:t>Gives which nuclide a neutron collides with</a:t>
            </a:r>
          </a:p>
          <a:p>
            <a:pPr marL="285750" indent="-285750">
              <a:buFont typeface="Arial" panose="020B0604020202020204" pitchFamily="34" charset="0"/>
              <a:buChar char="•"/>
            </a:pPr>
            <a:r>
              <a:rPr lang="en-US" dirty="0">
                <a:solidFill>
                  <a:srgbClr val="008000"/>
                </a:solidFill>
              </a:rPr>
              <a:t>Gives the type of interaction</a:t>
            </a:r>
          </a:p>
          <a:p>
            <a:pPr marL="285750" indent="-285750">
              <a:buFont typeface="Arial" panose="020B0604020202020204" pitchFamily="34" charset="0"/>
              <a:buChar char="•"/>
            </a:pPr>
            <a:r>
              <a:rPr lang="en-US" dirty="0">
                <a:solidFill>
                  <a:srgbClr val="008000"/>
                </a:solidFill>
              </a:rPr>
              <a:t>Tells Whether the neutron is alive</a:t>
            </a:r>
          </a:p>
          <a:p>
            <a:pPr marL="285750" indent="-285750">
              <a:buFont typeface="Arial" panose="020B0604020202020204" pitchFamily="34" charset="0"/>
              <a:buChar char="•"/>
            </a:pPr>
            <a:r>
              <a:rPr lang="en-US" dirty="0">
                <a:solidFill>
                  <a:srgbClr val="008000"/>
                </a:solidFill>
              </a:rPr>
              <a:t>Gives the exit energy and direction</a:t>
            </a:r>
          </a:p>
          <a:p>
            <a:pPr marL="285750" indent="-285750">
              <a:buFont typeface="Arial" panose="020B0604020202020204" pitchFamily="34" charset="0"/>
              <a:buChar char="•"/>
            </a:pPr>
            <a:r>
              <a:rPr lang="en-US" dirty="0">
                <a:solidFill>
                  <a:srgbClr val="008000"/>
                </a:solidFill>
              </a:rPr>
              <a:t>Gives the number of neutron produced from the fission</a:t>
            </a:r>
            <a:endParaRPr lang="en-US" b="1" dirty="0">
              <a:solidFill>
                <a:srgbClr val="008000"/>
              </a:solidFill>
            </a:endParaRPr>
          </a:p>
        </p:txBody>
      </p:sp>
      <p:sp>
        <p:nvSpPr>
          <p:cNvPr id="9" name="Chevron 8"/>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15" name="Chevron 14"/>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16" name="Chevron 15"/>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17" name="TextBox 16"/>
          <p:cNvSpPr txBox="1"/>
          <p:nvPr/>
        </p:nvSpPr>
        <p:spPr>
          <a:xfrm>
            <a:off x="561214" y="1092504"/>
            <a:ext cx="2122609" cy="369332"/>
          </a:xfrm>
          <a:prstGeom prst="rect">
            <a:avLst/>
          </a:prstGeom>
          <a:solidFill>
            <a:schemeClr val="accent1">
              <a:lumMod val="20000"/>
              <a:lumOff val="80000"/>
            </a:schemeClr>
          </a:solidFill>
        </p:spPr>
        <p:txBody>
          <a:bodyPr wrap="square" rtlCol="0">
            <a:spAutoFit/>
          </a:bodyPr>
          <a:lstStyle/>
          <a:p>
            <a:r>
              <a:rPr lang="en-US" dirty="0">
                <a:effectLst>
                  <a:outerShdw blurRad="38100" dist="38100" dir="2700000" algn="tl">
                    <a:srgbClr val="000000">
                      <a:alpha val="43137"/>
                    </a:srgbClr>
                  </a:outerShdw>
                </a:effectLst>
              </a:rPr>
              <a:t>2. Required Physics</a:t>
            </a:r>
          </a:p>
        </p:txBody>
      </p:sp>
      <p:pic>
        <p:nvPicPr>
          <p:cNvPr id="4" name="Picture 3"/>
          <p:cNvPicPr>
            <a:picLocks noChangeAspect="1"/>
          </p:cNvPicPr>
          <p:nvPr/>
        </p:nvPicPr>
        <p:blipFill>
          <a:blip r:embed="rId2"/>
          <a:stretch>
            <a:fillRect/>
          </a:stretch>
        </p:blipFill>
        <p:spPr>
          <a:xfrm>
            <a:off x="1303299" y="3613067"/>
            <a:ext cx="876462" cy="373641"/>
          </a:xfrm>
          <a:prstGeom prst="rect">
            <a:avLst/>
          </a:prstGeom>
        </p:spPr>
      </p:pic>
      <p:pic>
        <p:nvPicPr>
          <p:cNvPr id="5" name="Picture 4"/>
          <p:cNvPicPr>
            <a:picLocks noChangeAspect="1"/>
          </p:cNvPicPr>
          <p:nvPr/>
        </p:nvPicPr>
        <p:blipFill>
          <a:blip r:embed="rId3"/>
          <a:stretch>
            <a:fillRect/>
          </a:stretch>
        </p:blipFill>
        <p:spPr>
          <a:xfrm>
            <a:off x="2444488" y="3289247"/>
            <a:ext cx="891098" cy="832252"/>
          </a:xfrm>
          <a:prstGeom prst="rect">
            <a:avLst/>
          </a:prstGeom>
        </p:spPr>
      </p:pic>
    </p:spTree>
    <p:extLst>
      <p:ext uri="{BB962C8B-B14F-4D97-AF65-F5344CB8AC3E}">
        <p14:creationId xmlns:p14="http://schemas.microsoft.com/office/powerpoint/2010/main" val="199502099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ounded Rectangle 1"/>
          <p:cNvSpPr/>
          <p:nvPr/>
        </p:nvSpPr>
        <p:spPr>
          <a:xfrm>
            <a:off x="2143142" y="2966433"/>
            <a:ext cx="709863" cy="19104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3" name="Rounded Rectangle 2"/>
          <p:cNvSpPr/>
          <p:nvPr/>
        </p:nvSpPr>
        <p:spPr>
          <a:xfrm>
            <a:off x="2263456" y="3115239"/>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E=1</a:t>
            </a:r>
            <a:endParaRPr lang="en-US" dirty="0">
              <a:solidFill>
                <a:schemeClr val="tx1"/>
              </a:solidFill>
            </a:endParaRPr>
          </a:p>
        </p:txBody>
      </p:sp>
      <p:sp>
        <p:nvSpPr>
          <p:cNvPr id="71" name="Rounded Rectangle 70"/>
          <p:cNvSpPr/>
          <p:nvPr/>
        </p:nvSpPr>
        <p:spPr>
          <a:xfrm>
            <a:off x="2263456" y="3466559"/>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E=2</a:t>
            </a:r>
          </a:p>
        </p:txBody>
      </p:sp>
      <p:sp>
        <p:nvSpPr>
          <p:cNvPr id="72" name="Rounded Rectangle 71"/>
          <p:cNvSpPr/>
          <p:nvPr/>
        </p:nvSpPr>
        <p:spPr>
          <a:xfrm>
            <a:off x="2263456" y="3817879"/>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E=3</a:t>
            </a:r>
          </a:p>
        </p:txBody>
      </p:sp>
      <p:sp>
        <p:nvSpPr>
          <p:cNvPr id="73" name="Rounded Rectangle 72"/>
          <p:cNvSpPr/>
          <p:nvPr/>
        </p:nvSpPr>
        <p:spPr>
          <a:xfrm>
            <a:off x="2269393" y="4167776"/>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E=4</a:t>
            </a:r>
          </a:p>
        </p:txBody>
      </p:sp>
      <p:sp>
        <p:nvSpPr>
          <p:cNvPr id="74" name="Rounded Rectangle 73"/>
          <p:cNvSpPr/>
          <p:nvPr/>
        </p:nvSpPr>
        <p:spPr>
          <a:xfrm>
            <a:off x="2263456" y="4522142"/>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E=5</a:t>
            </a:r>
          </a:p>
        </p:txBody>
      </p:sp>
      <p:sp>
        <p:nvSpPr>
          <p:cNvPr id="93" name="Rounded Rectangle 92"/>
          <p:cNvSpPr/>
          <p:nvPr/>
        </p:nvSpPr>
        <p:spPr>
          <a:xfrm>
            <a:off x="4695077" y="2774601"/>
            <a:ext cx="709863" cy="2563307"/>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1" name="Rounded Rectangle 100"/>
          <p:cNvSpPr/>
          <p:nvPr/>
        </p:nvSpPr>
        <p:spPr>
          <a:xfrm>
            <a:off x="3268066" y="2966433"/>
            <a:ext cx="709863" cy="1910469"/>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2" name="Rounded Rectangle 101"/>
          <p:cNvSpPr/>
          <p:nvPr/>
        </p:nvSpPr>
        <p:spPr>
          <a:xfrm>
            <a:off x="3388380" y="3115239"/>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E=3</a:t>
            </a:r>
            <a:endParaRPr lang="en-US" b="1" dirty="0">
              <a:solidFill>
                <a:schemeClr val="tx1"/>
              </a:solidFill>
            </a:endParaRPr>
          </a:p>
        </p:txBody>
      </p:sp>
      <p:sp>
        <p:nvSpPr>
          <p:cNvPr id="103" name="Rounded Rectangle 102"/>
          <p:cNvSpPr/>
          <p:nvPr/>
        </p:nvSpPr>
        <p:spPr>
          <a:xfrm>
            <a:off x="3388380" y="3466559"/>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E=4</a:t>
            </a:r>
          </a:p>
        </p:txBody>
      </p:sp>
      <p:sp>
        <p:nvSpPr>
          <p:cNvPr id="104" name="Rounded Rectangle 103"/>
          <p:cNvSpPr/>
          <p:nvPr/>
        </p:nvSpPr>
        <p:spPr>
          <a:xfrm>
            <a:off x="3388380" y="3817879"/>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E=5</a:t>
            </a:r>
          </a:p>
        </p:txBody>
      </p:sp>
      <p:sp>
        <p:nvSpPr>
          <p:cNvPr id="105" name="Rounded Rectangle 104"/>
          <p:cNvSpPr/>
          <p:nvPr/>
        </p:nvSpPr>
        <p:spPr>
          <a:xfrm>
            <a:off x="3394317" y="4167776"/>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E=6</a:t>
            </a:r>
          </a:p>
        </p:txBody>
      </p:sp>
      <p:sp>
        <p:nvSpPr>
          <p:cNvPr id="106" name="Rounded Rectangle 105"/>
          <p:cNvSpPr/>
          <p:nvPr/>
        </p:nvSpPr>
        <p:spPr>
          <a:xfrm>
            <a:off x="3388380" y="4522142"/>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E=7</a:t>
            </a:r>
          </a:p>
        </p:txBody>
      </p:sp>
      <p:sp>
        <p:nvSpPr>
          <p:cNvPr id="107" name="Rounded Rectangle 106"/>
          <p:cNvSpPr/>
          <p:nvPr/>
        </p:nvSpPr>
        <p:spPr>
          <a:xfrm>
            <a:off x="4810996" y="2846157"/>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E=1</a:t>
            </a:r>
            <a:endParaRPr lang="en-US" dirty="0">
              <a:solidFill>
                <a:schemeClr val="tx1"/>
              </a:solidFill>
            </a:endParaRPr>
          </a:p>
        </p:txBody>
      </p:sp>
      <p:sp>
        <p:nvSpPr>
          <p:cNvPr id="108" name="Rounded Rectangle 107"/>
          <p:cNvSpPr/>
          <p:nvPr/>
        </p:nvSpPr>
        <p:spPr>
          <a:xfrm>
            <a:off x="4810996" y="3197477"/>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E=2</a:t>
            </a:r>
          </a:p>
        </p:txBody>
      </p:sp>
      <p:sp>
        <p:nvSpPr>
          <p:cNvPr id="112" name="Rounded Rectangle 111"/>
          <p:cNvSpPr/>
          <p:nvPr/>
        </p:nvSpPr>
        <p:spPr>
          <a:xfrm>
            <a:off x="4807810" y="4607426"/>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E=6</a:t>
            </a:r>
          </a:p>
        </p:txBody>
      </p:sp>
      <p:sp>
        <p:nvSpPr>
          <p:cNvPr id="113" name="Rounded Rectangle 112"/>
          <p:cNvSpPr/>
          <p:nvPr/>
        </p:nvSpPr>
        <p:spPr>
          <a:xfrm>
            <a:off x="4801873" y="4961792"/>
            <a:ext cx="469232" cy="276726"/>
          </a:xfrm>
          <a:prstGeom prst="round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dirty="0">
                <a:solidFill>
                  <a:schemeClr val="tx1"/>
                </a:solidFill>
              </a:rPr>
              <a:t>E=7</a:t>
            </a:r>
          </a:p>
        </p:txBody>
      </p:sp>
      <p:sp>
        <p:nvSpPr>
          <p:cNvPr id="4" name="TextBox 3"/>
          <p:cNvSpPr txBox="1"/>
          <p:nvPr/>
        </p:nvSpPr>
        <p:spPr>
          <a:xfrm>
            <a:off x="2091762" y="4975752"/>
            <a:ext cx="970547" cy="276999"/>
          </a:xfrm>
          <a:prstGeom prst="rect">
            <a:avLst/>
          </a:prstGeom>
          <a:noFill/>
        </p:spPr>
        <p:txBody>
          <a:bodyPr wrap="square" rtlCol="0">
            <a:spAutoFit/>
          </a:bodyPr>
          <a:lstStyle/>
          <a:p>
            <a:r>
              <a:rPr lang="en-US" sz="1200" dirty="0"/>
              <a:t>Nuclide-1</a:t>
            </a:r>
          </a:p>
        </p:txBody>
      </p:sp>
      <p:sp>
        <p:nvSpPr>
          <p:cNvPr id="114" name="TextBox 113"/>
          <p:cNvSpPr txBox="1"/>
          <p:nvPr/>
        </p:nvSpPr>
        <p:spPr>
          <a:xfrm>
            <a:off x="3268066" y="5005204"/>
            <a:ext cx="970547" cy="276999"/>
          </a:xfrm>
          <a:prstGeom prst="rect">
            <a:avLst/>
          </a:prstGeom>
          <a:noFill/>
        </p:spPr>
        <p:txBody>
          <a:bodyPr wrap="square" rtlCol="0">
            <a:spAutoFit/>
          </a:bodyPr>
          <a:lstStyle/>
          <a:p>
            <a:r>
              <a:rPr lang="en-US" sz="1200" dirty="0"/>
              <a:t>Nuclide-2</a:t>
            </a:r>
          </a:p>
        </p:txBody>
      </p:sp>
      <p:sp>
        <p:nvSpPr>
          <p:cNvPr id="115" name="TextBox 114"/>
          <p:cNvSpPr txBox="1"/>
          <p:nvPr/>
        </p:nvSpPr>
        <p:spPr>
          <a:xfrm>
            <a:off x="4307392" y="5346464"/>
            <a:ext cx="1559800" cy="276999"/>
          </a:xfrm>
          <a:prstGeom prst="rect">
            <a:avLst/>
          </a:prstGeom>
          <a:noFill/>
        </p:spPr>
        <p:txBody>
          <a:bodyPr wrap="square" rtlCol="0">
            <a:spAutoFit/>
          </a:bodyPr>
          <a:lstStyle/>
          <a:p>
            <a:r>
              <a:rPr lang="en-US" sz="1200" dirty="0"/>
              <a:t>Unionized energy grid</a:t>
            </a:r>
          </a:p>
        </p:txBody>
      </p:sp>
      <p:sp>
        <p:nvSpPr>
          <p:cNvPr id="116" name="Rounded Rectangle 115"/>
          <p:cNvSpPr/>
          <p:nvPr/>
        </p:nvSpPr>
        <p:spPr>
          <a:xfrm>
            <a:off x="4821328" y="3544762"/>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E=3</a:t>
            </a:r>
            <a:endParaRPr lang="en-US" b="1" dirty="0">
              <a:solidFill>
                <a:schemeClr val="tx1"/>
              </a:solidFill>
            </a:endParaRPr>
          </a:p>
        </p:txBody>
      </p:sp>
      <p:sp>
        <p:nvSpPr>
          <p:cNvPr id="117" name="Rounded Rectangle 116"/>
          <p:cNvSpPr/>
          <p:nvPr/>
        </p:nvSpPr>
        <p:spPr>
          <a:xfrm>
            <a:off x="4821328" y="3896082"/>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E=4</a:t>
            </a:r>
          </a:p>
        </p:txBody>
      </p:sp>
      <p:sp>
        <p:nvSpPr>
          <p:cNvPr id="118" name="Rounded Rectangle 117"/>
          <p:cNvSpPr/>
          <p:nvPr/>
        </p:nvSpPr>
        <p:spPr>
          <a:xfrm>
            <a:off x="4821328" y="4247402"/>
            <a:ext cx="469232" cy="276726"/>
          </a:xfrm>
          <a:prstGeom prst="roundRect">
            <a:avLst/>
          </a:prstGeom>
          <a:solidFill>
            <a:schemeClr val="accent2">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200" b="1" dirty="0">
                <a:solidFill>
                  <a:schemeClr val="tx1"/>
                </a:solidFill>
              </a:rPr>
              <a:t>E=5</a:t>
            </a:r>
          </a:p>
        </p:txBody>
      </p:sp>
      <p:sp>
        <p:nvSpPr>
          <p:cNvPr id="5" name="TextBox 4"/>
          <p:cNvSpPr txBox="1"/>
          <p:nvPr/>
        </p:nvSpPr>
        <p:spPr>
          <a:xfrm>
            <a:off x="5462244" y="2752751"/>
            <a:ext cx="312352" cy="2516073"/>
          </a:xfrm>
          <a:prstGeom prst="rect">
            <a:avLst/>
          </a:prstGeom>
          <a:noFill/>
        </p:spPr>
        <p:txBody>
          <a:bodyPr wrap="square" rtlCol="0">
            <a:spAutoFit/>
          </a:bodyPr>
          <a:lstStyle/>
          <a:p>
            <a:pPr>
              <a:lnSpc>
                <a:spcPct val="150000"/>
              </a:lnSpc>
            </a:pPr>
            <a:r>
              <a:rPr lang="en-US" sz="1500" dirty="0"/>
              <a:t>1</a:t>
            </a:r>
          </a:p>
          <a:p>
            <a:pPr>
              <a:lnSpc>
                <a:spcPct val="150000"/>
              </a:lnSpc>
            </a:pPr>
            <a:r>
              <a:rPr lang="en-US" sz="1500" dirty="0"/>
              <a:t>2</a:t>
            </a:r>
          </a:p>
          <a:p>
            <a:pPr>
              <a:lnSpc>
                <a:spcPct val="150000"/>
              </a:lnSpc>
            </a:pPr>
            <a:r>
              <a:rPr lang="en-US" sz="1500" dirty="0"/>
              <a:t>3</a:t>
            </a:r>
          </a:p>
          <a:p>
            <a:pPr>
              <a:lnSpc>
                <a:spcPct val="150000"/>
              </a:lnSpc>
            </a:pPr>
            <a:r>
              <a:rPr lang="en-US" sz="1500" dirty="0"/>
              <a:t>4</a:t>
            </a:r>
          </a:p>
          <a:p>
            <a:pPr>
              <a:lnSpc>
                <a:spcPct val="150000"/>
              </a:lnSpc>
            </a:pPr>
            <a:r>
              <a:rPr lang="en-US" sz="1500" dirty="0"/>
              <a:t>5</a:t>
            </a:r>
          </a:p>
          <a:p>
            <a:pPr>
              <a:lnSpc>
                <a:spcPct val="150000"/>
              </a:lnSpc>
            </a:pPr>
            <a:r>
              <a:rPr lang="en-US" sz="1500" dirty="0"/>
              <a:t>6</a:t>
            </a:r>
          </a:p>
          <a:p>
            <a:pPr>
              <a:lnSpc>
                <a:spcPct val="150000"/>
              </a:lnSpc>
            </a:pPr>
            <a:r>
              <a:rPr lang="en-US" sz="1500" dirty="0"/>
              <a:t>7</a:t>
            </a:r>
          </a:p>
        </p:txBody>
      </p:sp>
      <p:sp>
        <p:nvSpPr>
          <p:cNvPr id="38" name="TextBox 37"/>
          <p:cNvSpPr txBox="1"/>
          <p:nvPr/>
        </p:nvSpPr>
        <p:spPr>
          <a:xfrm>
            <a:off x="6092944" y="2778286"/>
            <a:ext cx="300550" cy="2516073"/>
          </a:xfrm>
          <a:prstGeom prst="rect">
            <a:avLst/>
          </a:prstGeom>
          <a:solidFill>
            <a:schemeClr val="accent1">
              <a:lumMod val="40000"/>
              <a:lumOff val="60000"/>
            </a:schemeClr>
          </a:solidFill>
        </p:spPr>
        <p:txBody>
          <a:bodyPr wrap="square" rtlCol="0">
            <a:spAutoFit/>
          </a:bodyPr>
          <a:lstStyle/>
          <a:p>
            <a:pPr>
              <a:lnSpc>
                <a:spcPct val="150000"/>
              </a:lnSpc>
            </a:pPr>
            <a:r>
              <a:rPr lang="en-US" sz="1500" dirty="0"/>
              <a:t>1</a:t>
            </a:r>
          </a:p>
          <a:p>
            <a:pPr>
              <a:lnSpc>
                <a:spcPct val="150000"/>
              </a:lnSpc>
            </a:pPr>
            <a:r>
              <a:rPr lang="en-US" sz="1500" dirty="0"/>
              <a:t>2</a:t>
            </a:r>
          </a:p>
          <a:p>
            <a:pPr>
              <a:lnSpc>
                <a:spcPct val="150000"/>
              </a:lnSpc>
            </a:pPr>
            <a:r>
              <a:rPr lang="en-US" sz="1500" dirty="0"/>
              <a:t>3</a:t>
            </a:r>
          </a:p>
          <a:p>
            <a:pPr>
              <a:lnSpc>
                <a:spcPct val="150000"/>
              </a:lnSpc>
            </a:pPr>
            <a:r>
              <a:rPr lang="en-US" sz="1500" dirty="0"/>
              <a:t>4</a:t>
            </a:r>
          </a:p>
          <a:p>
            <a:pPr>
              <a:lnSpc>
                <a:spcPct val="150000"/>
              </a:lnSpc>
            </a:pPr>
            <a:r>
              <a:rPr lang="en-US" sz="1500" dirty="0"/>
              <a:t>5</a:t>
            </a:r>
          </a:p>
          <a:p>
            <a:pPr>
              <a:lnSpc>
                <a:spcPct val="150000"/>
              </a:lnSpc>
            </a:pPr>
            <a:r>
              <a:rPr lang="en-US" sz="1500" dirty="0"/>
              <a:t>5</a:t>
            </a:r>
          </a:p>
          <a:p>
            <a:pPr>
              <a:lnSpc>
                <a:spcPct val="150000"/>
              </a:lnSpc>
            </a:pPr>
            <a:r>
              <a:rPr lang="en-US" sz="1500" dirty="0"/>
              <a:t>5</a:t>
            </a:r>
          </a:p>
        </p:txBody>
      </p:sp>
      <p:sp>
        <p:nvSpPr>
          <p:cNvPr id="39" name="TextBox 38"/>
          <p:cNvSpPr txBox="1"/>
          <p:nvPr/>
        </p:nvSpPr>
        <p:spPr>
          <a:xfrm>
            <a:off x="6885364" y="2774467"/>
            <a:ext cx="275534" cy="2516073"/>
          </a:xfrm>
          <a:prstGeom prst="rect">
            <a:avLst/>
          </a:prstGeom>
          <a:solidFill>
            <a:schemeClr val="accent1">
              <a:lumMod val="40000"/>
              <a:lumOff val="60000"/>
            </a:schemeClr>
          </a:solidFill>
        </p:spPr>
        <p:txBody>
          <a:bodyPr wrap="square" rtlCol="0">
            <a:spAutoFit/>
          </a:bodyPr>
          <a:lstStyle/>
          <a:p>
            <a:pPr>
              <a:lnSpc>
                <a:spcPct val="150000"/>
              </a:lnSpc>
            </a:pPr>
            <a:r>
              <a:rPr lang="en-US" sz="1500" dirty="0"/>
              <a:t>0</a:t>
            </a:r>
          </a:p>
          <a:p>
            <a:pPr>
              <a:lnSpc>
                <a:spcPct val="150000"/>
              </a:lnSpc>
            </a:pPr>
            <a:r>
              <a:rPr lang="en-US" sz="1500" dirty="0"/>
              <a:t>0</a:t>
            </a:r>
          </a:p>
          <a:p>
            <a:pPr>
              <a:lnSpc>
                <a:spcPct val="150000"/>
              </a:lnSpc>
            </a:pPr>
            <a:r>
              <a:rPr lang="en-US" sz="1500" dirty="0"/>
              <a:t>1</a:t>
            </a:r>
          </a:p>
          <a:p>
            <a:pPr>
              <a:lnSpc>
                <a:spcPct val="150000"/>
              </a:lnSpc>
            </a:pPr>
            <a:r>
              <a:rPr lang="en-US" sz="1500" dirty="0"/>
              <a:t>2</a:t>
            </a:r>
          </a:p>
          <a:p>
            <a:pPr>
              <a:lnSpc>
                <a:spcPct val="150000"/>
              </a:lnSpc>
            </a:pPr>
            <a:r>
              <a:rPr lang="en-US" sz="1500" dirty="0"/>
              <a:t>3</a:t>
            </a:r>
          </a:p>
          <a:p>
            <a:pPr>
              <a:lnSpc>
                <a:spcPct val="150000"/>
              </a:lnSpc>
            </a:pPr>
            <a:r>
              <a:rPr lang="en-US" sz="1500" dirty="0"/>
              <a:t>4</a:t>
            </a:r>
          </a:p>
          <a:p>
            <a:pPr>
              <a:lnSpc>
                <a:spcPct val="150000"/>
              </a:lnSpc>
            </a:pPr>
            <a:r>
              <a:rPr lang="en-US" sz="1500" dirty="0"/>
              <a:t>5</a:t>
            </a:r>
          </a:p>
        </p:txBody>
      </p:sp>
      <p:sp>
        <p:nvSpPr>
          <p:cNvPr id="44"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34" name="TextBox 33"/>
          <p:cNvSpPr txBox="1"/>
          <p:nvPr/>
        </p:nvSpPr>
        <p:spPr>
          <a:xfrm>
            <a:off x="5867193" y="5343417"/>
            <a:ext cx="970547" cy="276999"/>
          </a:xfrm>
          <a:prstGeom prst="rect">
            <a:avLst/>
          </a:prstGeom>
          <a:noFill/>
        </p:spPr>
        <p:txBody>
          <a:bodyPr wrap="square" rtlCol="0">
            <a:spAutoFit/>
          </a:bodyPr>
          <a:lstStyle/>
          <a:p>
            <a:r>
              <a:rPr lang="en-US" sz="1200" dirty="0"/>
              <a:t>Nuclide-1</a:t>
            </a:r>
          </a:p>
        </p:txBody>
      </p:sp>
      <p:sp>
        <p:nvSpPr>
          <p:cNvPr id="36" name="TextBox 35"/>
          <p:cNvSpPr txBox="1"/>
          <p:nvPr/>
        </p:nvSpPr>
        <p:spPr>
          <a:xfrm>
            <a:off x="6655329" y="5343416"/>
            <a:ext cx="970547" cy="276999"/>
          </a:xfrm>
          <a:prstGeom prst="rect">
            <a:avLst/>
          </a:prstGeom>
          <a:noFill/>
        </p:spPr>
        <p:txBody>
          <a:bodyPr wrap="square" rtlCol="0">
            <a:spAutoFit/>
          </a:bodyPr>
          <a:lstStyle/>
          <a:p>
            <a:r>
              <a:rPr lang="en-US" sz="1200" dirty="0"/>
              <a:t>Nuclide-2</a:t>
            </a:r>
          </a:p>
        </p:txBody>
      </p:sp>
      <p:sp>
        <p:nvSpPr>
          <p:cNvPr id="6" name="TextBox 5"/>
          <p:cNvSpPr txBox="1"/>
          <p:nvPr/>
        </p:nvSpPr>
        <p:spPr>
          <a:xfrm>
            <a:off x="495230" y="3356078"/>
            <a:ext cx="1217749" cy="1200329"/>
          </a:xfrm>
          <a:prstGeom prst="rect">
            <a:avLst/>
          </a:prstGeom>
          <a:noFill/>
        </p:spPr>
        <p:txBody>
          <a:bodyPr wrap="square" rtlCol="0">
            <a:spAutoFit/>
          </a:bodyPr>
          <a:lstStyle/>
          <a:p>
            <a:pPr algn="ctr"/>
            <a:r>
              <a:rPr lang="en-US" b="1" dirty="0">
                <a:solidFill>
                  <a:schemeClr val="accent1">
                    <a:lumMod val="50000"/>
                  </a:schemeClr>
                </a:solidFill>
              </a:rPr>
              <a:t>Unionized energy grid method </a:t>
            </a:r>
          </a:p>
        </p:txBody>
      </p:sp>
      <p:sp>
        <p:nvSpPr>
          <p:cNvPr id="8" name="TextBox 7"/>
          <p:cNvSpPr txBox="1"/>
          <p:nvPr/>
        </p:nvSpPr>
        <p:spPr>
          <a:xfrm>
            <a:off x="1904712" y="5340510"/>
            <a:ext cx="2352587" cy="584775"/>
          </a:xfrm>
          <a:prstGeom prst="rect">
            <a:avLst/>
          </a:prstGeom>
          <a:solidFill>
            <a:schemeClr val="accent1">
              <a:lumMod val="20000"/>
              <a:lumOff val="80000"/>
            </a:schemeClr>
          </a:solidFill>
        </p:spPr>
        <p:txBody>
          <a:bodyPr wrap="square" rtlCol="0">
            <a:spAutoFit/>
          </a:bodyPr>
          <a:lstStyle/>
          <a:p>
            <a:r>
              <a:rPr lang="en-US" sz="1400" dirty="0"/>
              <a:t>Hydrogen – few </a:t>
            </a:r>
            <a:r>
              <a:rPr lang="en-US" sz="1600" b="1" dirty="0">
                <a:solidFill>
                  <a:srgbClr val="008000"/>
                </a:solidFill>
              </a:rPr>
              <a:t>thousands</a:t>
            </a:r>
          </a:p>
          <a:p>
            <a:r>
              <a:rPr lang="en-US" sz="1400" dirty="0"/>
              <a:t>Uranium –   few </a:t>
            </a:r>
            <a:r>
              <a:rPr lang="en-US" sz="1600" b="1" dirty="0">
                <a:solidFill>
                  <a:srgbClr val="C00000"/>
                </a:solidFill>
              </a:rPr>
              <a:t>millions</a:t>
            </a:r>
          </a:p>
        </p:txBody>
      </p:sp>
      <p:sp>
        <p:nvSpPr>
          <p:cNvPr id="9" name="TextBox 8"/>
          <p:cNvSpPr txBox="1"/>
          <p:nvPr/>
        </p:nvSpPr>
        <p:spPr>
          <a:xfrm>
            <a:off x="5867192" y="2438971"/>
            <a:ext cx="1498928" cy="323165"/>
          </a:xfrm>
          <a:prstGeom prst="rect">
            <a:avLst/>
          </a:prstGeom>
          <a:solidFill>
            <a:schemeClr val="accent1">
              <a:lumMod val="40000"/>
              <a:lumOff val="60000"/>
            </a:schemeClr>
          </a:solidFill>
          <a:ln>
            <a:solidFill>
              <a:schemeClr val="tx1"/>
            </a:solidFill>
          </a:ln>
        </p:spPr>
        <p:txBody>
          <a:bodyPr wrap="square" rtlCol="0">
            <a:spAutoFit/>
          </a:bodyPr>
          <a:lstStyle>
            <a:defPPr>
              <a:defRPr lang="en-US"/>
            </a:defPPr>
            <a:lvl1pPr>
              <a:lnSpc>
                <a:spcPct val="150000"/>
              </a:lnSpc>
              <a:defRPr sz="1500"/>
            </a:lvl1pPr>
          </a:lstStyle>
          <a:p>
            <a:pPr>
              <a:lnSpc>
                <a:spcPct val="100000"/>
              </a:lnSpc>
            </a:pPr>
            <a:r>
              <a:rPr lang="en-US" dirty="0"/>
              <a:t>Double indexing</a:t>
            </a:r>
          </a:p>
        </p:txBody>
      </p:sp>
      <p:sp>
        <p:nvSpPr>
          <p:cNvPr id="10" name="TextBox 9"/>
          <p:cNvSpPr txBox="1"/>
          <p:nvPr/>
        </p:nvSpPr>
        <p:spPr>
          <a:xfrm>
            <a:off x="2865741" y="3711854"/>
            <a:ext cx="345837" cy="461665"/>
          </a:xfrm>
          <a:prstGeom prst="rect">
            <a:avLst/>
          </a:prstGeom>
          <a:noFill/>
        </p:spPr>
        <p:txBody>
          <a:bodyPr wrap="square" rtlCol="0">
            <a:spAutoFit/>
          </a:bodyPr>
          <a:lstStyle/>
          <a:p>
            <a:r>
              <a:rPr lang="en-US" sz="2400" b="1" dirty="0"/>
              <a:t>∪</a:t>
            </a:r>
          </a:p>
        </p:txBody>
      </p:sp>
      <p:sp>
        <p:nvSpPr>
          <p:cNvPr id="11" name="TextBox 10"/>
          <p:cNvSpPr txBox="1"/>
          <p:nvPr/>
        </p:nvSpPr>
        <p:spPr>
          <a:xfrm>
            <a:off x="4202976" y="3736604"/>
            <a:ext cx="282054" cy="461665"/>
          </a:xfrm>
          <a:prstGeom prst="rect">
            <a:avLst/>
          </a:prstGeom>
          <a:noFill/>
        </p:spPr>
        <p:txBody>
          <a:bodyPr wrap="square" rtlCol="0">
            <a:spAutoFit/>
          </a:bodyPr>
          <a:lstStyle/>
          <a:p>
            <a:r>
              <a:rPr lang="en-US" sz="2400" b="1" dirty="0"/>
              <a:t>=</a:t>
            </a:r>
          </a:p>
        </p:txBody>
      </p:sp>
      <p:sp>
        <p:nvSpPr>
          <p:cNvPr id="7" name="TextBox 6"/>
          <p:cNvSpPr txBox="1"/>
          <p:nvPr/>
        </p:nvSpPr>
        <p:spPr>
          <a:xfrm>
            <a:off x="422263" y="1380554"/>
            <a:ext cx="7398500" cy="646331"/>
          </a:xfrm>
          <a:prstGeom prst="rect">
            <a:avLst/>
          </a:prstGeom>
          <a:noFill/>
        </p:spPr>
        <p:txBody>
          <a:bodyPr wrap="none" rtlCol="0">
            <a:spAutoFit/>
          </a:bodyPr>
          <a:lstStyle/>
          <a:p>
            <a:r>
              <a:rPr lang="en-US" dirty="0"/>
              <a:t>For each collision of neutron having energy E,</a:t>
            </a:r>
          </a:p>
          <a:p>
            <a:r>
              <a:rPr lang="en-US" dirty="0"/>
              <a:t>it is required to search the energy and in the ACE file of that collision nuclide </a:t>
            </a:r>
          </a:p>
        </p:txBody>
      </p:sp>
      <p:sp>
        <p:nvSpPr>
          <p:cNvPr id="49" name="Chevron 48"/>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50" name="Chevron 49"/>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51" name="Chevron 50"/>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Tree>
    <p:extLst>
      <p:ext uri="{BB962C8B-B14F-4D97-AF65-F5344CB8AC3E}">
        <p14:creationId xmlns:p14="http://schemas.microsoft.com/office/powerpoint/2010/main" val="21912472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0"/>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93"/>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0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108"/>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1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18"/>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112"/>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113"/>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5"/>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38"/>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9"/>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6"/>
                                        </p:tgtEl>
                                        <p:attrNameLst>
                                          <p:attrName>style.visibility</p:attrName>
                                        </p:attrNameLst>
                                      </p:cBhvr>
                                      <p:to>
                                        <p:strVal val="visible"/>
                                      </p:to>
                                    </p:set>
                                  </p:childTnLst>
                                </p:cTn>
                              </p:par>
                              <p:par>
                                <p:cTn id="35" presetID="1" presetClass="entr" presetSubtype="0" fill="hold" grpId="0" nodeType="withEffect">
                                  <p:stCondLst>
                                    <p:cond delay="0"/>
                                  </p:stCondLst>
                                  <p:childTnLst>
                                    <p:set>
                                      <p:cBhvr>
                                        <p:cTn id="36" dur="1" fill="hold">
                                          <p:stCondLst>
                                            <p:cond delay="0"/>
                                          </p:stCondLst>
                                        </p:cTn>
                                        <p:tgtEl>
                                          <p:spTgt spid="34"/>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115"/>
                                        </p:tgtEl>
                                        <p:attrNameLst>
                                          <p:attrName>style.visibility</p:attrName>
                                        </p:attrNameLst>
                                      </p:cBhvr>
                                      <p:to>
                                        <p:strVal val="visible"/>
                                      </p:to>
                                    </p:set>
                                  </p:childTnLst>
                                </p:cTn>
                              </p:par>
                              <p:par>
                                <p:cTn id="39" presetID="1" presetClass="entr" presetSubtype="0" fill="hold" grpId="0" nodeType="withEffect">
                                  <p:stCondLst>
                                    <p:cond delay="0"/>
                                  </p:stCondLst>
                                  <p:childTnLst>
                                    <p:set>
                                      <p:cBhvr>
                                        <p:cTn id="40" dur="1" fill="hold">
                                          <p:stCondLst>
                                            <p:cond delay="0"/>
                                          </p:stCondLst>
                                        </p:cTn>
                                        <p:tgtEl>
                                          <p:spTgt spid="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3" grpId="0" animBg="1"/>
      <p:bldP spid="107" grpId="0" animBg="1"/>
      <p:bldP spid="108" grpId="0" animBg="1"/>
      <p:bldP spid="112" grpId="0" animBg="1"/>
      <p:bldP spid="113" grpId="0" animBg="1"/>
      <p:bldP spid="115" grpId="0"/>
      <p:bldP spid="116" grpId="0" animBg="1"/>
      <p:bldP spid="117" grpId="0" animBg="1"/>
      <p:bldP spid="118" grpId="0" animBg="1"/>
      <p:bldP spid="5" grpId="0"/>
      <p:bldP spid="38" grpId="0" animBg="1"/>
      <p:bldP spid="39" grpId="0" animBg="1"/>
      <p:bldP spid="34" grpId="0"/>
      <p:bldP spid="36" grpId="0"/>
      <p:bldP spid="6" grpId="0"/>
      <p:bldP spid="9" grpId="0" animBg="1"/>
      <p:bldP spid="10" grpId="0"/>
      <p:bldP spid="11" grpId="0"/>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pic>
        <p:nvPicPr>
          <p:cNvPr id="11" name="Content Placeholder 3" descr="C:\Users\subbaiah\Desktop\pp.png"/>
          <p:cNvPicPr>
            <a:picLocks/>
          </p:cNvPicPr>
          <p:nvPr/>
        </p:nvPicPr>
        <p:blipFill>
          <a:blip r:embed="rId2">
            <a:extLst>
              <a:ext uri="{BEBA8EAE-BF5A-486C-A8C5-ECC9F3942E4B}">
                <a14:imgProps xmlns:a14="http://schemas.microsoft.com/office/drawing/2010/main">
                  <a14:imgLayer r:embed="rId3">
                    <a14:imgEffect>
                      <a14:sharpenSoften amount="50000"/>
                    </a14:imgEffect>
                  </a14:imgLayer>
                </a14:imgProps>
              </a:ext>
              <a:ext uri="{28A0092B-C50C-407E-A947-70E740481C1C}">
                <a14:useLocalDpi xmlns:a14="http://schemas.microsoft.com/office/drawing/2010/main" val="0"/>
              </a:ext>
            </a:extLst>
          </a:blip>
          <a:srcRect/>
          <a:stretch>
            <a:fillRect/>
          </a:stretch>
        </p:blipFill>
        <p:spPr bwMode="auto">
          <a:xfrm>
            <a:off x="749271" y="3603758"/>
            <a:ext cx="4214614" cy="2441419"/>
          </a:xfrm>
          <a:prstGeom prst="rect">
            <a:avLst/>
          </a:prstGeom>
          <a:noFill/>
          <a:ln>
            <a:noFill/>
          </a:ln>
        </p:spPr>
      </p:pic>
      <p:graphicFrame>
        <p:nvGraphicFramePr>
          <p:cNvPr id="12" name="Table 11"/>
          <p:cNvGraphicFramePr>
            <a:graphicFrameLocks noGrp="1"/>
          </p:cNvGraphicFramePr>
          <p:nvPr/>
        </p:nvGraphicFramePr>
        <p:xfrm>
          <a:off x="5570169" y="4086643"/>
          <a:ext cx="2710100" cy="1014111"/>
        </p:xfrm>
        <a:graphic>
          <a:graphicData uri="http://schemas.openxmlformats.org/drawingml/2006/table">
            <a:tbl>
              <a:tblPr firstRow="1" bandRow="1">
                <a:tableStyleId>{5C22544A-7EE6-4342-B048-85BDC9FD1C3A}</a:tableStyleId>
              </a:tblPr>
              <a:tblGrid>
                <a:gridCol w="1879728">
                  <a:extLst>
                    <a:ext uri="{9D8B030D-6E8A-4147-A177-3AD203B41FA5}">
                      <a16:colId xmlns:a16="http://schemas.microsoft.com/office/drawing/2014/main" val="20000"/>
                    </a:ext>
                  </a:extLst>
                </a:gridCol>
                <a:gridCol w="830372">
                  <a:extLst>
                    <a:ext uri="{9D8B030D-6E8A-4147-A177-3AD203B41FA5}">
                      <a16:colId xmlns:a16="http://schemas.microsoft.com/office/drawing/2014/main" val="20001"/>
                    </a:ext>
                  </a:extLst>
                </a:gridCol>
              </a:tblGrid>
              <a:tr h="344392">
                <a:tc>
                  <a:txBody>
                    <a:bodyPr/>
                    <a:lstStyle/>
                    <a:p>
                      <a:pPr>
                        <a:lnSpc>
                          <a:spcPct val="100000"/>
                        </a:lnSpc>
                      </a:pPr>
                      <a:r>
                        <a:rPr lang="en-US" sz="1400" b="1" dirty="0">
                          <a:solidFill>
                            <a:sysClr val="windowText" lastClr="000000"/>
                          </a:solidFill>
                        </a:rPr>
                        <a:t>Sequential</a:t>
                      </a:r>
                    </a:p>
                  </a:txBody>
                  <a:tcPr>
                    <a:solidFill>
                      <a:schemeClr val="accent2">
                        <a:lumMod val="40000"/>
                        <a:lumOff val="60000"/>
                      </a:schemeClr>
                    </a:solidFill>
                  </a:tcPr>
                </a:tc>
                <a:tc>
                  <a:txBody>
                    <a:bodyPr/>
                    <a:lstStyle/>
                    <a:p>
                      <a:pPr>
                        <a:lnSpc>
                          <a:spcPct val="100000"/>
                        </a:lnSpc>
                      </a:pPr>
                      <a:r>
                        <a:rPr lang="en-US" sz="1400" b="1" dirty="0">
                          <a:solidFill>
                            <a:sysClr val="windowText" lastClr="000000"/>
                          </a:solidFill>
                        </a:rPr>
                        <a:t>Binary</a:t>
                      </a:r>
                    </a:p>
                  </a:txBody>
                  <a:tcPr>
                    <a:solidFill>
                      <a:schemeClr val="accent6">
                        <a:lumMod val="40000"/>
                        <a:lumOff val="60000"/>
                      </a:schemeClr>
                    </a:solidFill>
                  </a:tcPr>
                </a:tc>
                <a:extLst>
                  <a:ext uri="{0D108BD9-81ED-4DB2-BD59-A6C34878D82A}">
                    <a16:rowId xmlns:a16="http://schemas.microsoft.com/office/drawing/2014/main" val="10000"/>
                  </a:ext>
                </a:extLst>
              </a:tr>
              <a:tr h="285679">
                <a:tc>
                  <a:txBody>
                    <a:bodyPr/>
                    <a:lstStyle/>
                    <a:p>
                      <a:pPr>
                        <a:lnSpc>
                          <a:spcPct val="100000"/>
                        </a:lnSpc>
                      </a:pPr>
                      <a:r>
                        <a:rPr lang="en-US" sz="1400" b="1" dirty="0"/>
                        <a:t>999,999,999</a:t>
                      </a:r>
                      <a:r>
                        <a:rPr lang="en-US" sz="1400" b="1" baseline="0" dirty="0"/>
                        <a:t> </a:t>
                      </a:r>
                      <a:r>
                        <a:rPr lang="en-US" sz="1400" b="1" dirty="0"/>
                        <a:t>steps</a:t>
                      </a:r>
                    </a:p>
                  </a:txBody>
                  <a:tcPr>
                    <a:solidFill>
                      <a:schemeClr val="accent2">
                        <a:lumMod val="40000"/>
                        <a:lumOff val="60000"/>
                      </a:schemeClr>
                    </a:solidFill>
                  </a:tcPr>
                </a:tc>
                <a:tc>
                  <a:txBody>
                    <a:bodyPr/>
                    <a:lstStyle/>
                    <a:p>
                      <a:pPr>
                        <a:lnSpc>
                          <a:spcPct val="100000"/>
                        </a:lnSpc>
                      </a:pPr>
                      <a:r>
                        <a:rPr lang="en-US" sz="1400" b="1" dirty="0"/>
                        <a:t>32</a:t>
                      </a:r>
                      <a:r>
                        <a:rPr lang="en-US" sz="1400" b="1" baseline="0" dirty="0"/>
                        <a:t> </a:t>
                      </a:r>
                      <a:r>
                        <a:rPr lang="en-US" sz="1400" b="1" dirty="0"/>
                        <a:t>steps</a:t>
                      </a:r>
                    </a:p>
                  </a:txBody>
                  <a:tcPr>
                    <a:solidFill>
                      <a:schemeClr val="accent6">
                        <a:lumMod val="40000"/>
                        <a:lumOff val="60000"/>
                      </a:schemeClr>
                    </a:solidFill>
                  </a:tcPr>
                </a:tc>
                <a:extLst>
                  <a:ext uri="{0D108BD9-81ED-4DB2-BD59-A6C34878D82A}">
                    <a16:rowId xmlns:a16="http://schemas.microsoft.com/office/drawing/2014/main" val="10001"/>
                  </a:ext>
                </a:extLst>
              </a:tr>
              <a:tr h="364919">
                <a:tc>
                  <a:txBody>
                    <a:bodyPr/>
                    <a:lstStyle/>
                    <a:p>
                      <a:pPr>
                        <a:lnSpc>
                          <a:spcPct val="100000"/>
                        </a:lnSpc>
                      </a:pPr>
                      <a:r>
                        <a:rPr lang="en-US" sz="1400" b="1" dirty="0"/>
                        <a:t>1000 seconds (16 min)</a:t>
                      </a:r>
                    </a:p>
                  </a:txBody>
                  <a:tcPr>
                    <a:solidFill>
                      <a:schemeClr val="accent2">
                        <a:lumMod val="40000"/>
                        <a:lumOff val="60000"/>
                      </a:schemeClr>
                    </a:solidFill>
                  </a:tcPr>
                </a:tc>
                <a:tc>
                  <a:txBody>
                    <a:bodyPr/>
                    <a:lstStyle/>
                    <a:p>
                      <a:pPr>
                        <a:lnSpc>
                          <a:spcPct val="100000"/>
                        </a:lnSpc>
                      </a:pPr>
                      <a:r>
                        <a:rPr lang="en-US" sz="1400" b="1" dirty="0"/>
                        <a:t>32 µs</a:t>
                      </a:r>
                    </a:p>
                  </a:txBody>
                  <a:tcPr>
                    <a:solidFill>
                      <a:schemeClr val="accent6">
                        <a:lumMod val="40000"/>
                        <a:lumOff val="60000"/>
                      </a:schemeClr>
                    </a:solidFill>
                  </a:tcPr>
                </a:tc>
                <a:extLst>
                  <a:ext uri="{0D108BD9-81ED-4DB2-BD59-A6C34878D82A}">
                    <a16:rowId xmlns:a16="http://schemas.microsoft.com/office/drawing/2014/main" val="10002"/>
                  </a:ext>
                </a:extLst>
              </a:tr>
            </a:tbl>
          </a:graphicData>
        </a:graphic>
      </p:graphicFrame>
      <p:sp>
        <p:nvSpPr>
          <p:cNvPr id="13" name="TextBox 12"/>
          <p:cNvSpPr txBox="1"/>
          <p:nvPr/>
        </p:nvSpPr>
        <p:spPr>
          <a:xfrm>
            <a:off x="2402328" y="1393047"/>
            <a:ext cx="3787682" cy="400110"/>
          </a:xfrm>
          <a:prstGeom prst="rect">
            <a:avLst/>
          </a:prstGeom>
          <a:noFill/>
        </p:spPr>
        <p:txBody>
          <a:bodyPr wrap="square" rtlCol="0">
            <a:spAutoFit/>
          </a:bodyPr>
          <a:lstStyle/>
          <a:p>
            <a:r>
              <a:rPr lang="en-US" sz="2000" b="1" u="sng" dirty="0">
                <a:solidFill>
                  <a:schemeClr val="accent1">
                    <a:lumMod val="50000"/>
                  </a:schemeClr>
                </a:solidFill>
              </a:rPr>
              <a:t>Comparison of search algorithms </a:t>
            </a:r>
            <a:endParaRPr lang="en-US" b="1" u="sng" dirty="0">
              <a:solidFill>
                <a:schemeClr val="accent1">
                  <a:lumMod val="50000"/>
                </a:schemeClr>
              </a:solidFill>
            </a:endParaRPr>
          </a:p>
        </p:txBody>
      </p:sp>
      <p:pic>
        <p:nvPicPr>
          <p:cNvPr id="14" name="Picture 13"/>
          <p:cNvPicPr>
            <a:picLocks noChangeAspect="1"/>
          </p:cNvPicPr>
          <p:nvPr/>
        </p:nvPicPr>
        <p:blipFill>
          <a:blip r:embed="rId4"/>
          <a:stretch>
            <a:fillRect/>
          </a:stretch>
        </p:blipFill>
        <p:spPr>
          <a:xfrm>
            <a:off x="629439" y="2380225"/>
            <a:ext cx="6854728" cy="289753"/>
          </a:xfrm>
          <a:prstGeom prst="rect">
            <a:avLst/>
          </a:prstGeom>
        </p:spPr>
      </p:pic>
      <p:sp>
        <p:nvSpPr>
          <p:cNvPr id="15" name="TextBox 14"/>
          <p:cNvSpPr txBox="1"/>
          <p:nvPr/>
        </p:nvSpPr>
        <p:spPr>
          <a:xfrm>
            <a:off x="629439" y="1884896"/>
            <a:ext cx="7333460" cy="369332"/>
          </a:xfrm>
          <a:prstGeom prst="rect">
            <a:avLst/>
          </a:prstGeom>
          <a:noFill/>
        </p:spPr>
        <p:txBody>
          <a:bodyPr wrap="square" rtlCol="0">
            <a:spAutoFit/>
          </a:bodyPr>
          <a:lstStyle/>
          <a:p>
            <a:r>
              <a:rPr lang="en-US" b="1" i="1" dirty="0">
                <a:solidFill>
                  <a:schemeClr val="accent1">
                    <a:lumMod val="50000"/>
                  </a:schemeClr>
                </a:solidFill>
              </a:rPr>
              <a:t>1. Sequential Search</a:t>
            </a:r>
            <a:r>
              <a:rPr lang="en-US" sz="1600" b="1" i="1" dirty="0">
                <a:solidFill>
                  <a:schemeClr val="accent1">
                    <a:lumMod val="50000"/>
                  </a:schemeClr>
                </a:solidFill>
              </a:rPr>
              <a:t>:  </a:t>
            </a:r>
            <a:r>
              <a:rPr lang="en-US" sz="1400" b="1" i="1" dirty="0">
                <a:solidFill>
                  <a:schemeClr val="accent1">
                    <a:lumMod val="50000"/>
                  </a:schemeClr>
                </a:solidFill>
              </a:rPr>
              <a:t>Number of Steps :  N ( total number of elements in search )</a:t>
            </a:r>
          </a:p>
        </p:txBody>
      </p:sp>
      <p:sp>
        <p:nvSpPr>
          <p:cNvPr id="16" name="TextBox 15"/>
          <p:cNvSpPr txBox="1"/>
          <p:nvPr/>
        </p:nvSpPr>
        <p:spPr>
          <a:xfrm>
            <a:off x="5807676" y="2835655"/>
            <a:ext cx="1483713" cy="369332"/>
          </a:xfrm>
          <a:prstGeom prst="rect">
            <a:avLst/>
          </a:prstGeom>
          <a:noFill/>
          <a:ln>
            <a:solidFill>
              <a:schemeClr val="accent1"/>
            </a:solidFill>
          </a:ln>
        </p:spPr>
        <p:txBody>
          <a:bodyPr wrap="square" rtlCol="0">
            <a:spAutoFit/>
          </a:bodyPr>
          <a:lstStyle/>
          <a:p>
            <a:r>
              <a:rPr lang="en-US" dirty="0"/>
              <a:t>999,999,999</a:t>
            </a:r>
          </a:p>
        </p:txBody>
      </p:sp>
      <p:cxnSp>
        <p:nvCxnSpPr>
          <p:cNvPr id="17" name="Curved Connector 16"/>
          <p:cNvCxnSpPr>
            <a:stCxn id="16" idx="0"/>
          </p:cNvCxnSpPr>
          <p:nvPr/>
        </p:nvCxnSpPr>
        <p:spPr>
          <a:xfrm rot="5400000" flipH="1" flipV="1">
            <a:off x="6543832" y="2644321"/>
            <a:ext cx="197037" cy="185635"/>
          </a:xfrm>
          <a:prstGeom prst="curvedConnector3">
            <a:avLst>
              <a:gd name="adj1" fmla="val 50000"/>
            </a:avLst>
          </a:prstGeom>
          <a:ln w="19050">
            <a:tailEnd type="triangle"/>
          </a:ln>
        </p:spPr>
        <p:style>
          <a:lnRef idx="1">
            <a:schemeClr val="dk1"/>
          </a:lnRef>
          <a:fillRef idx="0">
            <a:schemeClr val="dk1"/>
          </a:fillRef>
          <a:effectRef idx="0">
            <a:schemeClr val="dk1"/>
          </a:effectRef>
          <a:fontRef idx="minor">
            <a:schemeClr val="tx1"/>
          </a:fontRef>
        </p:style>
      </p:cxnSp>
      <p:sp>
        <p:nvSpPr>
          <p:cNvPr id="18" name="Rectangle 17"/>
          <p:cNvSpPr/>
          <p:nvPr/>
        </p:nvSpPr>
        <p:spPr>
          <a:xfrm>
            <a:off x="629440" y="2952201"/>
            <a:ext cx="6780703" cy="400110"/>
          </a:xfrm>
          <a:prstGeom prst="rect">
            <a:avLst/>
          </a:prstGeom>
        </p:spPr>
        <p:txBody>
          <a:bodyPr wrap="square">
            <a:spAutoFit/>
          </a:bodyPr>
          <a:lstStyle/>
          <a:p>
            <a:r>
              <a:rPr lang="en-US" b="1" i="1" dirty="0">
                <a:solidFill>
                  <a:schemeClr val="accent1">
                    <a:lumMod val="50000"/>
                  </a:schemeClr>
                </a:solidFill>
              </a:rPr>
              <a:t>2. Binary Search</a:t>
            </a:r>
            <a:r>
              <a:rPr lang="en-US" sz="1400" b="1" i="1" dirty="0">
                <a:solidFill>
                  <a:schemeClr val="accent1">
                    <a:lumMod val="50000"/>
                  </a:schemeClr>
                </a:solidFill>
              </a:rPr>
              <a:t>:    </a:t>
            </a:r>
            <a:r>
              <a:rPr lang="en-US" b="1" i="1" dirty="0">
                <a:solidFill>
                  <a:schemeClr val="accent1">
                    <a:lumMod val="50000"/>
                  </a:schemeClr>
                </a:solidFill>
              </a:rPr>
              <a:t>Number of Steps :  </a:t>
            </a:r>
            <a:r>
              <a:rPr lang="en-US" sz="2000" b="1" dirty="0">
                <a:solidFill>
                  <a:schemeClr val="accent1">
                    <a:lumMod val="50000"/>
                  </a:schemeClr>
                </a:solidFill>
              </a:rPr>
              <a:t>log</a:t>
            </a:r>
            <a:r>
              <a:rPr lang="en-US" sz="2000" b="1" baseline="-25000" dirty="0">
                <a:solidFill>
                  <a:schemeClr val="accent1">
                    <a:lumMod val="50000"/>
                  </a:schemeClr>
                </a:solidFill>
              </a:rPr>
              <a:t>2</a:t>
            </a:r>
            <a:r>
              <a:rPr lang="en-US" sz="2000" b="1" dirty="0">
                <a:solidFill>
                  <a:schemeClr val="accent1">
                    <a:lumMod val="50000"/>
                  </a:schemeClr>
                </a:solidFill>
              </a:rPr>
              <a:t>N</a:t>
            </a:r>
          </a:p>
        </p:txBody>
      </p:sp>
      <p:sp>
        <p:nvSpPr>
          <p:cNvPr id="19" name="Chevron 18"/>
          <p:cNvSpPr/>
          <p:nvPr/>
        </p:nvSpPr>
        <p:spPr>
          <a:xfrm>
            <a:off x="2212623" y="645350"/>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0" name="Chevron 19"/>
          <p:cNvSpPr/>
          <p:nvPr/>
        </p:nvSpPr>
        <p:spPr>
          <a:xfrm>
            <a:off x="9526" y="646797"/>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21" name="Chevron 20"/>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2" name="Chevron 21"/>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3" name="Chevron 22"/>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3295080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61213" y="1575987"/>
            <a:ext cx="7886700" cy="2367117"/>
          </a:xfrm>
        </p:spPr>
        <p:txBody>
          <a:bodyPr>
            <a:normAutofit/>
          </a:bodyPr>
          <a:lstStyle/>
          <a:p>
            <a:pPr marL="0" indent="0">
              <a:buNone/>
            </a:pPr>
            <a:r>
              <a:rPr lang="en-US" sz="1800" b="1" i="1" u="sng" dirty="0"/>
              <a:t>Surfaces</a:t>
            </a:r>
          </a:p>
          <a:p>
            <a:pPr marL="0" indent="0">
              <a:buNone/>
            </a:pPr>
            <a:r>
              <a:rPr lang="en-US" sz="1600" dirty="0"/>
              <a:t>For a given point in space, (x,y,z), and surface equation, F(x’,y’,z’)=0,</a:t>
            </a:r>
          </a:p>
          <a:p>
            <a:pPr marL="0" indent="0">
              <a:buNone/>
            </a:pPr>
            <a:r>
              <a:rPr lang="en-US" sz="1600" dirty="0"/>
              <a:t> the </a:t>
            </a:r>
            <a:r>
              <a:rPr lang="en-US" sz="1800" b="1" dirty="0">
                <a:solidFill>
                  <a:srgbClr val="00B050"/>
                </a:solidFill>
              </a:rPr>
              <a:t>sense</a:t>
            </a:r>
            <a:r>
              <a:rPr lang="en-US" sz="1600" b="1" dirty="0">
                <a:solidFill>
                  <a:srgbClr val="C00000"/>
                </a:solidFill>
              </a:rPr>
              <a:t> </a:t>
            </a:r>
            <a:r>
              <a:rPr lang="en-US" sz="1600" dirty="0"/>
              <a:t>of the point with respect to the surface is defined as:</a:t>
            </a:r>
            <a:endParaRPr lang="en-US" sz="1800" dirty="0"/>
          </a:p>
          <a:p>
            <a:pPr marL="0" indent="0" algn="ctr">
              <a:lnSpc>
                <a:spcPct val="150000"/>
              </a:lnSpc>
              <a:buNone/>
            </a:pPr>
            <a:r>
              <a:rPr lang="en-US" sz="1600" b="1" dirty="0">
                <a:solidFill>
                  <a:srgbClr val="FF0000"/>
                </a:solidFill>
              </a:rPr>
              <a:t>Inside </a:t>
            </a:r>
            <a:r>
              <a:rPr lang="en-US" sz="1600" dirty="0"/>
              <a:t>the surface, </a:t>
            </a:r>
            <a:r>
              <a:rPr lang="en-US" sz="1600" dirty="0">
                <a:solidFill>
                  <a:srgbClr val="FF0000"/>
                </a:solidFill>
              </a:rPr>
              <a:t>sense &lt; 0     </a:t>
            </a:r>
            <a:r>
              <a:rPr lang="en-US" sz="1600" dirty="0"/>
              <a:t>if F(x,y,z) &lt; 0</a:t>
            </a:r>
          </a:p>
          <a:p>
            <a:pPr marL="0" indent="0" algn="ctr">
              <a:buNone/>
            </a:pPr>
            <a:r>
              <a:rPr lang="en-US" sz="1600" b="1" dirty="0">
                <a:solidFill>
                  <a:srgbClr val="00B050"/>
                </a:solidFill>
              </a:rPr>
              <a:t>Outside</a:t>
            </a:r>
            <a:r>
              <a:rPr lang="en-US" sz="1600" b="1" dirty="0"/>
              <a:t> </a:t>
            </a:r>
            <a:r>
              <a:rPr lang="en-US" sz="1600" dirty="0"/>
              <a:t>the surface, </a:t>
            </a:r>
            <a:r>
              <a:rPr lang="en-US" sz="1600" dirty="0">
                <a:solidFill>
                  <a:srgbClr val="00B050"/>
                </a:solidFill>
              </a:rPr>
              <a:t>sense &gt; 0</a:t>
            </a:r>
            <a:r>
              <a:rPr lang="en-US" sz="1600" dirty="0"/>
              <a:t>  if F(x,y,z) &gt; 0</a:t>
            </a:r>
          </a:p>
          <a:p>
            <a:pPr marL="0" indent="0" algn="ctr">
              <a:buNone/>
            </a:pPr>
            <a:r>
              <a:rPr lang="en-US" sz="1600" b="1" dirty="0">
                <a:solidFill>
                  <a:srgbClr val="00B0F0"/>
                </a:solidFill>
              </a:rPr>
              <a:t>On</a:t>
            </a:r>
            <a:r>
              <a:rPr lang="en-US" sz="1600" b="1" dirty="0"/>
              <a:t> </a:t>
            </a:r>
            <a:r>
              <a:rPr lang="en-US" sz="1600" dirty="0"/>
              <a:t>the surface, </a:t>
            </a:r>
            <a:r>
              <a:rPr lang="en-US" sz="1600" dirty="0">
                <a:solidFill>
                  <a:srgbClr val="00B0F0"/>
                </a:solidFill>
              </a:rPr>
              <a:t>sense = 0           </a:t>
            </a:r>
            <a:r>
              <a:rPr lang="en-US" sz="1600" dirty="0"/>
              <a:t>if F(x,y,z) = 0</a:t>
            </a:r>
          </a:p>
        </p:txBody>
      </p:sp>
      <p:sp>
        <p:nvSpPr>
          <p:cNvPr id="10"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1" name="TextBox 10"/>
          <p:cNvSpPr txBox="1"/>
          <p:nvPr/>
        </p:nvSpPr>
        <p:spPr>
          <a:xfrm>
            <a:off x="561214" y="1092504"/>
            <a:ext cx="2811379" cy="369332"/>
          </a:xfrm>
          <a:prstGeom prst="rect">
            <a:avLst/>
          </a:prstGeom>
          <a:solidFill>
            <a:schemeClr val="accent6">
              <a:lumMod val="40000"/>
              <a:lumOff val="60000"/>
            </a:schemeClr>
          </a:solidFill>
        </p:spPr>
        <p:txBody>
          <a:bodyPr wrap="square" rtlCol="0">
            <a:spAutoFit/>
          </a:bodyPr>
          <a:lstStyle>
            <a:defPPr>
              <a:defRPr lang="en-US"/>
            </a:defPPr>
            <a:lvl1pPr>
              <a:defRPr sz="2000">
                <a:effectLst>
                  <a:outerShdw blurRad="38100" dist="38100" dir="2700000" algn="tl">
                    <a:srgbClr val="000000">
                      <a:alpha val="43137"/>
                    </a:srgbClr>
                  </a:outerShdw>
                </a:effectLst>
              </a:defRPr>
            </a:lvl1pPr>
          </a:lstStyle>
          <a:p>
            <a:r>
              <a:rPr lang="en-US" sz="1800" dirty="0"/>
              <a:t>3. Computational Geometry</a:t>
            </a:r>
          </a:p>
        </p:txBody>
      </p:sp>
      <p:sp>
        <p:nvSpPr>
          <p:cNvPr id="14" name="TextBox 13"/>
          <p:cNvSpPr txBox="1"/>
          <p:nvPr/>
        </p:nvSpPr>
        <p:spPr>
          <a:xfrm>
            <a:off x="3805166" y="5636774"/>
            <a:ext cx="1521699" cy="338554"/>
          </a:xfrm>
          <a:prstGeom prst="rect">
            <a:avLst/>
          </a:prstGeom>
          <a:noFill/>
        </p:spPr>
        <p:txBody>
          <a:bodyPr wrap="square" rtlCol="0">
            <a:spAutoFit/>
          </a:bodyPr>
          <a:lstStyle/>
          <a:p>
            <a:r>
              <a:rPr lang="en-US" sz="1600" b="1" dirty="0">
                <a:solidFill>
                  <a:srgbClr val="00B050"/>
                </a:solidFill>
              </a:rPr>
              <a:t>Positive sense</a:t>
            </a:r>
          </a:p>
        </p:txBody>
      </p:sp>
      <p:pic>
        <p:nvPicPr>
          <p:cNvPr id="15" name="Picture 1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73805" y="3872939"/>
            <a:ext cx="1984422" cy="1856119"/>
          </a:xfrm>
          <a:prstGeom prst="rect">
            <a:avLst/>
          </a:prstGeom>
        </p:spPr>
      </p:pic>
      <p:sp>
        <p:nvSpPr>
          <p:cNvPr id="16" name="TextBox 15"/>
          <p:cNvSpPr txBox="1"/>
          <p:nvPr/>
        </p:nvSpPr>
        <p:spPr>
          <a:xfrm>
            <a:off x="3746865" y="4313633"/>
            <a:ext cx="1638300" cy="338554"/>
          </a:xfrm>
          <a:prstGeom prst="rect">
            <a:avLst/>
          </a:prstGeom>
          <a:noFill/>
        </p:spPr>
        <p:txBody>
          <a:bodyPr wrap="square" rtlCol="0">
            <a:spAutoFit/>
          </a:bodyPr>
          <a:lstStyle/>
          <a:p>
            <a:r>
              <a:rPr lang="en-US" sz="1600" b="1" dirty="0">
                <a:solidFill>
                  <a:srgbClr val="FF0000"/>
                </a:solidFill>
              </a:rPr>
              <a:t>Negative sense</a:t>
            </a:r>
          </a:p>
        </p:txBody>
      </p:sp>
      <p:cxnSp>
        <p:nvCxnSpPr>
          <p:cNvPr id="18" name="Straight Arrow Connector 17"/>
          <p:cNvCxnSpPr/>
          <p:nvPr/>
        </p:nvCxnSpPr>
        <p:spPr>
          <a:xfrm flipV="1">
            <a:off x="561213" y="3781724"/>
            <a:ext cx="0" cy="198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9" name="Straight Arrow Connector 18"/>
          <p:cNvCxnSpPr/>
          <p:nvPr/>
        </p:nvCxnSpPr>
        <p:spPr>
          <a:xfrm>
            <a:off x="413880" y="5630424"/>
            <a:ext cx="2406650"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a:off x="1596987" y="3981388"/>
            <a:ext cx="2745" cy="178153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21" name="TextBox 20"/>
          <p:cNvSpPr txBox="1"/>
          <p:nvPr/>
        </p:nvSpPr>
        <p:spPr>
          <a:xfrm>
            <a:off x="1660605" y="4339410"/>
            <a:ext cx="951350" cy="584775"/>
          </a:xfrm>
          <a:prstGeom prst="rect">
            <a:avLst/>
          </a:prstGeom>
          <a:noFill/>
        </p:spPr>
        <p:txBody>
          <a:bodyPr wrap="square" rtlCol="0">
            <a:spAutoFit/>
          </a:bodyPr>
          <a:lstStyle/>
          <a:p>
            <a:r>
              <a:rPr lang="en-US" sz="1600" b="1" dirty="0">
                <a:solidFill>
                  <a:srgbClr val="00B050"/>
                </a:solidFill>
              </a:rPr>
              <a:t>Positive </a:t>
            </a:r>
          </a:p>
          <a:p>
            <a:r>
              <a:rPr lang="en-US" sz="1600" b="1" dirty="0">
                <a:solidFill>
                  <a:srgbClr val="00B050"/>
                </a:solidFill>
              </a:rPr>
              <a:t>sense</a:t>
            </a:r>
          </a:p>
        </p:txBody>
      </p:sp>
      <p:sp>
        <p:nvSpPr>
          <p:cNvPr id="22" name="TextBox 21"/>
          <p:cNvSpPr txBox="1"/>
          <p:nvPr/>
        </p:nvSpPr>
        <p:spPr>
          <a:xfrm>
            <a:off x="638108" y="4326265"/>
            <a:ext cx="1117600" cy="584775"/>
          </a:xfrm>
          <a:prstGeom prst="rect">
            <a:avLst/>
          </a:prstGeom>
          <a:noFill/>
        </p:spPr>
        <p:txBody>
          <a:bodyPr wrap="square" rtlCol="0">
            <a:spAutoFit/>
          </a:bodyPr>
          <a:lstStyle/>
          <a:p>
            <a:r>
              <a:rPr lang="en-US" sz="1600" b="1" dirty="0">
                <a:solidFill>
                  <a:srgbClr val="FF0000"/>
                </a:solidFill>
              </a:rPr>
              <a:t>Negative </a:t>
            </a:r>
          </a:p>
          <a:p>
            <a:r>
              <a:rPr lang="en-US" sz="1600" b="1" dirty="0">
                <a:solidFill>
                  <a:srgbClr val="FF0000"/>
                </a:solidFill>
              </a:rPr>
              <a:t>sense</a:t>
            </a:r>
          </a:p>
        </p:txBody>
      </p:sp>
      <p:sp>
        <p:nvSpPr>
          <p:cNvPr id="23" name="Can 22"/>
          <p:cNvSpPr/>
          <p:nvPr/>
        </p:nvSpPr>
        <p:spPr>
          <a:xfrm rot="10800000">
            <a:off x="6781007" y="4013175"/>
            <a:ext cx="1305185" cy="1685831"/>
          </a:xfrm>
          <a:prstGeom prst="can">
            <a:avLst>
              <a:gd name="adj" fmla="val 2052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4" name="TextBox 23"/>
          <p:cNvSpPr txBox="1"/>
          <p:nvPr/>
        </p:nvSpPr>
        <p:spPr>
          <a:xfrm>
            <a:off x="6984684" y="4449160"/>
            <a:ext cx="1020927" cy="584775"/>
          </a:xfrm>
          <a:prstGeom prst="rect">
            <a:avLst/>
          </a:prstGeom>
          <a:noFill/>
        </p:spPr>
        <p:txBody>
          <a:bodyPr wrap="square" rtlCol="0">
            <a:spAutoFit/>
          </a:bodyPr>
          <a:lstStyle/>
          <a:p>
            <a:r>
              <a:rPr lang="en-US" sz="1600" b="1" dirty="0">
                <a:solidFill>
                  <a:srgbClr val="FF0000"/>
                </a:solidFill>
              </a:rPr>
              <a:t>Negative</a:t>
            </a:r>
          </a:p>
          <a:p>
            <a:r>
              <a:rPr lang="en-US" sz="1600" dirty="0">
                <a:solidFill>
                  <a:srgbClr val="FF0000"/>
                </a:solidFill>
              </a:rPr>
              <a:t> </a:t>
            </a:r>
            <a:r>
              <a:rPr lang="en-US" sz="1600" b="1" dirty="0">
                <a:solidFill>
                  <a:srgbClr val="FF0000"/>
                </a:solidFill>
              </a:rPr>
              <a:t>sense</a:t>
            </a:r>
          </a:p>
        </p:txBody>
      </p:sp>
      <p:sp>
        <p:nvSpPr>
          <p:cNvPr id="25" name="TextBox 24"/>
          <p:cNvSpPr txBox="1"/>
          <p:nvPr/>
        </p:nvSpPr>
        <p:spPr>
          <a:xfrm>
            <a:off x="8132700" y="4449160"/>
            <a:ext cx="1027507" cy="584775"/>
          </a:xfrm>
          <a:prstGeom prst="rect">
            <a:avLst/>
          </a:prstGeom>
          <a:noFill/>
        </p:spPr>
        <p:txBody>
          <a:bodyPr wrap="square" rtlCol="0">
            <a:spAutoFit/>
          </a:bodyPr>
          <a:lstStyle/>
          <a:p>
            <a:r>
              <a:rPr lang="en-US" sz="1600" b="1" dirty="0">
                <a:solidFill>
                  <a:srgbClr val="00B050"/>
                </a:solidFill>
              </a:rPr>
              <a:t>Positive </a:t>
            </a:r>
          </a:p>
          <a:p>
            <a:r>
              <a:rPr lang="en-US" sz="1600" b="1" dirty="0">
                <a:solidFill>
                  <a:srgbClr val="00B050"/>
                </a:solidFill>
              </a:rPr>
              <a:t>sense</a:t>
            </a:r>
          </a:p>
        </p:txBody>
      </p:sp>
      <p:sp>
        <p:nvSpPr>
          <p:cNvPr id="26" name="TextBox 25"/>
          <p:cNvSpPr txBox="1"/>
          <p:nvPr/>
        </p:nvSpPr>
        <p:spPr>
          <a:xfrm>
            <a:off x="312215" y="3822322"/>
            <a:ext cx="317500" cy="369332"/>
          </a:xfrm>
          <a:prstGeom prst="rect">
            <a:avLst/>
          </a:prstGeom>
          <a:noFill/>
        </p:spPr>
        <p:txBody>
          <a:bodyPr wrap="square" rtlCol="0">
            <a:spAutoFit/>
          </a:bodyPr>
          <a:lstStyle/>
          <a:p>
            <a:r>
              <a:rPr lang="en-US" dirty="0"/>
              <a:t>y</a:t>
            </a:r>
          </a:p>
        </p:txBody>
      </p:sp>
      <p:sp>
        <p:nvSpPr>
          <p:cNvPr id="27" name="TextBox 26"/>
          <p:cNvSpPr txBox="1"/>
          <p:nvPr/>
        </p:nvSpPr>
        <p:spPr>
          <a:xfrm>
            <a:off x="2421647" y="5578258"/>
            <a:ext cx="348851" cy="369332"/>
          </a:xfrm>
          <a:prstGeom prst="rect">
            <a:avLst/>
          </a:prstGeom>
          <a:noFill/>
        </p:spPr>
        <p:txBody>
          <a:bodyPr wrap="square" rtlCol="0">
            <a:spAutoFit/>
          </a:bodyPr>
          <a:lstStyle/>
          <a:p>
            <a:r>
              <a:rPr lang="en-US" dirty="0"/>
              <a:t>x</a:t>
            </a:r>
          </a:p>
        </p:txBody>
      </p:sp>
      <p:sp>
        <p:nvSpPr>
          <p:cNvPr id="28" name="TextBox 27"/>
          <p:cNvSpPr txBox="1"/>
          <p:nvPr/>
        </p:nvSpPr>
        <p:spPr>
          <a:xfrm>
            <a:off x="1196908" y="3681210"/>
            <a:ext cx="951350" cy="369332"/>
          </a:xfrm>
          <a:prstGeom prst="rect">
            <a:avLst/>
          </a:prstGeom>
          <a:noFill/>
        </p:spPr>
        <p:txBody>
          <a:bodyPr wrap="square" rtlCol="0">
            <a:spAutoFit/>
          </a:bodyPr>
          <a:lstStyle/>
          <a:p>
            <a:r>
              <a:rPr lang="en-US" dirty="0"/>
              <a:t>x-plane</a:t>
            </a:r>
          </a:p>
        </p:txBody>
      </p:sp>
      <p:sp>
        <p:nvSpPr>
          <p:cNvPr id="29" name="TextBox 28"/>
          <p:cNvSpPr txBox="1"/>
          <p:nvPr/>
        </p:nvSpPr>
        <p:spPr>
          <a:xfrm>
            <a:off x="1156085" y="5059422"/>
            <a:ext cx="830677" cy="369332"/>
          </a:xfrm>
          <a:prstGeom prst="rect">
            <a:avLst/>
          </a:prstGeom>
          <a:noFill/>
        </p:spPr>
        <p:txBody>
          <a:bodyPr wrap="none" rtlCol="0">
            <a:spAutoFit/>
          </a:bodyPr>
          <a:lstStyle/>
          <a:p>
            <a:r>
              <a:rPr lang="en-US" dirty="0"/>
              <a:t>X-5 = 0</a:t>
            </a:r>
          </a:p>
        </p:txBody>
      </p:sp>
      <p:sp>
        <p:nvSpPr>
          <p:cNvPr id="30" name="Chevron 29"/>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31" name="Chevron 30"/>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32" name="Chevron 31"/>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20080890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6"/>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20"/>
                                        </p:tgtEl>
                                        <p:attrNameLst>
                                          <p:attrName>style.visibility</p:attrName>
                                        </p:attrNameLst>
                                      </p:cBhvr>
                                      <p:to>
                                        <p:strVal val="visible"/>
                                      </p:to>
                                    </p:set>
                                  </p:childTnLst>
                                </p:cTn>
                              </p:par>
                              <p:par>
                                <p:cTn id="17" presetID="1" presetClass="entr" presetSubtype="0" fill="hold" grpId="0" nodeType="withEffect">
                                  <p:stCondLst>
                                    <p:cond delay="0"/>
                                  </p:stCondLst>
                                  <p:childTnLst>
                                    <p:set>
                                      <p:cBhvr>
                                        <p:cTn id="18" dur="1" fill="hold">
                                          <p:stCondLst>
                                            <p:cond delay="0"/>
                                          </p:stCondLst>
                                        </p:cTn>
                                        <p:tgtEl>
                                          <p:spTgt spid="21"/>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2"/>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par>
                                <p:cTn id="23" presetID="1" presetClass="entr" presetSubtype="0" fill="hold" grpId="0" nodeType="withEffect">
                                  <p:stCondLst>
                                    <p:cond delay="0"/>
                                  </p:stCondLst>
                                  <p:childTnLst>
                                    <p:set>
                                      <p:cBhvr>
                                        <p:cTn id="24" dur="1" fill="hold">
                                          <p:stCondLst>
                                            <p:cond delay="0"/>
                                          </p:stCondLst>
                                        </p:cTn>
                                        <p:tgtEl>
                                          <p:spTgt spid="24"/>
                                        </p:tgtEl>
                                        <p:attrNameLst>
                                          <p:attrName>style.visibility</p:attrName>
                                        </p:attrNameLst>
                                      </p:cBhvr>
                                      <p:to>
                                        <p:strVal val="visible"/>
                                      </p:to>
                                    </p:set>
                                  </p:childTnLst>
                                </p:cTn>
                              </p:par>
                              <p:par>
                                <p:cTn id="25" presetID="1" presetClass="entr" presetSubtype="0" fill="hold" grpId="0" nodeType="withEffect">
                                  <p:stCondLst>
                                    <p:cond delay="0"/>
                                  </p:stCondLst>
                                  <p:childTnLst>
                                    <p:set>
                                      <p:cBhvr>
                                        <p:cTn id="26" dur="1" fill="hold">
                                          <p:stCondLst>
                                            <p:cond delay="0"/>
                                          </p:stCondLst>
                                        </p:cTn>
                                        <p:tgtEl>
                                          <p:spTgt spid="25"/>
                                        </p:tgtEl>
                                        <p:attrNameLst>
                                          <p:attrName>style.visibility</p:attrName>
                                        </p:attrNameLst>
                                      </p:cBhvr>
                                      <p:to>
                                        <p:strVal val="visible"/>
                                      </p:to>
                                    </p:set>
                                  </p:childTnLst>
                                </p:cTn>
                              </p:par>
                              <p:par>
                                <p:cTn id="27" presetID="1" presetClass="entr" presetSubtype="0" fill="hold" grpId="0" nodeType="withEffect">
                                  <p:stCondLst>
                                    <p:cond delay="0"/>
                                  </p:stCondLst>
                                  <p:childTnLst>
                                    <p:set>
                                      <p:cBhvr>
                                        <p:cTn id="28" dur="1" fill="hold">
                                          <p:stCondLst>
                                            <p:cond delay="0"/>
                                          </p:stCondLst>
                                        </p:cTn>
                                        <p:tgtEl>
                                          <p:spTgt spid="26"/>
                                        </p:tgtEl>
                                        <p:attrNameLst>
                                          <p:attrName>style.visibility</p:attrName>
                                        </p:attrNameLst>
                                      </p:cBhvr>
                                      <p:to>
                                        <p:strVal val="visible"/>
                                      </p:to>
                                    </p:set>
                                  </p:childTnLst>
                                </p:cTn>
                              </p:par>
                              <p:par>
                                <p:cTn id="29" presetID="1" presetClass="entr" presetSubtype="0" fill="hold" grpId="0" nodeType="withEffect">
                                  <p:stCondLst>
                                    <p:cond delay="0"/>
                                  </p:stCondLst>
                                  <p:childTnLst>
                                    <p:set>
                                      <p:cBhvr>
                                        <p:cTn id="30" dur="1" fill="hold">
                                          <p:stCondLst>
                                            <p:cond delay="0"/>
                                          </p:stCondLst>
                                        </p:cTn>
                                        <p:tgtEl>
                                          <p:spTgt spid="27"/>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28"/>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 grpId="0"/>
      <p:bldP spid="16" grpId="0"/>
      <p:bldP spid="21" grpId="0"/>
      <p:bldP spid="22" grpId="0"/>
      <p:bldP spid="23" grpId="0" animBg="1"/>
      <p:bldP spid="24" grpId="0"/>
      <p:bldP spid="25" grpId="0"/>
      <p:bldP spid="26" grpId="0"/>
      <p:bldP spid="27" grpId="0"/>
      <p:bldP spid="28" grpId="0"/>
      <p:bldP spid="29"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rotWithShape="1">
          <a:blip r:embed="rId2"/>
          <a:srcRect r="16661"/>
          <a:stretch/>
        </p:blipFill>
        <p:spPr>
          <a:xfrm>
            <a:off x="939800" y="1758439"/>
            <a:ext cx="7264400" cy="4492095"/>
          </a:xfrm>
          <a:prstGeom prst="rect">
            <a:avLst/>
          </a:prstGeom>
        </p:spPr>
      </p:pic>
      <p:sp>
        <p:nvSpPr>
          <p:cNvPr id="3" name="TextBox 2"/>
          <p:cNvSpPr txBox="1"/>
          <p:nvPr/>
        </p:nvSpPr>
        <p:spPr>
          <a:xfrm>
            <a:off x="4119824" y="1263583"/>
            <a:ext cx="1045028" cy="369332"/>
          </a:xfrm>
          <a:prstGeom prst="rect">
            <a:avLst/>
          </a:prstGeom>
          <a:noFill/>
        </p:spPr>
        <p:txBody>
          <a:bodyPr wrap="square" rtlCol="0">
            <a:spAutoFit/>
          </a:bodyPr>
          <a:lstStyle/>
          <a:p>
            <a:r>
              <a:rPr lang="en-US" b="1" i="1" u="sng" dirty="0"/>
              <a:t>Surfaces</a:t>
            </a:r>
          </a:p>
        </p:txBody>
      </p:sp>
      <p:sp>
        <p:nvSpPr>
          <p:cNvPr id="13"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9" name="TextBox 8"/>
          <p:cNvSpPr txBox="1"/>
          <p:nvPr/>
        </p:nvSpPr>
        <p:spPr>
          <a:xfrm>
            <a:off x="561214" y="1092504"/>
            <a:ext cx="2811379" cy="369332"/>
          </a:xfrm>
          <a:prstGeom prst="rect">
            <a:avLst/>
          </a:prstGeom>
          <a:solidFill>
            <a:schemeClr val="accent6">
              <a:lumMod val="40000"/>
              <a:lumOff val="60000"/>
            </a:schemeClr>
          </a:solidFill>
        </p:spPr>
        <p:txBody>
          <a:bodyPr wrap="square" rtlCol="0">
            <a:spAutoFit/>
          </a:bodyPr>
          <a:lstStyle>
            <a:defPPr>
              <a:defRPr lang="en-US"/>
            </a:defPPr>
            <a:lvl1pPr>
              <a:defRPr sz="2000">
                <a:effectLst>
                  <a:outerShdw blurRad="38100" dist="38100" dir="2700000" algn="tl">
                    <a:srgbClr val="000000">
                      <a:alpha val="43137"/>
                    </a:srgbClr>
                  </a:outerShdw>
                </a:effectLst>
              </a:defRPr>
            </a:lvl1pPr>
          </a:lstStyle>
          <a:p>
            <a:r>
              <a:rPr lang="en-US" sz="1800" dirty="0"/>
              <a:t>3. Computational Geometry</a:t>
            </a:r>
          </a:p>
        </p:txBody>
      </p:sp>
      <p:sp>
        <p:nvSpPr>
          <p:cNvPr id="15" name="Chevron 14"/>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16" name="Chevron 15"/>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17" name="Chevron 16"/>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40514665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752901" y="1237392"/>
            <a:ext cx="4904876" cy="1148821"/>
          </a:xfrm>
        </p:spPr>
        <p:txBody>
          <a:bodyPr>
            <a:normAutofit/>
          </a:bodyPr>
          <a:lstStyle/>
          <a:p>
            <a:r>
              <a:rPr lang="en-US" sz="2000" b="1" u="sng" dirty="0"/>
              <a:t>Create</a:t>
            </a:r>
            <a:r>
              <a:rPr lang="en-US" sz="2000" u="sng" dirty="0"/>
              <a:t> </a:t>
            </a:r>
            <a:r>
              <a:rPr lang="en-US" sz="2000" b="1" u="sng" dirty="0"/>
              <a:t>cell</a:t>
            </a:r>
            <a:r>
              <a:rPr lang="en-US" sz="2000" u="sng" dirty="0"/>
              <a:t> </a:t>
            </a:r>
            <a:r>
              <a:rPr lang="en-US" sz="2000" b="1" u="sng" dirty="0"/>
              <a:t>with</a:t>
            </a:r>
            <a:r>
              <a:rPr lang="en-US" sz="2000" u="sng" dirty="0"/>
              <a:t> </a:t>
            </a:r>
            <a:r>
              <a:rPr lang="en-US" sz="2000" b="1" u="sng" dirty="0"/>
              <a:t>intersection</a:t>
            </a:r>
            <a:r>
              <a:rPr lang="en-US" sz="2000" u="sng" dirty="0"/>
              <a:t> </a:t>
            </a:r>
            <a:r>
              <a:rPr lang="en-US" sz="2000" b="1" u="sng" dirty="0"/>
              <a:t>of</a:t>
            </a:r>
            <a:r>
              <a:rPr lang="en-US" sz="2000" u="sng" dirty="0"/>
              <a:t> </a:t>
            </a:r>
            <a:r>
              <a:rPr lang="en-US" sz="2000" b="1" u="sng" dirty="0"/>
              <a:t>spaces</a:t>
            </a:r>
          </a:p>
        </p:txBody>
      </p:sp>
      <p:pic>
        <p:nvPicPr>
          <p:cNvPr id="5" name="Picture 4"/>
          <p:cNvPicPr>
            <a:picLocks noChangeAspect="1"/>
          </p:cNvPicPr>
          <p:nvPr/>
        </p:nvPicPr>
        <p:blipFill>
          <a:blip r:embed="rId2"/>
          <a:stretch>
            <a:fillRect/>
          </a:stretch>
        </p:blipFill>
        <p:spPr>
          <a:xfrm>
            <a:off x="1124126" y="2083686"/>
            <a:ext cx="3257550" cy="2362200"/>
          </a:xfrm>
          <a:prstGeom prst="rect">
            <a:avLst/>
          </a:prstGeom>
        </p:spPr>
      </p:pic>
      <p:sp>
        <p:nvSpPr>
          <p:cNvPr id="7" name="TextBox 6"/>
          <p:cNvSpPr txBox="1"/>
          <p:nvPr/>
        </p:nvSpPr>
        <p:spPr>
          <a:xfrm>
            <a:off x="967560" y="4284988"/>
            <a:ext cx="7655741" cy="830997"/>
          </a:xfrm>
          <a:prstGeom prst="rect">
            <a:avLst/>
          </a:prstGeom>
          <a:solidFill>
            <a:schemeClr val="accent1">
              <a:lumMod val="20000"/>
              <a:lumOff val="80000"/>
            </a:schemeClr>
          </a:solidFill>
        </p:spPr>
        <p:txBody>
          <a:bodyPr wrap="square" rtlCol="0">
            <a:spAutoFit/>
          </a:bodyPr>
          <a:lstStyle/>
          <a:p>
            <a:r>
              <a:rPr lang="en-US" sz="2000" dirty="0"/>
              <a:t>1      1      -18.74  </a:t>
            </a:r>
            <a:r>
              <a:rPr lang="en-US" sz="2400" b="1" dirty="0"/>
              <a:t> </a:t>
            </a:r>
            <a:r>
              <a:rPr lang="en-US" sz="2400" b="1" dirty="0">
                <a:solidFill>
                  <a:srgbClr val="C00000"/>
                </a:solidFill>
              </a:rPr>
              <a:t>-1</a:t>
            </a:r>
            <a:r>
              <a:rPr lang="en-US" sz="2400" b="1" dirty="0"/>
              <a:t>       </a:t>
            </a:r>
            <a:r>
              <a:rPr lang="en-US" sz="2000" dirty="0"/>
              <a:t>imp:n=1   $   enriched uranium sphere (godiva)</a:t>
            </a:r>
          </a:p>
          <a:p>
            <a:r>
              <a:rPr lang="en-US" sz="2000" dirty="0"/>
              <a:t>2      0                     </a:t>
            </a:r>
            <a:r>
              <a:rPr lang="en-US" sz="2400" b="1" dirty="0"/>
              <a:t> </a:t>
            </a:r>
            <a:r>
              <a:rPr lang="en-US" sz="2400" b="1" dirty="0">
                <a:solidFill>
                  <a:srgbClr val="C00000"/>
                </a:solidFill>
              </a:rPr>
              <a:t>1 </a:t>
            </a:r>
            <a:r>
              <a:rPr lang="en-US" sz="2400" b="1" dirty="0"/>
              <a:t>      </a:t>
            </a:r>
            <a:r>
              <a:rPr lang="en-US" sz="2000" dirty="0"/>
              <a:t>imp:n=0   $   all space outside the sphere</a:t>
            </a:r>
          </a:p>
        </p:txBody>
      </p:sp>
      <p:sp>
        <p:nvSpPr>
          <p:cNvPr id="8" name="TextBox 7"/>
          <p:cNvSpPr txBox="1"/>
          <p:nvPr/>
        </p:nvSpPr>
        <p:spPr>
          <a:xfrm>
            <a:off x="967560" y="5433808"/>
            <a:ext cx="7655741" cy="400110"/>
          </a:xfrm>
          <a:prstGeom prst="rect">
            <a:avLst/>
          </a:prstGeom>
          <a:solidFill>
            <a:schemeClr val="accent1">
              <a:lumMod val="40000"/>
              <a:lumOff val="60000"/>
            </a:schemeClr>
          </a:solidFill>
        </p:spPr>
        <p:txBody>
          <a:bodyPr wrap="square" rtlCol="0">
            <a:spAutoFit/>
          </a:bodyPr>
          <a:lstStyle/>
          <a:p>
            <a:r>
              <a:rPr lang="en-US" sz="2000" b="1" dirty="0">
                <a:solidFill>
                  <a:sysClr val="windowText" lastClr="000000"/>
                </a:solidFill>
              </a:rPr>
              <a:t>1 </a:t>
            </a:r>
            <a:r>
              <a:rPr lang="en-US" dirty="0">
                <a:solidFill>
                  <a:sysClr val="windowText" lastClr="000000"/>
                </a:solidFill>
              </a:rPr>
              <a:t>    so      8.741                             $ radius of the godiva sphere</a:t>
            </a:r>
          </a:p>
        </p:txBody>
      </p:sp>
      <p:sp>
        <p:nvSpPr>
          <p:cNvPr id="16"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cxnSp>
        <p:nvCxnSpPr>
          <p:cNvPr id="18" name="Straight Arrow Connector 17"/>
          <p:cNvCxnSpPr/>
          <p:nvPr/>
        </p:nvCxnSpPr>
        <p:spPr>
          <a:xfrm flipV="1">
            <a:off x="1257300" y="4597401"/>
            <a:ext cx="1562100" cy="1036462"/>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flipV="1">
            <a:off x="1257300" y="4940301"/>
            <a:ext cx="1562100" cy="693562"/>
          </a:xfrm>
          <a:prstGeom prst="straightConnector1">
            <a:avLst/>
          </a:prstGeom>
          <a:ln>
            <a:solidFill>
              <a:schemeClr val="accent6">
                <a:lumMod val="7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1" name="Chevron 20"/>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2" name="Chevron 21"/>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3" name="Chevron 22"/>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3" name="Oval 2"/>
          <p:cNvSpPr/>
          <p:nvPr/>
        </p:nvSpPr>
        <p:spPr>
          <a:xfrm>
            <a:off x="5424949" y="2317515"/>
            <a:ext cx="1574506" cy="1498924"/>
          </a:xfrm>
          <a:prstGeom prst="ellipse">
            <a:avLst/>
          </a:prstGeom>
          <a:noFill/>
          <a:ln w="571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solidFill>
                  <a:srgbClr val="00B050"/>
                </a:solidFill>
              </a:rPr>
              <a:t>Godiva Reactor</a:t>
            </a:r>
          </a:p>
        </p:txBody>
      </p:sp>
      <p:sp>
        <p:nvSpPr>
          <p:cNvPr id="4" name="TextBox 3"/>
          <p:cNvSpPr txBox="1"/>
          <p:nvPr/>
        </p:nvSpPr>
        <p:spPr>
          <a:xfrm>
            <a:off x="7269889" y="3157288"/>
            <a:ext cx="1090683" cy="461665"/>
          </a:xfrm>
          <a:prstGeom prst="rect">
            <a:avLst/>
          </a:prstGeom>
          <a:noFill/>
        </p:spPr>
        <p:txBody>
          <a:bodyPr wrap="none" rtlCol="0">
            <a:spAutoFit/>
          </a:bodyPr>
          <a:lstStyle/>
          <a:p>
            <a:r>
              <a:rPr lang="en-US" dirty="0"/>
              <a:t>Surface </a:t>
            </a:r>
            <a:r>
              <a:rPr lang="en-US" sz="2400" dirty="0"/>
              <a:t>1</a:t>
            </a:r>
            <a:endParaRPr lang="en-US" dirty="0"/>
          </a:p>
        </p:txBody>
      </p:sp>
      <p:cxnSp>
        <p:nvCxnSpPr>
          <p:cNvPr id="10" name="Straight Arrow Connector 9"/>
          <p:cNvCxnSpPr>
            <a:stCxn id="4" idx="1"/>
            <a:endCxn id="3" idx="6"/>
          </p:cNvCxnSpPr>
          <p:nvPr/>
        </p:nvCxnSpPr>
        <p:spPr>
          <a:xfrm flipH="1" flipV="1">
            <a:off x="6999456" y="3066978"/>
            <a:ext cx="270433" cy="321143"/>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24" name="TextBox 23"/>
          <p:cNvSpPr txBox="1"/>
          <p:nvPr/>
        </p:nvSpPr>
        <p:spPr>
          <a:xfrm>
            <a:off x="561214" y="1092504"/>
            <a:ext cx="2811379" cy="369332"/>
          </a:xfrm>
          <a:prstGeom prst="rect">
            <a:avLst/>
          </a:prstGeom>
          <a:solidFill>
            <a:schemeClr val="accent6">
              <a:lumMod val="40000"/>
              <a:lumOff val="60000"/>
            </a:schemeClr>
          </a:solidFill>
        </p:spPr>
        <p:txBody>
          <a:bodyPr wrap="square" rtlCol="0">
            <a:spAutoFit/>
          </a:bodyPr>
          <a:lstStyle>
            <a:defPPr>
              <a:defRPr lang="en-US"/>
            </a:defPPr>
            <a:lvl1pPr>
              <a:defRPr sz="2000">
                <a:effectLst>
                  <a:outerShdw blurRad="38100" dist="38100" dir="2700000" algn="tl">
                    <a:srgbClr val="000000">
                      <a:alpha val="43137"/>
                    </a:srgbClr>
                  </a:outerShdw>
                </a:effectLst>
              </a:defRPr>
            </a:lvl1pPr>
          </a:lstStyle>
          <a:p>
            <a:r>
              <a:rPr lang="en-US" sz="1800" dirty="0"/>
              <a:t>3. Computational Geometry</a:t>
            </a:r>
          </a:p>
        </p:txBody>
      </p:sp>
    </p:spTree>
    <p:extLst>
      <p:ext uri="{BB962C8B-B14F-4D97-AF65-F5344CB8AC3E}">
        <p14:creationId xmlns:p14="http://schemas.microsoft.com/office/powerpoint/2010/main" val="199018961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83770" y="1874751"/>
            <a:ext cx="4465863" cy="2907727"/>
          </a:xfrm>
        </p:spPr>
        <p:txBody>
          <a:bodyPr>
            <a:normAutofit fontScale="92500" lnSpcReduction="20000"/>
          </a:bodyPr>
          <a:lstStyle/>
          <a:p>
            <a:pPr marL="0" indent="0">
              <a:buNone/>
            </a:pPr>
            <a:r>
              <a:rPr lang="en-US" sz="2000" u="sng" dirty="0"/>
              <a:t>Finding cell for a co-ordinate</a:t>
            </a:r>
          </a:p>
          <a:p>
            <a:pPr marL="0" indent="0">
              <a:buNone/>
            </a:pPr>
            <a:endParaRPr lang="en-US" dirty="0"/>
          </a:p>
          <a:p>
            <a:pPr marL="0" indent="0">
              <a:buNone/>
            </a:pPr>
            <a:r>
              <a:rPr lang="en-US" sz="2000" dirty="0"/>
              <a:t>For all cells and each surfaces of a cell</a:t>
            </a:r>
          </a:p>
          <a:p>
            <a:pPr marL="0" indent="0">
              <a:buNone/>
            </a:pPr>
            <a:r>
              <a:rPr lang="en-US" sz="2000" dirty="0"/>
              <a:t>(</a:t>
            </a:r>
            <a:r>
              <a:rPr lang="en-US" sz="2000" b="1" dirty="0"/>
              <a:t>substitute particle co-ordinates in    surface equation</a:t>
            </a:r>
            <a:r>
              <a:rPr lang="en-US" sz="2000" dirty="0"/>
              <a:t>)</a:t>
            </a:r>
          </a:p>
          <a:p>
            <a:pPr marL="0" indent="0">
              <a:buNone/>
            </a:pPr>
            <a:r>
              <a:rPr lang="en-US" sz="2000" dirty="0"/>
              <a:t>(</a:t>
            </a:r>
            <a:r>
              <a:rPr lang="en-US" sz="2000" i="1" dirty="0"/>
              <a:t>if any one surface doesn’t satisfy the user defined geometry specification – </a:t>
            </a:r>
            <a:r>
              <a:rPr lang="en-US" sz="2000" b="1" dirty="0"/>
              <a:t>particle is outside</a:t>
            </a:r>
            <a:r>
              <a:rPr lang="en-US" sz="2000" dirty="0"/>
              <a:t>)</a:t>
            </a:r>
          </a:p>
          <a:p>
            <a:pPr marL="0" indent="0">
              <a:buNone/>
            </a:pPr>
            <a:r>
              <a:rPr lang="en-US" dirty="0"/>
              <a:t>        </a:t>
            </a:r>
          </a:p>
          <a:p>
            <a:endParaRPr lang="en-US" dirty="0"/>
          </a:p>
        </p:txBody>
      </p:sp>
      <p:pic>
        <p:nvPicPr>
          <p:cNvPr id="4" name="Picture 3"/>
          <p:cNvPicPr>
            <a:picLocks noChangeAspect="1"/>
          </p:cNvPicPr>
          <p:nvPr/>
        </p:nvPicPr>
        <p:blipFill>
          <a:blip r:embed="rId2"/>
          <a:stretch>
            <a:fillRect/>
          </a:stretch>
        </p:blipFill>
        <p:spPr>
          <a:xfrm>
            <a:off x="795691" y="4622079"/>
            <a:ext cx="2905125" cy="1638300"/>
          </a:xfrm>
          <a:prstGeom prst="rect">
            <a:avLst/>
          </a:prstGeom>
        </p:spPr>
      </p:pic>
      <p:sp>
        <p:nvSpPr>
          <p:cNvPr id="12"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5" name="Title 1"/>
          <p:cNvSpPr>
            <a:spLocks noGrp="1"/>
          </p:cNvSpPr>
          <p:nvPr>
            <p:ph type="title"/>
          </p:nvPr>
        </p:nvSpPr>
        <p:spPr>
          <a:xfrm>
            <a:off x="5102223" y="1716827"/>
            <a:ext cx="2860676" cy="636913"/>
          </a:xfrm>
        </p:spPr>
        <p:txBody>
          <a:bodyPr>
            <a:normAutofit/>
          </a:bodyPr>
          <a:lstStyle/>
          <a:p>
            <a:r>
              <a:rPr lang="en-US" sz="2000" u="sng" dirty="0">
                <a:latin typeface="+mn-lt"/>
              </a:rPr>
              <a:t>Distance to boundary</a:t>
            </a:r>
          </a:p>
        </p:txBody>
      </p:sp>
      <p:sp>
        <p:nvSpPr>
          <p:cNvPr id="16" name="Content Placeholder 2"/>
          <p:cNvSpPr txBox="1">
            <a:spLocks/>
          </p:cNvSpPr>
          <p:nvPr/>
        </p:nvSpPr>
        <p:spPr>
          <a:xfrm>
            <a:off x="4989498" y="2474604"/>
            <a:ext cx="3721552" cy="1855392"/>
          </a:xfrm>
          <a:prstGeom prst="rect">
            <a:avLst/>
          </a:prstGeom>
        </p:spPr>
        <p:txBody>
          <a:bodyPr vert="horz" lIns="91440" tIns="45720" rIns="91440" bIns="45720" rtlCol="0">
            <a:noAutofit/>
          </a:bodyPr>
          <a:lst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indent="0">
              <a:buNone/>
            </a:pPr>
            <a:r>
              <a:rPr lang="en-US" sz="2000" dirty="0"/>
              <a:t>  </a:t>
            </a:r>
            <a:r>
              <a:rPr lang="en-US" sz="2000" i="1" dirty="0"/>
              <a:t>For a cell and each surfaces</a:t>
            </a:r>
          </a:p>
          <a:p>
            <a:pPr marL="0" indent="0">
              <a:buNone/>
            </a:pPr>
            <a:r>
              <a:rPr lang="en-US" sz="2000" i="1" dirty="0"/>
              <a:t>  Evaluate</a:t>
            </a:r>
            <a:r>
              <a:rPr lang="en-US" sz="2000" dirty="0"/>
              <a:t>:</a:t>
            </a:r>
          </a:p>
          <a:p>
            <a:pPr marL="0" indent="0">
              <a:buNone/>
            </a:pPr>
            <a:r>
              <a:rPr lang="en-US" sz="2000" b="1" dirty="0"/>
              <a:t>  </a:t>
            </a:r>
            <a:r>
              <a:rPr lang="en-US" sz="2000" b="1" dirty="0" err="1"/>
              <a:t>D</a:t>
            </a:r>
            <a:r>
              <a:rPr lang="en-US" sz="2000" b="1" baseline="-25000" dirty="0" err="1"/>
              <a:t>surf</a:t>
            </a:r>
            <a:r>
              <a:rPr lang="en-US" sz="2000" b="1" dirty="0"/>
              <a:t> </a:t>
            </a:r>
            <a:r>
              <a:rPr lang="en-US" sz="2000" dirty="0"/>
              <a:t>= </a:t>
            </a:r>
            <a:r>
              <a:rPr lang="en-US" sz="2000" b="1" dirty="0"/>
              <a:t>smallest positive root of</a:t>
            </a:r>
          </a:p>
          <a:p>
            <a:pPr marL="0" indent="0">
              <a:buNone/>
            </a:pPr>
            <a:r>
              <a:rPr lang="fr-FR" sz="2000" b="1" dirty="0"/>
              <a:t>  </a:t>
            </a:r>
            <a:r>
              <a:rPr lang="fr-FR" sz="2000" b="1" dirty="0" err="1"/>
              <a:t>F</a:t>
            </a:r>
            <a:r>
              <a:rPr lang="fr-FR" sz="2000" b="1" baseline="-25000" dirty="0" err="1"/>
              <a:t>surf</a:t>
            </a:r>
            <a:r>
              <a:rPr lang="fr-FR" sz="2000" b="1" dirty="0"/>
              <a:t>( x, y, z ) = 0</a:t>
            </a:r>
          </a:p>
          <a:p>
            <a:pPr marL="0" indent="0">
              <a:buNone/>
            </a:pPr>
            <a:r>
              <a:rPr lang="fr-FR" sz="2000" b="1" dirty="0"/>
              <a:t>  d = min ( d, </a:t>
            </a:r>
            <a:r>
              <a:rPr lang="fr-FR" sz="2000" b="1" dirty="0" err="1"/>
              <a:t>D</a:t>
            </a:r>
            <a:r>
              <a:rPr lang="fr-FR" sz="2000" b="1" baseline="-25000" dirty="0" err="1"/>
              <a:t>surf</a:t>
            </a:r>
            <a:r>
              <a:rPr lang="fr-FR" sz="2000" b="1" dirty="0"/>
              <a:t> )</a:t>
            </a:r>
            <a:endParaRPr lang="en-US" sz="2000" dirty="0"/>
          </a:p>
        </p:txBody>
      </p:sp>
      <p:sp>
        <p:nvSpPr>
          <p:cNvPr id="17" name="Rectangle 16"/>
          <p:cNvSpPr/>
          <p:nvPr/>
        </p:nvSpPr>
        <p:spPr>
          <a:xfrm>
            <a:off x="5758781" y="4961018"/>
            <a:ext cx="2141992" cy="1161514"/>
          </a:xfrm>
          <a:prstGeom prst="rect">
            <a:avLst/>
          </a:prstGeom>
          <a:solidFill>
            <a:schemeClr val="bg1"/>
          </a:solidFill>
          <a:ln w="19050"/>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6000" b="1" dirty="0">
                <a:solidFill>
                  <a:srgbClr val="C00000"/>
                </a:solidFill>
              </a:rPr>
              <a:t>.</a:t>
            </a:r>
          </a:p>
        </p:txBody>
      </p:sp>
      <p:cxnSp>
        <p:nvCxnSpPr>
          <p:cNvPr id="18" name="Straight Arrow Connector 17"/>
          <p:cNvCxnSpPr/>
          <p:nvPr/>
        </p:nvCxnSpPr>
        <p:spPr>
          <a:xfrm flipV="1">
            <a:off x="7028655" y="5241247"/>
            <a:ext cx="872118" cy="422152"/>
          </a:xfrm>
          <a:prstGeom prst="straightConnector1">
            <a:avLst/>
          </a:prstGeom>
          <a:ln w="28575">
            <a:tailEnd type="triangle"/>
          </a:ln>
        </p:spPr>
        <p:style>
          <a:lnRef idx="1">
            <a:schemeClr val="accent1"/>
          </a:lnRef>
          <a:fillRef idx="0">
            <a:schemeClr val="accent1"/>
          </a:fillRef>
          <a:effectRef idx="0">
            <a:schemeClr val="accent1"/>
          </a:effectRef>
          <a:fontRef idx="minor">
            <a:schemeClr val="tx1"/>
          </a:fontRef>
        </p:style>
      </p:cxnSp>
      <p:cxnSp>
        <p:nvCxnSpPr>
          <p:cNvPr id="19" name="Straight Connector 18"/>
          <p:cNvCxnSpPr/>
          <p:nvPr/>
        </p:nvCxnSpPr>
        <p:spPr>
          <a:xfrm>
            <a:off x="7583667" y="4961017"/>
            <a:ext cx="1202703" cy="0"/>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0" name="Straight Connector 19"/>
          <p:cNvCxnSpPr/>
          <p:nvPr/>
        </p:nvCxnSpPr>
        <p:spPr>
          <a:xfrm flipV="1">
            <a:off x="7900773" y="5202748"/>
            <a:ext cx="0" cy="47933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flipV="1">
            <a:off x="7900774" y="4961017"/>
            <a:ext cx="557179" cy="280230"/>
          </a:xfrm>
          <a:prstGeom prst="straightConnector1">
            <a:avLst/>
          </a:prstGeom>
          <a:ln>
            <a:solidFill>
              <a:srgbClr val="FF0000"/>
            </a:solidFill>
            <a:prstDash val="dash"/>
            <a:tailEnd type="triangle"/>
          </a:ln>
        </p:spPr>
        <p:style>
          <a:lnRef idx="1">
            <a:schemeClr val="accent1"/>
          </a:lnRef>
          <a:fillRef idx="0">
            <a:schemeClr val="accent1"/>
          </a:fillRef>
          <a:effectRef idx="0">
            <a:schemeClr val="accent1"/>
          </a:effectRef>
          <a:fontRef idx="minor">
            <a:schemeClr val="tx1"/>
          </a:fontRef>
        </p:style>
      </p:cxnSp>
      <p:cxnSp>
        <p:nvCxnSpPr>
          <p:cNvPr id="22" name="Straight Connector 21"/>
          <p:cNvCxnSpPr/>
          <p:nvPr/>
        </p:nvCxnSpPr>
        <p:spPr>
          <a:xfrm flipV="1">
            <a:off x="7900773" y="4525854"/>
            <a:ext cx="0" cy="1248815"/>
          </a:xfrm>
          <a:prstGeom prst="line">
            <a:avLst/>
          </a:prstGeom>
          <a:ln w="19050">
            <a:prstDash val="dash"/>
          </a:ln>
        </p:spPr>
        <p:style>
          <a:lnRef idx="1">
            <a:schemeClr val="accent1"/>
          </a:lnRef>
          <a:fillRef idx="0">
            <a:schemeClr val="accent1"/>
          </a:fillRef>
          <a:effectRef idx="0">
            <a:schemeClr val="accent1"/>
          </a:effectRef>
          <a:fontRef idx="minor">
            <a:schemeClr val="tx1"/>
          </a:fontRef>
        </p:style>
      </p:cxnSp>
      <p:sp>
        <p:nvSpPr>
          <p:cNvPr id="23" name="Chevron 22"/>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4" name="Chevron 23"/>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25" name="Chevron 24"/>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26" name="TextBox 25"/>
          <p:cNvSpPr txBox="1"/>
          <p:nvPr/>
        </p:nvSpPr>
        <p:spPr>
          <a:xfrm>
            <a:off x="561214" y="1092504"/>
            <a:ext cx="2811379" cy="369332"/>
          </a:xfrm>
          <a:prstGeom prst="rect">
            <a:avLst/>
          </a:prstGeom>
          <a:solidFill>
            <a:schemeClr val="accent6">
              <a:lumMod val="40000"/>
              <a:lumOff val="60000"/>
            </a:schemeClr>
          </a:solidFill>
        </p:spPr>
        <p:txBody>
          <a:bodyPr wrap="square" rtlCol="0">
            <a:spAutoFit/>
          </a:bodyPr>
          <a:lstStyle>
            <a:defPPr>
              <a:defRPr lang="en-US"/>
            </a:defPPr>
            <a:lvl1pPr>
              <a:defRPr sz="2000">
                <a:effectLst>
                  <a:outerShdw blurRad="38100" dist="38100" dir="2700000" algn="tl">
                    <a:srgbClr val="000000">
                      <a:alpha val="43137"/>
                    </a:srgbClr>
                  </a:outerShdw>
                </a:effectLst>
              </a:defRPr>
            </a:lvl1pPr>
          </a:lstStyle>
          <a:p>
            <a:r>
              <a:rPr lang="en-US" sz="1800" dirty="0"/>
              <a:t>3. Computational Geometry</a:t>
            </a:r>
          </a:p>
        </p:txBody>
      </p:sp>
    </p:spTree>
    <p:extLst>
      <p:ext uri="{BB962C8B-B14F-4D97-AF65-F5344CB8AC3E}">
        <p14:creationId xmlns:p14="http://schemas.microsoft.com/office/powerpoint/2010/main" val="248151402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71476" y="2108890"/>
            <a:ext cx="8772524" cy="1578398"/>
          </a:xfrm>
        </p:spPr>
        <p:txBody>
          <a:bodyPr>
            <a:normAutofit/>
          </a:bodyPr>
          <a:lstStyle/>
          <a:p>
            <a:r>
              <a:rPr lang="en-US" sz="2000" dirty="0"/>
              <a:t>Cross surface  --   Handles surface crossings</a:t>
            </a:r>
          </a:p>
          <a:p>
            <a:r>
              <a:rPr lang="en-US" sz="2000" dirty="0"/>
              <a:t>Cell contains   --   to check whether particle in a cell</a:t>
            </a:r>
          </a:p>
          <a:p>
            <a:pPr defTabSz="600075"/>
            <a:r>
              <a:rPr lang="en-US" sz="2000" dirty="0"/>
              <a:t>Sense               --   checks the sense of all type of surfaces with a given co-ordinate</a:t>
            </a:r>
          </a:p>
          <a:p>
            <a:r>
              <a:rPr lang="en-US" sz="2000" dirty="0"/>
              <a:t>Neighbor list   –   which is used in surface crossing</a:t>
            </a:r>
          </a:p>
        </p:txBody>
      </p:sp>
      <p:sp>
        <p:nvSpPr>
          <p:cNvPr id="11"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3" name="TextBox 12"/>
          <p:cNvSpPr txBox="1"/>
          <p:nvPr/>
        </p:nvSpPr>
        <p:spPr>
          <a:xfrm>
            <a:off x="2248254" y="4012058"/>
            <a:ext cx="4162907" cy="1631216"/>
          </a:xfrm>
          <a:prstGeom prst="rect">
            <a:avLst/>
          </a:prstGeom>
          <a:noFill/>
        </p:spPr>
        <p:txBody>
          <a:bodyPr wrap="square" rtlCol="0">
            <a:spAutoFit/>
          </a:bodyPr>
          <a:lstStyle/>
          <a:p>
            <a:pPr algn="ctr"/>
            <a:r>
              <a:rPr lang="en-US" sz="2000" b="1" dirty="0">
                <a:solidFill>
                  <a:srgbClr val="00B050"/>
                </a:solidFill>
              </a:rPr>
              <a:t>Module geometry</a:t>
            </a:r>
          </a:p>
          <a:p>
            <a:pPr algn="ctr"/>
            <a:endParaRPr lang="en-US" sz="2000" b="1" dirty="0">
              <a:solidFill>
                <a:srgbClr val="00B050"/>
              </a:solidFill>
            </a:endParaRPr>
          </a:p>
          <a:p>
            <a:pPr algn="ctr"/>
            <a:r>
              <a:rPr lang="en-US" sz="2000" b="1" dirty="0">
                <a:solidFill>
                  <a:srgbClr val="00B050"/>
                </a:solidFill>
              </a:rPr>
              <a:t>Status of a particle and various other parameters of a particle in user defined geometry specification</a:t>
            </a:r>
          </a:p>
        </p:txBody>
      </p:sp>
      <p:sp>
        <p:nvSpPr>
          <p:cNvPr id="15" name="Chevron 14"/>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16" name="Chevron 15"/>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17" name="Chevron 16"/>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18" name="TextBox 17"/>
          <p:cNvSpPr txBox="1"/>
          <p:nvPr/>
        </p:nvSpPr>
        <p:spPr>
          <a:xfrm>
            <a:off x="561214" y="1092504"/>
            <a:ext cx="2811379" cy="369332"/>
          </a:xfrm>
          <a:prstGeom prst="rect">
            <a:avLst/>
          </a:prstGeom>
          <a:solidFill>
            <a:schemeClr val="accent6">
              <a:lumMod val="40000"/>
              <a:lumOff val="60000"/>
            </a:schemeClr>
          </a:solidFill>
        </p:spPr>
        <p:txBody>
          <a:bodyPr wrap="square" rtlCol="0">
            <a:spAutoFit/>
          </a:bodyPr>
          <a:lstStyle>
            <a:defPPr>
              <a:defRPr lang="en-US"/>
            </a:defPPr>
            <a:lvl1pPr>
              <a:defRPr sz="2000">
                <a:effectLst>
                  <a:outerShdw blurRad="38100" dist="38100" dir="2700000" algn="tl">
                    <a:srgbClr val="000000">
                      <a:alpha val="43137"/>
                    </a:srgbClr>
                  </a:outerShdw>
                </a:effectLst>
              </a:defRPr>
            </a:lvl1pPr>
          </a:lstStyle>
          <a:p>
            <a:r>
              <a:rPr lang="en-US" sz="1800" dirty="0"/>
              <a:t>3. Computational Geometry</a:t>
            </a:r>
          </a:p>
        </p:txBody>
      </p:sp>
    </p:spTree>
    <p:extLst>
      <p:ext uri="{BB962C8B-B14F-4D97-AF65-F5344CB8AC3E}">
        <p14:creationId xmlns:p14="http://schemas.microsoft.com/office/powerpoint/2010/main" val="11682560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29275" y="1146137"/>
            <a:ext cx="3084994" cy="421280"/>
          </a:xfrm>
          <a:gradFill>
            <a:gsLst>
              <a:gs pos="0">
                <a:srgbClr val="F7F0EB"/>
              </a:gs>
              <a:gs pos="54000">
                <a:schemeClr val="accent5">
                  <a:lumMod val="40000"/>
                  <a:lumOff val="60000"/>
                </a:schemeClr>
              </a:gs>
              <a:gs pos="0">
                <a:schemeClr val="accent2">
                  <a:lumMod val="40000"/>
                  <a:lumOff val="60000"/>
                </a:schemeClr>
              </a:gs>
              <a:gs pos="100000">
                <a:schemeClr val="accent6">
                  <a:lumMod val="60000"/>
                  <a:lumOff val="40000"/>
                </a:schemeClr>
              </a:gs>
            </a:gsLst>
            <a:lin ang="5400000" scaled="1"/>
          </a:gradFill>
          <a:ln>
            <a:solidFill>
              <a:schemeClr val="bg1"/>
            </a:solidFill>
          </a:ln>
        </p:spPr>
        <p:txBody>
          <a:bodyPr>
            <a:normAutofit/>
          </a:bodyPr>
          <a:lstStyle/>
          <a:p>
            <a:r>
              <a:rPr lang="en-US" sz="2000" b="1" dirty="0"/>
              <a:t>Simulate a particle (tracking)</a:t>
            </a:r>
          </a:p>
        </p:txBody>
      </p:sp>
      <p:sp>
        <p:nvSpPr>
          <p:cNvPr id="12"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5" name="TextBox 14"/>
          <p:cNvSpPr txBox="1"/>
          <p:nvPr/>
        </p:nvSpPr>
        <p:spPr>
          <a:xfrm>
            <a:off x="7134093" y="1843866"/>
            <a:ext cx="1806443" cy="338554"/>
          </a:xfrm>
          <a:prstGeom prst="rect">
            <a:avLst/>
          </a:prstGeom>
          <a:solidFill>
            <a:schemeClr val="accent6">
              <a:lumMod val="40000"/>
              <a:lumOff val="60000"/>
            </a:schemeClr>
          </a:solidFill>
        </p:spPr>
        <p:txBody>
          <a:bodyPr wrap="square" rtlCol="0">
            <a:spAutoFit/>
          </a:bodyPr>
          <a:lstStyle/>
          <a:p>
            <a:pPr algn="ctr"/>
            <a:r>
              <a:rPr lang="en-US" sz="1600" b="1" dirty="0"/>
              <a:t>Geometry</a:t>
            </a:r>
          </a:p>
        </p:txBody>
      </p:sp>
      <p:sp>
        <p:nvSpPr>
          <p:cNvPr id="16" name="TextBox 15"/>
          <p:cNvSpPr txBox="1"/>
          <p:nvPr/>
        </p:nvSpPr>
        <p:spPr>
          <a:xfrm>
            <a:off x="7134093" y="1505312"/>
            <a:ext cx="1806443" cy="338554"/>
          </a:xfrm>
          <a:prstGeom prst="rect">
            <a:avLst/>
          </a:prstGeom>
          <a:solidFill>
            <a:schemeClr val="accent5">
              <a:lumMod val="20000"/>
              <a:lumOff val="80000"/>
            </a:schemeClr>
          </a:solidFill>
        </p:spPr>
        <p:txBody>
          <a:bodyPr wrap="square" rtlCol="0">
            <a:spAutoFit/>
          </a:bodyPr>
          <a:lstStyle/>
          <a:p>
            <a:pPr algn="ctr"/>
            <a:r>
              <a:rPr lang="en-US" sz="1600" b="1" dirty="0"/>
              <a:t>Required Physics</a:t>
            </a:r>
          </a:p>
        </p:txBody>
      </p:sp>
      <p:sp>
        <p:nvSpPr>
          <p:cNvPr id="19" name="TextBox 18"/>
          <p:cNvSpPr txBox="1"/>
          <p:nvPr/>
        </p:nvSpPr>
        <p:spPr>
          <a:xfrm>
            <a:off x="7134094" y="1202818"/>
            <a:ext cx="1806443" cy="338554"/>
          </a:xfrm>
          <a:prstGeom prst="rect">
            <a:avLst/>
          </a:prstGeom>
          <a:solidFill>
            <a:schemeClr val="accent2">
              <a:lumMod val="20000"/>
              <a:lumOff val="80000"/>
            </a:schemeClr>
          </a:solidFill>
        </p:spPr>
        <p:txBody>
          <a:bodyPr wrap="square" rtlCol="0">
            <a:spAutoFit/>
          </a:bodyPr>
          <a:lstStyle/>
          <a:p>
            <a:pPr algn="ctr"/>
            <a:r>
              <a:rPr lang="en-US" sz="1600" b="1" dirty="0"/>
              <a:t>Random numbers</a:t>
            </a:r>
          </a:p>
        </p:txBody>
      </p:sp>
      <p:sp>
        <p:nvSpPr>
          <p:cNvPr id="6" name="Flowchart: Process 5"/>
          <p:cNvSpPr/>
          <p:nvPr/>
        </p:nvSpPr>
        <p:spPr>
          <a:xfrm>
            <a:off x="3397185" y="1646410"/>
            <a:ext cx="1578683" cy="643564"/>
          </a:xfrm>
          <a:prstGeom prst="flowChartProcess">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Start a particle Find cell</a:t>
            </a:r>
          </a:p>
        </p:txBody>
      </p:sp>
      <p:cxnSp>
        <p:nvCxnSpPr>
          <p:cNvPr id="9" name="Straight Arrow Connector 8"/>
          <p:cNvCxnSpPr>
            <a:stCxn id="6" idx="2"/>
            <a:endCxn id="20" idx="0"/>
          </p:cNvCxnSpPr>
          <p:nvPr/>
        </p:nvCxnSpPr>
        <p:spPr>
          <a:xfrm>
            <a:off x="4186527" y="2289974"/>
            <a:ext cx="3" cy="283118"/>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0" name="Flowchart: Process 19"/>
          <p:cNvSpPr/>
          <p:nvPr/>
        </p:nvSpPr>
        <p:spPr>
          <a:xfrm>
            <a:off x="2601986" y="2573093"/>
            <a:ext cx="3169087" cy="704741"/>
          </a:xfrm>
          <a:prstGeom prst="flowChartProcess">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Calculate:</a:t>
            </a:r>
          </a:p>
          <a:p>
            <a:pPr algn="ctr"/>
            <a:r>
              <a:rPr lang="en-US" sz="1600" dirty="0">
                <a:solidFill>
                  <a:schemeClr val="tx1"/>
                </a:solidFill>
              </a:rPr>
              <a:t>Distance to boundary(DB)</a:t>
            </a:r>
          </a:p>
          <a:p>
            <a:pPr algn="ctr"/>
            <a:r>
              <a:rPr lang="en-US" sz="1600" dirty="0">
                <a:solidFill>
                  <a:schemeClr val="tx1"/>
                </a:solidFill>
              </a:rPr>
              <a:t>Distance to collision(DC)</a:t>
            </a:r>
          </a:p>
        </p:txBody>
      </p:sp>
      <p:sp>
        <p:nvSpPr>
          <p:cNvPr id="21" name="Flowchart: Decision 20"/>
          <p:cNvSpPr/>
          <p:nvPr/>
        </p:nvSpPr>
        <p:spPr>
          <a:xfrm>
            <a:off x="2805530" y="3568151"/>
            <a:ext cx="2761992" cy="437723"/>
          </a:xfrm>
          <a:prstGeom prst="flowChartDecision">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DB &gt; DC ?</a:t>
            </a:r>
          </a:p>
        </p:txBody>
      </p:sp>
      <p:cxnSp>
        <p:nvCxnSpPr>
          <p:cNvPr id="22" name="Straight Arrow Connector 21"/>
          <p:cNvCxnSpPr>
            <a:stCxn id="20" idx="2"/>
            <a:endCxn id="21" idx="0"/>
          </p:cNvCxnSpPr>
          <p:nvPr/>
        </p:nvCxnSpPr>
        <p:spPr>
          <a:xfrm flipH="1">
            <a:off x="4186527" y="3277834"/>
            <a:ext cx="3" cy="29031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29" name="Rectangle 28"/>
          <p:cNvSpPr/>
          <p:nvPr/>
        </p:nvSpPr>
        <p:spPr>
          <a:xfrm>
            <a:off x="5843731" y="2903653"/>
            <a:ext cx="2754024" cy="307777"/>
          </a:xfrm>
          <a:prstGeom prst="rect">
            <a:avLst/>
          </a:prstGeom>
        </p:spPr>
        <p:txBody>
          <a:bodyPr wrap="none">
            <a:spAutoFit/>
          </a:bodyPr>
          <a:lstStyle/>
          <a:p>
            <a:r>
              <a:rPr lang="en-US" sz="1400" dirty="0">
                <a:solidFill>
                  <a:srgbClr val="00B050"/>
                </a:solidFill>
              </a:rPr>
              <a:t>Cross the surface move to new cell</a:t>
            </a:r>
          </a:p>
        </p:txBody>
      </p:sp>
      <p:sp>
        <p:nvSpPr>
          <p:cNvPr id="30" name="Rectangle 29"/>
          <p:cNvSpPr/>
          <p:nvPr/>
        </p:nvSpPr>
        <p:spPr>
          <a:xfrm>
            <a:off x="7201027" y="4028715"/>
            <a:ext cx="1396729" cy="584775"/>
          </a:xfrm>
          <a:prstGeom prst="rect">
            <a:avLst/>
          </a:prstGeom>
        </p:spPr>
        <p:txBody>
          <a:bodyPr wrap="none">
            <a:spAutoFit/>
          </a:bodyPr>
          <a:lstStyle/>
          <a:p>
            <a:r>
              <a:rPr lang="en-US" sz="1600" dirty="0">
                <a:solidFill>
                  <a:srgbClr val="FF0000"/>
                </a:solidFill>
              </a:rPr>
              <a:t>if no cell,</a:t>
            </a:r>
          </a:p>
          <a:p>
            <a:r>
              <a:rPr lang="en-US" sz="1600" dirty="0">
                <a:solidFill>
                  <a:srgbClr val="FF0000"/>
                </a:solidFill>
              </a:rPr>
              <a:t>Particle leaked</a:t>
            </a:r>
          </a:p>
        </p:txBody>
      </p:sp>
      <p:sp>
        <p:nvSpPr>
          <p:cNvPr id="31" name="Flowchart: Process 30"/>
          <p:cNvSpPr/>
          <p:nvPr/>
        </p:nvSpPr>
        <p:spPr>
          <a:xfrm>
            <a:off x="2768345" y="4323855"/>
            <a:ext cx="2836365" cy="579268"/>
          </a:xfrm>
          <a:prstGeom prst="flowChartProcess">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got collision, handle in physics module</a:t>
            </a:r>
          </a:p>
        </p:txBody>
      </p:sp>
      <p:cxnSp>
        <p:nvCxnSpPr>
          <p:cNvPr id="33" name="Straight Arrow Connector 32"/>
          <p:cNvCxnSpPr>
            <a:stCxn id="21" idx="2"/>
            <a:endCxn id="31" idx="0"/>
          </p:cNvCxnSpPr>
          <p:nvPr/>
        </p:nvCxnSpPr>
        <p:spPr>
          <a:xfrm>
            <a:off x="4186527" y="4005873"/>
            <a:ext cx="1" cy="31798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35" name="Flowchart: Decision 34"/>
          <p:cNvSpPr/>
          <p:nvPr/>
        </p:nvSpPr>
        <p:spPr>
          <a:xfrm>
            <a:off x="3184849" y="5154188"/>
            <a:ext cx="2004165" cy="381074"/>
          </a:xfrm>
          <a:prstGeom prst="flowChartDecision">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Alive ?</a:t>
            </a:r>
          </a:p>
        </p:txBody>
      </p:sp>
      <p:sp>
        <p:nvSpPr>
          <p:cNvPr id="36" name="Flowchart: Decision 35"/>
          <p:cNvSpPr/>
          <p:nvPr/>
        </p:nvSpPr>
        <p:spPr>
          <a:xfrm>
            <a:off x="6321043" y="3559706"/>
            <a:ext cx="1657615" cy="383879"/>
          </a:xfrm>
          <a:prstGeom prst="flowChartDecision">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1600" dirty="0">
                <a:solidFill>
                  <a:schemeClr val="tx1"/>
                </a:solidFill>
              </a:rPr>
              <a:t>Cell ?</a:t>
            </a:r>
          </a:p>
        </p:txBody>
      </p:sp>
      <p:sp>
        <p:nvSpPr>
          <p:cNvPr id="37" name="Rectangle 36"/>
          <p:cNvSpPr/>
          <p:nvPr/>
        </p:nvSpPr>
        <p:spPr>
          <a:xfrm>
            <a:off x="3314269" y="5996814"/>
            <a:ext cx="1744516" cy="338554"/>
          </a:xfrm>
          <a:prstGeom prst="rect">
            <a:avLst/>
          </a:prstGeom>
          <a:solidFill>
            <a:schemeClr val="accent3">
              <a:lumMod val="40000"/>
              <a:lumOff val="60000"/>
            </a:schemeClr>
          </a:solidFill>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600" dirty="0">
                <a:solidFill>
                  <a:srgbClr val="FF0000"/>
                </a:solidFill>
              </a:rPr>
              <a:t>Terminate particle </a:t>
            </a:r>
          </a:p>
        </p:txBody>
      </p:sp>
      <p:cxnSp>
        <p:nvCxnSpPr>
          <p:cNvPr id="39" name="Elbow Connector 38"/>
          <p:cNvCxnSpPr>
            <a:stCxn id="36" idx="2"/>
            <a:endCxn id="37" idx="3"/>
          </p:cNvCxnSpPr>
          <p:nvPr/>
        </p:nvCxnSpPr>
        <p:spPr>
          <a:xfrm rot="5400000">
            <a:off x="4993066" y="4009306"/>
            <a:ext cx="2222507" cy="2091065"/>
          </a:xfrm>
          <a:prstGeom prst="bentConnector2">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41" name="Elbow Connector 40"/>
          <p:cNvCxnSpPr>
            <a:stCxn id="35" idx="1"/>
            <a:endCxn id="20" idx="1"/>
          </p:cNvCxnSpPr>
          <p:nvPr/>
        </p:nvCxnSpPr>
        <p:spPr>
          <a:xfrm rot="10800000">
            <a:off x="2601987" y="2925463"/>
            <a:ext cx="582863" cy="2419262"/>
          </a:xfrm>
          <a:prstGeom prst="bentConnector3">
            <a:avLst>
              <a:gd name="adj1" fmla="val 311076"/>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a:stCxn id="31" idx="2"/>
            <a:endCxn id="35" idx="0"/>
          </p:cNvCxnSpPr>
          <p:nvPr/>
        </p:nvCxnSpPr>
        <p:spPr>
          <a:xfrm>
            <a:off x="4186527" y="4903124"/>
            <a:ext cx="404" cy="251065"/>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1" name="Straight Arrow Connector 70"/>
          <p:cNvCxnSpPr>
            <a:stCxn id="21" idx="3"/>
            <a:endCxn id="36" idx="1"/>
          </p:cNvCxnSpPr>
          <p:nvPr/>
        </p:nvCxnSpPr>
        <p:spPr>
          <a:xfrm flipV="1">
            <a:off x="5567522" y="3751646"/>
            <a:ext cx="753520" cy="35367"/>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3" name="Elbow Connector 72"/>
          <p:cNvCxnSpPr>
            <a:stCxn id="36" idx="3"/>
            <a:endCxn id="20" idx="3"/>
          </p:cNvCxnSpPr>
          <p:nvPr/>
        </p:nvCxnSpPr>
        <p:spPr>
          <a:xfrm flipH="1" flipV="1">
            <a:off x="5771073" y="2925463"/>
            <a:ext cx="2207585" cy="826182"/>
          </a:xfrm>
          <a:prstGeom prst="bentConnector3">
            <a:avLst>
              <a:gd name="adj1" fmla="val -26810"/>
            </a:avLst>
          </a:prstGeom>
          <a:ln w="19050">
            <a:tailEnd type="triangle"/>
          </a:ln>
        </p:spPr>
        <p:style>
          <a:lnRef idx="1">
            <a:schemeClr val="accent1"/>
          </a:lnRef>
          <a:fillRef idx="0">
            <a:schemeClr val="accent1"/>
          </a:fillRef>
          <a:effectRef idx="0">
            <a:schemeClr val="accent1"/>
          </a:effectRef>
          <a:fontRef idx="minor">
            <a:schemeClr val="tx1"/>
          </a:fontRef>
        </p:style>
      </p:cxnSp>
      <p:cxnSp>
        <p:nvCxnSpPr>
          <p:cNvPr id="78" name="Straight Arrow Connector 77"/>
          <p:cNvCxnSpPr>
            <a:stCxn id="35" idx="2"/>
            <a:endCxn id="37" idx="0"/>
          </p:cNvCxnSpPr>
          <p:nvPr/>
        </p:nvCxnSpPr>
        <p:spPr>
          <a:xfrm flipH="1">
            <a:off x="4186527" y="5535262"/>
            <a:ext cx="404" cy="461552"/>
          </a:xfrm>
          <a:prstGeom prst="straightConnector1">
            <a:avLst/>
          </a:prstGeom>
          <a:ln w="19050">
            <a:tailEnd type="triangle"/>
          </a:ln>
        </p:spPr>
        <p:style>
          <a:lnRef idx="1">
            <a:schemeClr val="accent1"/>
          </a:lnRef>
          <a:fillRef idx="0">
            <a:schemeClr val="accent1"/>
          </a:fillRef>
          <a:effectRef idx="0">
            <a:schemeClr val="accent1"/>
          </a:effectRef>
          <a:fontRef idx="minor">
            <a:schemeClr val="tx1"/>
          </a:fontRef>
        </p:style>
      </p:cxnSp>
      <p:sp>
        <p:nvSpPr>
          <p:cNvPr id="79" name="TextBox 78"/>
          <p:cNvSpPr txBox="1"/>
          <p:nvPr/>
        </p:nvSpPr>
        <p:spPr>
          <a:xfrm>
            <a:off x="1670704" y="5575325"/>
            <a:ext cx="2574807" cy="338554"/>
          </a:xfrm>
          <a:prstGeom prst="rect">
            <a:avLst/>
          </a:prstGeom>
          <a:noFill/>
        </p:spPr>
        <p:txBody>
          <a:bodyPr wrap="none" rtlCol="0">
            <a:spAutoFit/>
          </a:bodyPr>
          <a:lstStyle/>
          <a:p>
            <a:r>
              <a:rPr lang="en-US" sz="1600" dirty="0">
                <a:solidFill>
                  <a:srgbClr val="FF0000"/>
                </a:solidFill>
              </a:rPr>
              <a:t>Particle absorbed in material</a:t>
            </a:r>
          </a:p>
        </p:txBody>
      </p:sp>
      <p:sp>
        <p:nvSpPr>
          <p:cNvPr id="107" name="TextBox 106"/>
          <p:cNvSpPr txBox="1"/>
          <p:nvPr/>
        </p:nvSpPr>
        <p:spPr>
          <a:xfrm>
            <a:off x="1392710" y="3749271"/>
            <a:ext cx="1485512" cy="830997"/>
          </a:xfrm>
          <a:prstGeom prst="rect">
            <a:avLst/>
          </a:prstGeom>
          <a:noFill/>
        </p:spPr>
        <p:txBody>
          <a:bodyPr wrap="square" rtlCol="0">
            <a:spAutoFit/>
          </a:bodyPr>
          <a:lstStyle/>
          <a:p>
            <a:r>
              <a:rPr lang="en-US" sz="1600" dirty="0">
                <a:solidFill>
                  <a:srgbClr val="00B050"/>
                </a:solidFill>
              </a:rPr>
              <a:t>Particle with New Energy and Direction</a:t>
            </a:r>
          </a:p>
        </p:txBody>
      </p:sp>
      <p:sp>
        <p:nvSpPr>
          <p:cNvPr id="4" name="TextBox 3"/>
          <p:cNvSpPr txBox="1"/>
          <p:nvPr/>
        </p:nvSpPr>
        <p:spPr>
          <a:xfrm>
            <a:off x="229275" y="1678213"/>
            <a:ext cx="1747338" cy="369332"/>
          </a:xfrm>
          <a:prstGeom prst="rect">
            <a:avLst/>
          </a:prstGeom>
          <a:noFill/>
        </p:spPr>
        <p:txBody>
          <a:bodyPr wrap="none" rtlCol="0">
            <a:spAutoFit/>
          </a:bodyPr>
          <a:lstStyle/>
          <a:p>
            <a:r>
              <a:rPr lang="en-US" b="1" dirty="0">
                <a:solidFill>
                  <a:srgbClr val="00B050"/>
                </a:solidFill>
              </a:rPr>
              <a:t>Module tracking</a:t>
            </a:r>
          </a:p>
        </p:txBody>
      </p:sp>
      <p:sp>
        <p:nvSpPr>
          <p:cNvPr id="18" name="TextBox 17"/>
          <p:cNvSpPr txBox="1"/>
          <p:nvPr/>
        </p:nvSpPr>
        <p:spPr>
          <a:xfrm>
            <a:off x="4130214" y="4005874"/>
            <a:ext cx="492443" cy="307777"/>
          </a:xfrm>
          <a:prstGeom prst="rect">
            <a:avLst/>
          </a:prstGeom>
          <a:noFill/>
        </p:spPr>
        <p:txBody>
          <a:bodyPr wrap="none" rtlCol="0">
            <a:spAutoFit/>
          </a:bodyPr>
          <a:lstStyle/>
          <a:p>
            <a:r>
              <a:rPr lang="en-US" sz="1400" dirty="0"/>
              <a:t>true</a:t>
            </a:r>
          </a:p>
        </p:txBody>
      </p:sp>
      <p:sp>
        <p:nvSpPr>
          <p:cNvPr id="40" name="TextBox 39"/>
          <p:cNvSpPr txBox="1"/>
          <p:nvPr/>
        </p:nvSpPr>
        <p:spPr>
          <a:xfrm>
            <a:off x="2647196" y="5078416"/>
            <a:ext cx="492443" cy="307777"/>
          </a:xfrm>
          <a:prstGeom prst="rect">
            <a:avLst/>
          </a:prstGeom>
          <a:noFill/>
        </p:spPr>
        <p:txBody>
          <a:bodyPr wrap="none" rtlCol="0">
            <a:spAutoFit/>
          </a:bodyPr>
          <a:lstStyle/>
          <a:p>
            <a:r>
              <a:rPr lang="en-US" sz="1400" dirty="0"/>
              <a:t>true</a:t>
            </a:r>
          </a:p>
        </p:txBody>
      </p:sp>
      <p:sp>
        <p:nvSpPr>
          <p:cNvPr id="44" name="Chevron 43"/>
          <p:cNvSpPr/>
          <p:nvPr/>
        </p:nvSpPr>
        <p:spPr>
          <a:xfrm>
            <a:off x="6791326" y="634922"/>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45" name="Chevron 44"/>
          <p:cNvSpPr/>
          <p:nvPr/>
        </p:nvSpPr>
        <p:spPr>
          <a:xfrm>
            <a:off x="2203098" y="644153"/>
            <a:ext cx="4617155" cy="322828"/>
          </a:xfrm>
          <a:prstGeom prst="chevron">
            <a:avLst/>
          </a:prstGeom>
          <a:solidFill>
            <a:schemeClr val="tx1"/>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Simulate all particles</a:t>
            </a:r>
          </a:p>
        </p:txBody>
      </p:sp>
      <p:sp>
        <p:nvSpPr>
          <p:cNvPr id="46" name="Chevron 45"/>
          <p:cNvSpPr/>
          <p:nvPr/>
        </p:nvSpPr>
        <p:spPr>
          <a:xfrm>
            <a:off x="1" y="645600"/>
            <a:ext cx="2248253" cy="322912"/>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7" name="TextBox 6"/>
          <p:cNvSpPr txBox="1"/>
          <p:nvPr/>
        </p:nvSpPr>
        <p:spPr>
          <a:xfrm>
            <a:off x="7476871" y="4847986"/>
            <a:ext cx="1120884" cy="1015663"/>
          </a:xfrm>
          <a:prstGeom prst="rect">
            <a:avLst/>
          </a:prstGeom>
          <a:noFill/>
        </p:spPr>
        <p:txBody>
          <a:bodyPr wrap="none" rtlCol="0">
            <a:spAutoFit/>
          </a:bodyPr>
          <a:lstStyle/>
          <a:p>
            <a:r>
              <a:rPr lang="en-US" b="1" dirty="0" err="1">
                <a:solidFill>
                  <a:srgbClr val="C00000"/>
                </a:solidFill>
              </a:rPr>
              <a:t>K</a:t>
            </a:r>
            <a:r>
              <a:rPr lang="en-US" b="1" baseline="-25000" dirty="0" err="1">
                <a:solidFill>
                  <a:srgbClr val="C00000"/>
                </a:solidFill>
              </a:rPr>
              <a:t>eff</a:t>
            </a:r>
            <a:endParaRPr lang="en-US" b="1" baseline="-25000" dirty="0">
              <a:solidFill>
                <a:srgbClr val="C00000"/>
              </a:solidFill>
            </a:endParaRPr>
          </a:p>
          <a:p>
            <a:r>
              <a:rPr lang="en-US" sz="1400" dirty="0"/>
              <a:t>(</a:t>
            </a:r>
            <a:r>
              <a:rPr lang="en-US" sz="1400" dirty="0" err="1"/>
              <a:t>tracklength</a:t>
            </a:r>
            <a:r>
              <a:rPr lang="en-US" sz="1400" dirty="0"/>
              <a:t>)</a:t>
            </a:r>
          </a:p>
          <a:p>
            <a:r>
              <a:rPr lang="en-US" sz="1400" dirty="0"/>
              <a:t>(collision)</a:t>
            </a:r>
          </a:p>
          <a:p>
            <a:r>
              <a:rPr lang="en-US" sz="1400" dirty="0"/>
              <a:t>(absorption)</a:t>
            </a:r>
          </a:p>
        </p:txBody>
      </p:sp>
    </p:spTree>
    <p:extLst>
      <p:ext uri="{BB962C8B-B14F-4D97-AF65-F5344CB8AC3E}">
        <p14:creationId xmlns:p14="http://schemas.microsoft.com/office/powerpoint/2010/main" val="8121769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p:cNvSpPr txBox="1"/>
          <p:nvPr/>
        </p:nvSpPr>
        <p:spPr>
          <a:xfrm>
            <a:off x="603970" y="1430381"/>
            <a:ext cx="3364088" cy="369332"/>
          </a:xfrm>
          <a:prstGeom prst="rect">
            <a:avLst/>
          </a:prstGeom>
          <a:noFill/>
        </p:spPr>
        <p:txBody>
          <a:bodyPr wrap="square" rtlCol="0">
            <a:spAutoFit/>
          </a:bodyPr>
          <a:lstStyle/>
          <a:p>
            <a:r>
              <a:rPr lang="en-US" dirty="0"/>
              <a:t>1. Godiva (Benchmark problem) </a:t>
            </a:r>
          </a:p>
        </p:txBody>
      </p:sp>
      <p:pic>
        <p:nvPicPr>
          <p:cNvPr id="6" name="Picture 5"/>
          <p:cNvPicPr>
            <a:picLocks noChangeAspect="1"/>
          </p:cNvPicPr>
          <p:nvPr/>
        </p:nvPicPr>
        <p:blipFill rotWithShape="1">
          <a:blip r:embed="rId2">
            <a:extLst>
              <a:ext uri="{28A0092B-C50C-407E-A947-70E740481C1C}">
                <a14:useLocalDpi xmlns:a14="http://schemas.microsoft.com/office/drawing/2010/main" val="0"/>
              </a:ext>
            </a:extLst>
          </a:blip>
          <a:srcRect l="4284" t="1908" r="2191" b="2954"/>
          <a:stretch/>
        </p:blipFill>
        <p:spPr>
          <a:xfrm>
            <a:off x="6138553" y="2045214"/>
            <a:ext cx="2216952" cy="2233876"/>
          </a:xfrm>
          <a:prstGeom prst="rect">
            <a:avLst/>
          </a:prstGeom>
        </p:spPr>
      </p:pic>
      <p:graphicFrame>
        <p:nvGraphicFramePr>
          <p:cNvPr id="9" name="Table 8"/>
          <p:cNvGraphicFramePr>
            <a:graphicFrameLocks noGrp="1"/>
          </p:cNvGraphicFramePr>
          <p:nvPr/>
        </p:nvGraphicFramePr>
        <p:xfrm>
          <a:off x="603970" y="4045651"/>
          <a:ext cx="4358062" cy="1548388"/>
        </p:xfrm>
        <a:graphic>
          <a:graphicData uri="http://schemas.openxmlformats.org/drawingml/2006/table">
            <a:tbl>
              <a:tblPr firstRow="1" bandRow="1">
                <a:tableStyleId>{073A0DAA-6AF3-43AB-8588-CEC1D06C72B9}</a:tableStyleId>
              </a:tblPr>
              <a:tblGrid>
                <a:gridCol w="2179031">
                  <a:extLst>
                    <a:ext uri="{9D8B030D-6E8A-4147-A177-3AD203B41FA5}">
                      <a16:colId xmlns:a16="http://schemas.microsoft.com/office/drawing/2014/main" val="20000"/>
                    </a:ext>
                  </a:extLst>
                </a:gridCol>
                <a:gridCol w="2179031">
                  <a:extLst>
                    <a:ext uri="{9D8B030D-6E8A-4147-A177-3AD203B41FA5}">
                      <a16:colId xmlns:a16="http://schemas.microsoft.com/office/drawing/2014/main" val="20001"/>
                    </a:ext>
                  </a:extLst>
                </a:gridCol>
              </a:tblGrid>
              <a:tr h="332635">
                <a:tc>
                  <a:txBody>
                    <a:bodyPr/>
                    <a:lstStyle/>
                    <a:p>
                      <a:r>
                        <a:rPr lang="en-US" dirty="0"/>
                        <a:t>codes</a:t>
                      </a:r>
                    </a:p>
                  </a:txBody>
                  <a:tcPr/>
                </a:tc>
                <a:tc>
                  <a:txBody>
                    <a:bodyPr/>
                    <a:lstStyle/>
                    <a:p>
                      <a:r>
                        <a:rPr lang="en-US" dirty="0"/>
                        <a:t>  Keff </a:t>
                      </a:r>
                    </a:p>
                  </a:txBody>
                  <a:tcPr/>
                </a:tc>
                <a:extLst>
                  <a:ext uri="{0D108BD9-81ED-4DB2-BD59-A6C34878D82A}">
                    <a16:rowId xmlns:a16="http://schemas.microsoft.com/office/drawing/2014/main" val="10000"/>
                  </a:ext>
                </a:extLst>
              </a:tr>
              <a:tr h="332635">
                <a:tc>
                  <a:txBody>
                    <a:bodyPr/>
                    <a:lstStyle/>
                    <a:p>
                      <a:r>
                        <a:rPr lang="en-US" dirty="0"/>
                        <a:t>Benchmark Keff</a:t>
                      </a:r>
                    </a:p>
                  </a:txBody>
                  <a:tcPr/>
                </a:tc>
                <a:tc>
                  <a:txBody>
                    <a:bodyPr/>
                    <a:lstStyle/>
                    <a:p>
                      <a:r>
                        <a:rPr lang="en-US" dirty="0"/>
                        <a:t>1.000 ± 0.0010</a:t>
                      </a:r>
                    </a:p>
                  </a:txBody>
                  <a:tcPr/>
                </a:tc>
                <a:extLst>
                  <a:ext uri="{0D108BD9-81ED-4DB2-BD59-A6C34878D82A}">
                    <a16:rowId xmlns:a16="http://schemas.microsoft.com/office/drawing/2014/main" val="10001"/>
                  </a:ext>
                </a:extLst>
              </a:tr>
              <a:tr h="332635">
                <a:tc>
                  <a:txBody>
                    <a:bodyPr/>
                    <a:lstStyle/>
                    <a:p>
                      <a:r>
                        <a:rPr lang="en-US" dirty="0"/>
                        <a:t>MCNP</a:t>
                      </a:r>
                    </a:p>
                  </a:txBody>
                  <a:tcPr/>
                </a:tc>
                <a:tc>
                  <a:txBody>
                    <a:bodyPr/>
                    <a:lstStyle/>
                    <a:p>
                      <a:r>
                        <a:rPr lang="en-US" dirty="0"/>
                        <a:t>0.9995 ± 0.0005</a:t>
                      </a:r>
                    </a:p>
                  </a:txBody>
                  <a:tcPr/>
                </a:tc>
                <a:extLst>
                  <a:ext uri="{0D108BD9-81ED-4DB2-BD59-A6C34878D82A}">
                    <a16:rowId xmlns:a16="http://schemas.microsoft.com/office/drawing/2014/main" val="10002"/>
                  </a:ext>
                </a:extLst>
              </a:tr>
              <a:tr h="451108">
                <a:tc>
                  <a:txBody>
                    <a:bodyPr/>
                    <a:lstStyle/>
                    <a:p>
                      <a:r>
                        <a:rPr lang="en-US" dirty="0"/>
                        <a:t>This code</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1.0070 ± 0.0006</a:t>
                      </a:r>
                    </a:p>
                  </a:txBody>
                  <a:tcPr/>
                </a:tc>
                <a:extLst>
                  <a:ext uri="{0D108BD9-81ED-4DB2-BD59-A6C34878D82A}">
                    <a16:rowId xmlns:a16="http://schemas.microsoft.com/office/drawing/2014/main" val="10003"/>
                  </a:ext>
                </a:extLst>
              </a:tr>
            </a:tbl>
          </a:graphicData>
        </a:graphic>
      </p:graphicFrame>
      <p:sp>
        <p:nvSpPr>
          <p:cNvPr id="11" name="TextBox 10"/>
          <p:cNvSpPr txBox="1"/>
          <p:nvPr/>
        </p:nvSpPr>
        <p:spPr>
          <a:xfrm>
            <a:off x="603970" y="2045215"/>
            <a:ext cx="6748546" cy="1384995"/>
          </a:xfrm>
          <a:prstGeom prst="rect">
            <a:avLst/>
          </a:prstGeom>
          <a:noFill/>
        </p:spPr>
        <p:txBody>
          <a:bodyPr wrap="square" rtlCol="0">
            <a:spAutoFit/>
          </a:bodyPr>
          <a:lstStyle/>
          <a:p>
            <a:r>
              <a:rPr lang="en-US" sz="1400" dirty="0"/>
              <a:t>1     -18.74  -1     imp:n=1   $ enriched uranium sphere (godiva)</a:t>
            </a:r>
          </a:p>
          <a:p>
            <a:r>
              <a:rPr lang="en-US" sz="1400" dirty="0"/>
              <a:t>2       0           1    imp:n=0  $ all space outside the sphere</a:t>
            </a:r>
          </a:p>
          <a:p>
            <a:pPr marL="342900" indent="-342900">
              <a:buAutoNum type="arabicPlain" startAt="2"/>
            </a:pPr>
            <a:endParaRPr lang="en-US" sz="1400" dirty="0"/>
          </a:p>
          <a:p>
            <a:r>
              <a:rPr lang="en-US" sz="1400" dirty="0"/>
              <a:t>1      so    8.741       $ radius of the godiva sphere </a:t>
            </a:r>
          </a:p>
          <a:p>
            <a:endParaRPr lang="en-US" sz="1400" dirty="0"/>
          </a:p>
          <a:p>
            <a:r>
              <a:rPr lang="en-US" sz="1400" dirty="0"/>
              <a:t>m1    92235.72c -93.71  92238.72c -5.27  92234.72c -1.02</a:t>
            </a:r>
          </a:p>
        </p:txBody>
      </p:sp>
      <p:sp>
        <p:nvSpPr>
          <p:cNvPr id="13"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Results</a:t>
            </a:r>
            <a:endParaRPr lang="en-US" sz="3200" b="1" baseline="-25000" dirty="0">
              <a:solidFill>
                <a:schemeClr val="bg1">
                  <a:lumMod val="65000"/>
                </a:schemeClr>
              </a:solidFill>
            </a:endParaRPr>
          </a:p>
        </p:txBody>
      </p:sp>
    </p:spTree>
    <p:extLst>
      <p:ext uri="{BB962C8B-B14F-4D97-AF65-F5344CB8AC3E}">
        <p14:creationId xmlns:p14="http://schemas.microsoft.com/office/powerpoint/2010/main" val="126028522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 name="Picture 7"/>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924610" y="1409083"/>
            <a:ext cx="2649046" cy="2789842"/>
          </a:xfrm>
          <a:prstGeom prst="rect">
            <a:avLst/>
          </a:prstGeom>
        </p:spPr>
      </p:pic>
      <p:graphicFrame>
        <p:nvGraphicFramePr>
          <p:cNvPr id="9" name="Table 8"/>
          <p:cNvGraphicFramePr>
            <a:graphicFrameLocks noGrp="1"/>
          </p:cNvGraphicFramePr>
          <p:nvPr/>
        </p:nvGraphicFramePr>
        <p:xfrm>
          <a:off x="4070102" y="4515810"/>
          <a:ext cx="4358062" cy="1478280"/>
        </p:xfrm>
        <a:graphic>
          <a:graphicData uri="http://schemas.openxmlformats.org/drawingml/2006/table">
            <a:tbl>
              <a:tblPr firstRow="1" bandRow="1">
                <a:tableStyleId>{073A0DAA-6AF3-43AB-8588-CEC1D06C72B9}</a:tableStyleId>
              </a:tblPr>
              <a:tblGrid>
                <a:gridCol w="2179031">
                  <a:extLst>
                    <a:ext uri="{9D8B030D-6E8A-4147-A177-3AD203B41FA5}">
                      <a16:colId xmlns:a16="http://schemas.microsoft.com/office/drawing/2014/main" val="20000"/>
                    </a:ext>
                  </a:extLst>
                </a:gridCol>
                <a:gridCol w="2179031">
                  <a:extLst>
                    <a:ext uri="{9D8B030D-6E8A-4147-A177-3AD203B41FA5}">
                      <a16:colId xmlns:a16="http://schemas.microsoft.com/office/drawing/2014/main" val="20001"/>
                    </a:ext>
                  </a:extLst>
                </a:gridCol>
              </a:tblGrid>
              <a:tr h="329379">
                <a:tc>
                  <a:txBody>
                    <a:bodyPr/>
                    <a:lstStyle/>
                    <a:p>
                      <a:r>
                        <a:rPr lang="en-US" dirty="0"/>
                        <a:t>code</a:t>
                      </a:r>
                    </a:p>
                  </a:txBody>
                  <a:tcPr/>
                </a:tc>
                <a:tc>
                  <a:txBody>
                    <a:bodyPr/>
                    <a:lstStyle/>
                    <a:p>
                      <a:r>
                        <a:rPr lang="en-US" dirty="0"/>
                        <a:t>  Keff </a:t>
                      </a:r>
                    </a:p>
                  </a:txBody>
                  <a:tcPr/>
                </a:tc>
                <a:extLst>
                  <a:ext uri="{0D108BD9-81ED-4DB2-BD59-A6C34878D82A}">
                    <a16:rowId xmlns:a16="http://schemas.microsoft.com/office/drawing/2014/main" val="10000"/>
                  </a:ext>
                </a:extLst>
              </a:tr>
              <a:tr h="370840">
                <a:tc>
                  <a:txBody>
                    <a:bodyPr/>
                    <a:lstStyle/>
                    <a:p>
                      <a:r>
                        <a:rPr lang="en-US" dirty="0"/>
                        <a:t>Benchmark Keff</a:t>
                      </a:r>
                    </a:p>
                  </a:txBody>
                  <a:tcPr/>
                </a:tc>
                <a:tc>
                  <a:txBody>
                    <a:bodyPr/>
                    <a:lstStyle/>
                    <a:p>
                      <a:r>
                        <a:rPr lang="en-US" dirty="0"/>
                        <a:t>1.000 ±0.0010</a:t>
                      </a:r>
                    </a:p>
                  </a:txBody>
                  <a:tcPr/>
                </a:tc>
                <a:extLst>
                  <a:ext uri="{0D108BD9-81ED-4DB2-BD59-A6C34878D82A}">
                    <a16:rowId xmlns:a16="http://schemas.microsoft.com/office/drawing/2014/main" val="10001"/>
                  </a:ext>
                </a:extLst>
              </a:tr>
              <a:tr h="370840">
                <a:tc>
                  <a:txBody>
                    <a:bodyPr/>
                    <a:lstStyle/>
                    <a:p>
                      <a:r>
                        <a:rPr lang="en-US" dirty="0"/>
                        <a:t>MCNP</a:t>
                      </a:r>
                    </a:p>
                  </a:txBody>
                  <a:tcPr/>
                </a:tc>
                <a:tc>
                  <a:txBody>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lang="en-US" dirty="0"/>
                        <a:t>0.99902 ±0.00057</a:t>
                      </a:r>
                    </a:p>
                  </a:txBody>
                  <a:tcPr/>
                </a:tc>
                <a:extLst>
                  <a:ext uri="{0D108BD9-81ED-4DB2-BD59-A6C34878D82A}">
                    <a16:rowId xmlns:a16="http://schemas.microsoft.com/office/drawing/2014/main" val="10002"/>
                  </a:ext>
                </a:extLst>
              </a:tr>
              <a:tr h="370840">
                <a:tc>
                  <a:txBody>
                    <a:bodyPr/>
                    <a:lstStyle/>
                    <a:p>
                      <a:r>
                        <a:rPr lang="en-US" dirty="0"/>
                        <a:t>This code</a:t>
                      </a:r>
                    </a:p>
                  </a:txBody>
                  <a:tcPr/>
                </a:tc>
                <a:tc>
                  <a:txBody>
                    <a:bodyPr/>
                    <a:lstStyle/>
                    <a:p>
                      <a:r>
                        <a:rPr lang="en-US" dirty="0"/>
                        <a:t>0.99691±0.00062</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628402" y="1409083"/>
            <a:ext cx="3175228" cy="369332"/>
          </a:xfrm>
          <a:prstGeom prst="rect">
            <a:avLst/>
          </a:prstGeom>
          <a:noFill/>
        </p:spPr>
        <p:txBody>
          <a:bodyPr wrap="none" rtlCol="0">
            <a:spAutoFit/>
          </a:bodyPr>
          <a:lstStyle/>
          <a:p>
            <a:r>
              <a:rPr lang="en-US" dirty="0"/>
              <a:t>2.Jezbel (Benchmark problem) </a:t>
            </a:r>
          </a:p>
        </p:txBody>
      </p:sp>
      <p:sp>
        <p:nvSpPr>
          <p:cNvPr id="10"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Results</a:t>
            </a:r>
            <a:endParaRPr lang="en-US" sz="3200" b="1" baseline="-25000" dirty="0">
              <a:solidFill>
                <a:schemeClr val="bg1">
                  <a:lumMod val="65000"/>
                </a:schemeClr>
              </a:solidFill>
            </a:endParaRPr>
          </a:p>
        </p:txBody>
      </p:sp>
      <p:sp>
        <p:nvSpPr>
          <p:cNvPr id="11" name="TextBox 10"/>
          <p:cNvSpPr txBox="1"/>
          <p:nvPr/>
        </p:nvSpPr>
        <p:spPr>
          <a:xfrm>
            <a:off x="628402" y="1991209"/>
            <a:ext cx="5020926" cy="3108543"/>
          </a:xfrm>
          <a:prstGeom prst="rect">
            <a:avLst/>
          </a:prstGeom>
          <a:noFill/>
        </p:spPr>
        <p:txBody>
          <a:bodyPr wrap="square" rtlCol="0">
            <a:spAutoFit/>
          </a:bodyPr>
          <a:lstStyle/>
          <a:p>
            <a:r>
              <a:rPr lang="en-US" sz="1400" dirty="0"/>
              <a:t>1   1  .038918  -1       imp:n=1</a:t>
            </a:r>
          </a:p>
          <a:p>
            <a:r>
              <a:rPr lang="en-US" sz="1400" dirty="0"/>
              <a:t>2   1  .038918  1 -2     imp:n=1</a:t>
            </a:r>
          </a:p>
          <a:p>
            <a:r>
              <a:rPr lang="en-US" sz="1400" dirty="0"/>
              <a:t>3   1  .038918  2 -3     imp:n=1</a:t>
            </a:r>
          </a:p>
          <a:p>
            <a:pPr marL="342900" indent="-342900">
              <a:buAutoNum type="arabicPlain" startAt="4"/>
            </a:pPr>
            <a:r>
              <a:rPr lang="en-US" sz="1400" dirty="0"/>
              <a:t>0           3        imp:n=0</a:t>
            </a:r>
          </a:p>
          <a:p>
            <a:pPr marL="342900" indent="-342900">
              <a:buAutoNum type="arabicPlain" startAt="4"/>
            </a:pPr>
            <a:endParaRPr lang="en-US" sz="1400" dirty="0"/>
          </a:p>
          <a:p>
            <a:r>
              <a:rPr lang="en-US" sz="1400" dirty="0"/>
              <a:t>1  so  1.0</a:t>
            </a:r>
          </a:p>
          <a:p>
            <a:r>
              <a:rPr lang="en-US" sz="1400" dirty="0"/>
              <a:t>2  so  3.0</a:t>
            </a:r>
          </a:p>
          <a:p>
            <a:pPr marL="342900" indent="-342900">
              <a:buAutoNum type="arabicPlain" startAt="3"/>
            </a:pPr>
            <a:r>
              <a:rPr lang="en-US" sz="1400" dirty="0"/>
              <a:t>so  6.385</a:t>
            </a:r>
          </a:p>
          <a:p>
            <a:pPr marL="342900" indent="-342900">
              <a:buAutoNum type="arabicPlain" startAt="3"/>
            </a:pPr>
            <a:endParaRPr lang="en-US" sz="1400" dirty="0"/>
          </a:p>
          <a:p>
            <a:r>
              <a:rPr lang="nn-NO" sz="1400" dirty="0"/>
              <a:t>m1 94239.72c  0.03705  94240.72c 0.001751 </a:t>
            </a:r>
          </a:p>
          <a:p>
            <a:r>
              <a:rPr lang="nn-NO" sz="1400" dirty="0"/>
              <a:t>         94241.72c 0.000117 </a:t>
            </a:r>
          </a:p>
          <a:p>
            <a:r>
              <a:rPr lang="nn-NO" sz="1400" dirty="0"/>
              <a:t>m2 94239.72c 1.0  </a:t>
            </a:r>
          </a:p>
          <a:p>
            <a:r>
              <a:rPr lang="nn-NO" sz="1400" dirty="0"/>
              <a:t>m3 94240.72c 1.0  </a:t>
            </a:r>
          </a:p>
          <a:p>
            <a:r>
              <a:rPr lang="nn-NO" sz="1400" dirty="0"/>
              <a:t>m4 94241.72c 1.0  </a:t>
            </a:r>
            <a:endParaRPr lang="en-US" sz="1400" dirty="0"/>
          </a:p>
        </p:txBody>
      </p:sp>
    </p:spTree>
    <p:extLst>
      <p:ext uri="{BB962C8B-B14F-4D97-AF65-F5344CB8AC3E}">
        <p14:creationId xmlns:p14="http://schemas.microsoft.com/office/powerpoint/2010/main" val="399196386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 name="Table 7"/>
          <p:cNvGraphicFramePr>
            <a:graphicFrameLocks noGrp="1"/>
          </p:cNvGraphicFramePr>
          <p:nvPr/>
        </p:nvGraphicFramePr>
        <p:xfrm>
          <a:off x="732480" y="4272574"/>
          <a:ext cx="4358062" cy="1483360"/>
        </p:xfrm>
        <a:graphic>
          <a:graphicData uri="http://schemas.openxmlformats.org/drawingml/2006/table">
            <a:tbl>
              <a:tblPr firstRow="1" bandRow="1">
                <a:tableStyleId>{073A0DAA-6AF3-43AB-8588-CEC1D06C72B9}</a:tableStyleId>
              </a:tblPr>
              <a:tblGrid>
                <a:gridCol w="2179031">
                  <a:extLst>
                    <a:ext uri="{9D8B030D-6E8A-4147-A177-3AD203B41FA5}">
                      <a16:colId xmlns:a16="http://schemas.microsoft.com/office/drawing/2014/main" val="20000"/>
                    </a:ext>
                  </a:extLst>
                </a:gridCol>
                <a:gridCol w="2179031">
                  <a:extLst>
                    <a:ext uri="{9D8B030D-6E8A-4147-A177-3AD203B41FA5}">
                      <a16:colId xmlns:a16="http://schemas.microsoft.com/office/drawing/2014/main" val="20001"/>
                    </a:ext>
                  </a:extLst>
                </a:gridCol>
              </a:tblGrid>
              <a:tr h="370840">
                <a:tc>
                  <a:txBody>
                    <a:bodyPr/>
                    <a:lstStyle/>
                    <a:p>
                      <a:r>
                        <a:rPr lang="en-US" dirty="0"/>
                        <a:t>code</a:t>
                      </a:r>
                    </a:p>
                  </a:txBody>
                  <a:tcPr/>
                </a:tc>
                <a:tc>
                  <a:txBody>
                    <a:bodyPr/>
                    <a:lstStyle/>
                    <a:p>
                      <a:r>
                        <a:rPr lang="en-US" dirty="0"/>
                        <a:t>  Keff </a:t>
                      </a:r>
                    </a:p>
                  </a:txBody>
                  <a:tcPr/>
                </a:tc>
                <a:extLst>
                  <a:ext uri="{0D108BD9-81ED-4DB2-BD59-A6C34878D82A}">
                    <a16:rowId xmlns:a16="http://schemas.microsoft.com/office/drawing/2014/main" val="10000"/>
                  </a:ext>
                </a:extLst>
              </a:tr>
              <a:tr h="370840">
                <a:tc>
                  <a:txBody>
                    <a:bodyPr/>
                    <a:lstStyle/>
                    <a:p>
                      <a:r>
                        <a:rPr lang="en-US" dirty="0"/>
                        <a:t>Benchmark Keff</a:t>
                      </a:r>
                    </a:p>
                  </a:txBody>
                  <a:tcPr/>
                </a:tc>
                <a:tc>
                  <a:txBody>
                    <a:bodyPr/>
                    <a:lstStyle/>
                    <a:p>
                      <a:r>
                        <a:rPr lang="en-US" dirty="0">
                          <a:effectLst/>
                        </a:rPr>
                        <a:t>≈ 1.01</a:t>
                      </a:r>
                      <a:endParaRPr lang="en-US" dirty="0"/>
                    </a:p>
                  </a:txBody>
                  <a:tcPr/>
                </a:tc>
                <a:extLst>
                  <a:ext uri="{0D108BD9-81ED-4DB2-BD59-A6C34878D82A}">
                    <a16:rowId xmlns:a16="http://schemas.microsoft.com/office/drawing/2014/main" val="10001"/>
                  </a:ext>
                </a:extLst>
              </a:tr>
              <a:tr h="370840">
                <a:tc>
                  <a:txBody>
                    <a:bodyPr/>
                    <a:lstStyle/>
                    <a:p>
                      <a:r>
                        <a:rPr lang="en-US" dirty="0"/>
                        <a:t>MCNP</a:t>
                      </a:r>
                    </a:p>
                  </a:txBody>
                  <a:tcPr/>
                </a:tc>
                <a:tc>
                  <a:txBody>
                    <a:bodyPr/>
                    <a:lstStyle/>
                    <a:p>
                      <a:r>
                        <a:rPr lang="en-US" dirty="0"/>
                        <a:t>1.01403 ±0.00066</a:t>
                      </a:r>
                    </a:p>
                  </a:txBody>
                  <a:tcPr/>
                </a:tc>
                <a:extLst>
                  <a:ext uri="{0D108BD9-81ED-4DB2-BD59-A6C34878D82A}">
                    <a16:rowId xmlns:a16="http://schemas.microsoft.com/office/drawing/2014/main" val="10002"/>
                  </a:ext>
                </a:extLst>
              </a:tr>
              <a:tr h="370840">
                <a:tc>
                  <a:txBody>
                    <a:bodyPr/>
                    <a:lstStyle/>
                    <a:p>
                      <a:r>
                        <a:rPr lang="en-US" dirty="0"/>
                        <a:t>This code</a:t>
                      </a:r>
                    </a:p>
                  </a:txBody>
                  <a:tcPr/>
                </a:tc>
                <a:tc>
                  <a:txBody>
                    <a:bodyPr/>
                    <a:lstStyle/>
                    <a:p>
                      <a:r>
                        <a:rPr lang="en-US" dirty="0"/>
                        <a:t>1.023241± 0.0007</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679618" y="1508065"/>
            <a:ext cx="4547720" cy="369332"/>
          </a:xfrm>
          <a:prstGeom prst="rect">
            <a:avLst/>
          </a:prstGeom>
          <a:noFill/>
        </p:spPr>
        <p:txBody>
          <a:bodyPr wrap="none" rtlCol="0">
            <a:spAutoFit/>
          </a:bodyPr>
          <a:lstStyle/>
          <a:p>
            <a:r>
              <a:rPr lang="en-US" dirty="0"/>
              <a:t>3.Bare Pu-239 cylinder (Benchmark problem) </a:t>
            </a:r>
          </a:p>
        </p:txBody>
      </p:sp>
      <p:sp>
        <p:nvSpPr>
          <p:cNvPr id="9" name="TextBox 8"/>
          <p:cNvSpPr txBox="1"/>
          <p:nvPr/>
        </p:nvSpPr>
        <p:spPr>
          <a:xfrm>
            <a:off x="732481" y="2070495"/>
            <a:ext cx="2327881" cy="1815882"/>
          </a:xfrm>
          <a:prstGeom prst="rect">
            <a:avLst/>
          </a:prstGeom>
          <a:noFill/>
        </p:spPr>
        <p:txBody>
          <a:bodyPr wrap="none" rtlCol="0">
            <a:spAutoFit/>
          </a:bodyPr>
          <a:lstStyle/>
          <a:p>
            <a:r>
              <a:rPr lang="pt-BR" sz="1400" dirty="0"/>
              <a:t>1   1   -15.8   -1  2  -3  imp:n=1</a:t>
            </a:r>
          </a:p>
          <a:p>
            <a:pPr marL="342900" indent="-342900">
              <a:buAutoNum type="arabicPlain" startAt="2"/>
            </a:pPr>
            <a:r>
              <a:rPr lang="pt-BR" sz="1400" dirty="0"/>
              <a:t>0    1:-2:3       imp:n=0</a:t>
            </a:r>
          </a:p>
          <a:p>
            <a:pPr marL="342900" indent="-342900">
              <a:buAutoNum type="arabicPlain" startAt="2"/>
            </a:pPr>
            <a:endParaRPr lang="pt-BR" sz="1400" dirty="0"/>
          </a:p>
          <a:p>
            <a:r>
              <a:rPr lang="en-US" sz="1400" dirty="0"/>
              <a:t>1   cz   4.935</a:t>
            </a:r>
          </a:p>
          <a:p>
            <a:r>
              <a:rPr lang="en-US" sz="1400" dirty="0"/>
              <a:t>2   Pz   0</a:t>
            </a:r>
          </a:p>
          <a:p>
            <a:r>
              <a:rPr lang="en-US" sz="1400" dirty="0"/>
              <a:t>3   pz   17.273</a:t>
            </a:r>
          </a:p>
          <a:p>
            <a:pPr marL="342900" indent="-342900">
              <a:buAutoNum type="arabicPlain" startAt="3"/>
            </a:pPr>
            <a:endParaRPr lang="en-US" sz="1400" dirty="0"/>
          </a:p>
          <a:p>
            <a:r>
              <a:rPr lang="en-US" sz="1400" dirty="0"/>
              <a:t>m1 94239.66c 1.0</a:t>
            </a:r>
          </a:p>
        </p:txBody>
      </p:sp>
      <p:sp>
        <p:nvSpPr>
          <p:cNvPr id="11"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Results</a:t>
            </a:r>
            <a:endParaRPr lang="en-US" sz="3200" b="1" baseline="-25000" dirty="0">
              <a:solidFill>
                <a:schemeClr val="bg1">
                  <a:lumMod val="65000"/>
                </a:schemeClr>
              </a:solidFill>
            </a:endParaRPr>
          </a:p>
        </p:txBody>
      </p:sp>
      <p:pic>
        <p:nvPicPr>
          <p:cNvPr id="4" name="Picture 3"/>
          <p:cNvPicPr>
            <a:picLocks noChangeAspect="1"/>
          </p:cNvPicPr>
          <p:nvPr/>
        </p:nvPicPr>
        <p:blipFill>
          <a:blip r:embed="rId2"/>
          <a:stretch>
            <a:fillRect/>
          </a:stretch>
        </p:blipFill>
        <p:spPr>
          <a:xfrm>
            <a:off x="5942786" y="2177373"/>
            <a:ext cx="2466975" cy="2571750"/>
          </a:xfrm>
          <a:prstGeom prst="rect">
            <a:avLst/>
          </a:prstGeom>
        </p:spPr>
      </p:pic>
    </p:spTree>
    <p:extLst>
      <p:ext uri="{BB962C8B-B14F-4D97-AF65-F5344CB8AC3E}">
        <p14:creationId xmlns:p14="http://schemas.microsoft.com/office/powerpoint/2010/main" val="28348714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5308766" y="1454499"/>
            <a:ext cx="2997419" cy="3036124"/>
          </a:xfrm>
          <a:prstGeom prst="rect">
            <a:avLst/>
          </a:prstGeom>
        </p:spPr>
      </p:pic>
      <p:graphicFrame>
        <p:nvGraphicFramePr>
          <p:cNvPr id="7" name="Table 6"/>
          <p:cNvGraphicFramePr>
            <a:graphicFrameLocks noGrp="1"/>
          </p:cNvGraphicFramePr>
          <p:nvPr/>
        </p:nvGraphicFramePr>
        <p:xfrm>
          <a:off x="4628444" y="4651221"/>
          <a:ext cx="4358062" cy="1483360"/>
        </p:xfrm>
        <a:graphic>
          <a:graphicData uri="http://schemas.openxmlformats.org/drawingml/2006/table">
            <a:tbl>
              <a:tblPr firstRow="1" bandRow="1">
                <a:tableStyleId>{073A0DAA-6AF3-43AB-8588-CEC1D06C72B9}</a:tableStyleId>
              </a:tblPr>
              <a:tblGrid>
                <a:gridCol w="2179031">
                  <a:extLst>
                    <a:ext uri="{9D8B030D-6E8A-4147-A177-3AD203B41FA5}">
                      <a16:colId xmlns:a16="http://schemas.microsoft.com/office/drawing/2014/main" val="20000"/>
                    </a:ext>
                  </a:extLst>
                </a:gridCol>
                <a:gridCol w="2179031">
                  <a:extLst>
                    <a:ext uri="{9D8B030D-6E8A-4147-A177-3AD203B41FA5}">
                      <a16:colId xmlns:a16="http://schemas.microsoft.com/office/drawing/2014/main" val="20001"/>
                    </a:ext>
                  </a:extLst>
                </a:gridCol>
              </a:tblGrid>
              <a:tr h="370840">
                <a:tc>
                  <a:txBody>
                    <a:bodyPr/>
                    <a:lstStyle/>
                    <a:p>
                      <a:r>
                        <a:rPr lang="en-US" dirty="0"/>
                        <a:t>code</a:t>
                      </a:r>
                    </a:p>
                  </a:txBody>
                  <a:tcPr/>
                </a:tc>
                <a:tc>
                  <a:txBody>
                    <a:bodyPr/>
                    <a:lstStyle/>
                    <a:p>
                      <a:r>
                        <a:rPr lang="en-US" dirty="0"/>
                        <a:t>  Keff </a:t>
                      </a:r>
                    </a:p>
                  </a:txBody>
                  <a:tcPr/>
                </a:tc>
                <a:extLst>
                  <a:ext uri="{0D108BD9-81ED-4DB2-BD59-A6C34878D82A}">
                    <a16:rowId xmlns:a16="http://schemas.microsoft.com/office/drawing/2014/main" val="10000"/>
                  </a:ext>
                </a:extLst>
              </a:tr>
              <a:tr h="370840">
                <a:tc>
                  <a:txBody>
                    <a:bodyPr/>
                    <a:lstStyle/>
                    <a:p>
                      <a:r>
                        <a:rPr lang="en-US" dirty="0"/>
                        <a:t>Benchmark Keff</a:t>
                      </a:r>
                    </a:p>
                  </a:txBody>
                  <a:tcPr/>
                </a:tc>
                <a:tc>
                  <a:txBody>
                    <a:bodyPr/>
                    <a:lstStyle/>
                    <a:p>
                      <a:r>
                        <a:rPr lang="en-US" dirty="0">
                          <a:effectLst/>
                        </a:rPr>
                        <a:t>≈ </a:t>
                      </a:r>
                      <a:r>
                        <a:rPr lang="en-US" dirty="0"/>
                        <a:t>1.000</a:t>
                      </a:r>
                    </a:p>
                  </a:txBody>
                  <a:tcPr/>
                </a:tc>
                <a:extLst>
                  <a:ext uri="{0D108BD9-81ED-4DB2-BD59-A6C34878D82A}">
                    <a16:rowId xmlns:a16="http://schemas.microsoft.com/office/drawing/2014/main" val="10001"/>
                  </a:ext>
                </a:extLst>
              </a:tr>
              <a:tr h="370840">
                <a:tc>
                  <a:txBody>
                    <a:bodyPr/>
                    <a:lstStyle/>
                    <a:p>
                      <a:r>
                        <a:rPr lang="en-US" dirty="0"/>
                        <a:t>MCNP</a:t>
                      </a:r>
                    </a:p>
                  </a:txBody>
                  <a:tcPr/>
                </a:tc>
                <a:tc>
                  <a:txBody>
                    <a:bodyPr/>
                    <a:lstStyle/>
                    <a:p>
                      <a:r>
                        <a:rPr lang="en-US" dirty="0"/>
                        <a:t>0.99842± 0.00077</a:t>
                      </a:r>
                    </a:p>
                  </a:txBody>
                  <a:tcPr/>
                </a:tc>
                <a:extLst>
                  <a:ext uri="{0D108BD9-81ED-4DB2-BD59-A6C34878D82A}">
                    <a16:rowId xmlns:a16="http://schemas.microsoft.com/office/drawing/2014/main" val="10002"/>
                  </a:ext>
                </a:extLst>
              </a:tr>
              <a:tr h="370840">
                <a:tc>
                  <a:txBody>
                    <a:bodyPr/>
                    <a:lstStyle/>
                    <a:p>
                      <a:r>
                        <a:rPr lang="en-US" dirty="0"/>
                        <a:t>This code</a:t>
                      </a:r>
                    </a:p>
                  </a:txBody>
                  <a:tcPr/>
                </a:tc>
                <a:tc>
                  <a:txBody>
                    <a:bodyPr/>
                    <a:lstStyle/>
                    <a:p>
                      <a:r>
                        <a:rPr lang="en-US" dirty="0"/>
                        <a:t>0.996797 ± 0.0008</a:t>
                      </a:r>
                    </a:p>
                  </a:txBody>
                  <a:tcPr/>
                </a:tc>
                <a:extLst>
                  <a:ext uri="{0D108BD9-81ED-4DB2-BD59-A6C34878D82A}">
                    <a16:rowId xmlns:a16="http://schemas.microsoft.com/office/drawing/2014/main" val="10003"/>
                  </a:ext>
                </a:extLst>
              </a:tr>
            </a:tbl>
          </a:graphicData>
        </a:graphic>
      </p:graphicFrame>
      <p:sp>
        <p:nvSpPr>
          <p:cNvPr id="3" name="TextBox 2"/>
          <p:cNvSpPr txBox="1"/>
          <p:nvPr/>
        </p:nvSpPr>
        <p:spPr>
          <a:xfrm>
            <a:off x="442936" y="1995719"/>
            <a:ext cx="3640740" cy="3970318"/>
          </a:xfrm>
          <a:prstGeom prst="rect">
            <a:avLst/>
          </a:prstGeom>
          <a:noFill/>
        </p:spPr>
        <p:txBody>
          <a:bodyPr wrap="none" rtlCol="0">
            <a:spAutoFit/>
          </a:bodyPr>
          <a:lstStyle/>
          <a:p>
            <a:r>
              <a:rPr lang="pt-BR" sz="1400" dirty="0"/>
              <a:t>1    1    9.6586E-2     -1 3 -4     imp:n=1  </a:t>
            </a:r>
          </a:p>
          <a:p>
            <a:r>
              <a:rPr lang="pt-BR" sz="1400" dirty="0"/>
              <a:t>2    0   -1  4 -5    imp:n=1   </a:t>
            </a:r>
          </a:p>
          <a:p>
            <a:r>
              <a:rPr lang="pt-BR" sz="1400" dirty="0"/>
              <a:t>3    2   -2.7    -2 -3 6     imp:n=1</a:t>
            </a:r>
          </a:p>
          <a:p>
            <a:r>
              <a:rPr lang="pt-BR" sz="1400" dirty="0"/>
              <a:t>4    2   -2.7     1 -2 -5 3    imp:n=1  </a:t>
            </a:r>
          </a:p>
          <a:p>
            <a:r>
              <a:rPr lang="pt-BR" sz="1400" dirty="0"/>
              <a:t>5    0     2:5:-6     imp:n=0 </a:t>
            </a:r>
          </a:p>
          <a:p>
            <a:endParaRPr lang="pt-BR" sz="1400" dirty="0"/>
          </a:p>
          <a:p>
            <a:r>
              <a:rPr lang="en-US" sz="1400" dirty="0"/>
              <a:t>1 cz 20.12 </a:t>
            </a:r>
          </a:p>
          <a:p>
            <a:r>
              <a:rPr lang="en-US" sz="1400" dirty="0"/>
              <a:t>2 cz 20.2787 </a:t>
            </a:r>
          </a:p>
          <a:p>
            <a:r>
              <a:rPr lang="en-US" sz="1400" dirty="0"/>
              <a:t>3 pz 0.0 </a:t>
            </a:r>
          </a:p>
          <a:p>
            <a:r>
              <a:rPr lang="en-US" sz="1400" dirty="0"/>
              <a:t>4 pz 100.0  </a:t>
            </a:r>
          </a:p>
          <a:p>
            <a:r>
              <a:rPr lang="en-US" sz="1400" dirty="0"/>
              <a:t>5 pz 110.0  </a:t>
            </a:r>
          </a:p>
          <a:p>
            <a:r>
              <a:rPr lang="en-US" sz="1400" dirty="0"/>
              <a:t>6 pz -0.1587 </a:t>
            </a:r>
          </a:p>
          <a:p>
            <a:endParaRPr lang="en-US" sz="1400" dirty="0"/>
          </a:p>
          <a:p>
            <a:r>
              <a:rPr lang="it-IT" sz="1400" dirty="0"/>
              <a:t>m1 1001.62c 5.7058e-2 8016.62c 3.2929e-2"</a:t>
            </a:r>
          </a:p>
          <a:p>
            <a:r>
              <a:rPr lang="it-IT" sz="1400" dirty="0"/>
              <a:t>         9019.62c 4.3996e-3 92238.66c 2.0909e-3"</a:t>
            </a:r>
          </a:p>
          <a:p>
            <a:r>
              <a:rPr lang="it-IT" sz="1400" dirty="0"/>
              <a:t>         92235.66c 1.0889e-4"</a:t>
            </a:r>
          </a:p>
          <a:p>
            <a:r>
              <a:rPr lang="it-IT" sz="1400" dirty="0"/>
              <a:t>mt1  hh2o.71t  "</a:t>
            </a:r>
          </a:p>
          <a:p>
            <a:r>
              <a:rPr lang="it-IT" sz="1400" dirty="0"/>
              <a:t>m2 13027.62c 1</a:t>
            </a:r>
            <a:endParaRPr lang="en-US" sz="1400" dirty="0"/>
          </a:p>
        </p:txBody>
      </p:sp>
      <p:sp>
        <p:nvSpPr>
          <p:cNvPr id="10"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Results</a:t>
            </a:r>
            <a:endParaRPr lang="en-US" sz="3200" b="1" baseline="-25000" dirty="0">
              <a:solidFill>
                <a:schemeClr val="bg1">
                  <a:lumMod val="65000"/>
                </a:schemeClr>
              </a:solidFill>
            </a:endParaRPr>
          </a:p>
        </p:txBody>
      </p:sp>
      <p:sp>
        <p:nvSpPr>
          <p:cNvPr id="11" name="TextBox 10"/>
          <p:cNvSpPr txBox="1"/>
          <p:nvPr/>
        </p:nvSpPr>
        <p:spPr>
          <a:xfrm>
            <a:off x="442936" y="1557964"/>
            <a:ext cx="4175630" cy="369332"/>
          </a:xfrm>
          <a:prstGeom prst="rect">
            <a:avLst/>
          </a:prstGeom>
          <a:noFill/>
        </p:spPr>
        <p:txBody>
          <a:bodyPr wrap="none" rtlCol="0">
            <a:spAutoFit/>
          </a:bodyPr>
          <a:lstStyle/>
          <a:p>
            <a:r>
              <a:rPr lang="en-US" dirty="0"/>
              <a:t>4.  UO2F2 Cylinder (Benchmark problem) </a:t>
            </a:r>
          </a:p>
        </p:txBody>
      </p:sp>
    </p:spTree>
    <p:extLst>
      <p:ext uri="{BB962C8B-B14F-4D97-AF65-F5344CB8AC3E}">
        <p14:creationId xmlns:p14="http://schemas.microsoft.com/office/powerpoint/2010/main" val="788420843"/>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p:cNvPicPr>
            <a:picLocks noGrp="1" noChangeAspect="1"/>
          </p:cNvPicPr>
          <p:nvPr>
            <p:ph idx="1"/>
          </p:nvPr>
        </p:nvPicPr>
        <p:blipFill rotWithShape="1">
          <a:blip r:embed="rId2">
            <a:extLst>
              <a:ext uri="{28A0092B-C50C-407E-A947-70E740481C1C}">
                <a14:useLocalDpi xmlns:a14="http://schemas.microsoft.com/office/drawing/2010/main" val="0"/>
              </a:ext>
            </a:extLst>
          </a:blip>
          <a:srcRect t="557"/>
          <a:stretch/>
        </p:blipFill>
        <p:spPr>
          <a:xfrm>
            <a:off x="4986421" y="1485900"/>
            <a:ext cx="3213936" cy="3269801"/>
          </a:xfrm>
        </p:spPr>
      </p:pic>
      <p:sp>
        <p:nvSpPr>
          <p:cNvPr id="6"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Results</a:t>
            </a:r>
            <a:endParaRPr lang="en-US" sz="3200" b="1" baseline="-25000" dirty="0">
              <a:solidFill>
                <a:schemeClr val="bg1">
                  <a:lumMod val="65000"/>
                </a:schemeClr>
              </a:solidFill>
            </a:endParaRPr>
          </a:p>
        </p:txBody>
      </p:sp>
      <p:sp>
        <p:nvSpPr>
          <p:cNvPr id="7" name="TextBox 6"/>
          <p:cNvSpPr txBox="1"/>
          <p:nvPr/>
        </p:nvSpPr>
        <p:spPr>
          <a:xfrm>
            <a:off x="498994" y="1726595"/>
            <a:ext cx="4180114" cy="4524315"/>
          </a:xfrm>
          <a:prstGeom prst="rect">
            <a:avLst/>
          </a:prstGeom>
          <a:noFill/>
        </p:spPr>
        <p:txBody>
          <a:bodyPr wrap="square" rtlCol="0">
            <a:spAutoFit/>
          </a:bodyPr>
          <a:lstStyle/>
          <a:p>
            <a:r>
              <a:rPr lang="en-US" sz="1200" dirty="0"/>
              <a:t>1        0     fill=5   1 -2 3 -4  imp:n=1</a:t>
            </a:r>
          </a:p>
          <a:p>
            <a:r>
              <a:rPr lang="en-US" sz="1200" dirty="0"/>
              <a:t>101   1  -4.5 -5 u=1 imp:n=1   </a:t>
            </a:r>
          </a:p>
          <a:p>
            <a:r>
              <a:rPr lang="en-US" sz="1200" dirty="0"/>
              <a:t>102   2  -1.0  5 u=1 imp:n=1   </a:t>
            </a:r>
          </a:p>
          <a:p>
            <a:r>
              <a:rPr lang="en-US" sz="1200" dirty="0"/>
              <a:t>201   1  -4.5 -6 u=2 imp:n=1   </a:t>
            </a:r>
          </a:p>
          <a:p>
            <a:r>
              <a:rPr lang="en-US" sz="1200" dirty="0"/>
              <a:t>202   2  -1.0  6 u=2 imp:n=1   </a:t>
            </a:r>
          </a:p>
          <a:p>
            <a:r>
              <a:rPr lang="en-US" sz="1200" dirty="0"/>
              <a:t>301   1  -4.5 -7 u=3 imp:n=1   </a:t>
            </a:r>
          </a:p>
          <a:p>
            <a:r>
              <a:rPr lang="en-US" sz="1200" dirty="0"/>
              <a:t>302   2  -1.0  7 u=3 imp:n=1  </a:t>
            </a:r>
          </a:p>
          <a:p>
            <a:r>
              <a:rPr lang="en-US" sz="1200" dirty="0"/>
              <a:t>3       0   -1:2:-3:4   imp:n=0   </a:t>
            </a:r>
          </a:p>
          <a:p>
            <a:pPr marL="342900" indent="-342900">
              <a:buAutoNum type="arabicPlain" startAt="2"/>
            </a:pPr>
            <a:r>
              <a:rPr lang="en-US" sz="1200" dirty="0"/>
              <a:t>0  1 -2 3 -4  imp:n=1 lat=1 u=5 fill=0:3 0:3 0:0                                  	1 2 1 2 </a:t>
            </a:r>
          </a:p>
          <a:p>
            <a:r>
              <a:rPr lang="en-US" sz="1200" dirty="0"/>
              <a:t>                          2 3 2 3</a:t>
            </a:r>
          </a:p>
          <a:p>
            <a:r>
              <a:rPr lang="en-US" sz="1200" dirty="0"/>
              <a:t>                          1 2 1 2</a:t>
            </a:r>
          </a:p>
          <a:p>
            <a:r>
              <a:rPr lang="en-US" sz="1200" dirty="0"/>
              <a:t>                          2 3 2 3</a:t>
            </a:r>
          </a:p>
          <a:p>
            <a:r>
              <a:rPr lang="en-US" sz="1200" dirty="0"/>
              <a:t>1 px -2.0  </a:t>
            </a:r>
          </a:p>
          <a:p>
            <a:r>
              <a:rPr lang="en-US" sz="1200" dirty="0"/>
              <a:t>2 px  2.0 </a:t>
            </a:r>
          </a:p>
          <a:p>
            <a:r>
              <a:rPr lang="en-US" sz="1200" dirty="0"/>
              <a:t>3 py -2.0  </a:t>
            </a:r>
          </a:p>
          <a:p>
            <a:r>
              <a:rPr lang="en-US" sz="1200" dirty="0"/>
              <a:t>4 py  2.0 </a:t>
            </a:r>
          </a:p>
          <a:p>
            <a:r>
              <a:rPr lang="en-US" sz="1200" dirty="0"/>
              <a:t>5 cz  0.4</a:t>
            </a:r>
          </a:p>
          <a:p>
            <a:r>
              <a:rPr lang="en-US" sz="1200" dirty="0"/>
              <a:t>6 cz  0.3</a:t>
            </a:r>
          </a:p>
          <a:p>
            <a:r>
              <a:rPr lang="en-US" sz="1200" dirty="0"/>
              <a:t>7 cz  0.2</a:t>
            </a:r>
          </a:p>
          <a:p>
            <a:endParaRPr lang="en-US" sz="1200" dirty="0"/>
          </a:p>
          <a:p>
            <a:r>
              <a:rPr lang="en-US" sz="1200" dirty="0"/>
              <a:t>m1  92235.72c 1.0</a:t>
            </a:r>
          </a:p>
          <a:p>
            <a:r>
              <a:rPr lang="en-US" sz="1200" dirty="0"/>
              <a:t>m2   1001.72c 2.0 8016.72c 1.0  </a:t>
            </a:r>
          </a:p>
          <a:p>
            <a:r>
              <a:rPr lang="en-US" sz="1200" dirty="0"/>
              <a:t>mt2  hh2o.71t </a:t>
            </a:r>
          </a:p>
        </p:txBody>
      </p:sp>
      <p:sp>
        <p:nvSpPr>
          <p:cNvPr id="8" name="TextBox 7"/>
          <p:cNvSpPr txBox="1"/>
          <p:nvPr/>
        </p:nvSpPr>
        <p:spPr>
          <a:xfrm>
            <a:off x="498995" y="1337393"/>
            <a:ext cx="1852815" cy="369332"/>
          </a:xfrm>
          <a:prstGeom prst="rect">
            <a:avLst/>
          </a:prstGeom>
          <a:noFill/>
        </p:spPr>
        <p:txBody>
          <a:bodyPr wrap="none" rtlCol="0">
            <a:spAutoFit/>
          </a:bodyPr>
          <a:lstStyle/>
          <a:p>
            <a:r>
              <a:rPr lang="en-US" dirty="0"/>
              <a:t>5. Simple lattice  </a:t>
            </a:r>
          </a:p>
        </p:txBody>
      </p:sp>
      <p:graphicFrame>
        <p:nvGraphicFramePr>
          <p:cNvPr id="9" name="Table 8"/>
          <p:cNvGraphicFramePr>
            <a:graphicFrameLocks noGrp="1"/>
          </p:cNvGraphicFramePr>
          <p:nvPr/>
        </p:nvGraphicFramePr>
        <p:xfrm>
          <a:off x="4351282" y="5028278"/>
          <a:ext cx="4358062" cy="1112520"/>
        </p:xfrm>
        <a:graphic>
          <a:graphicData uri="http://schemas.openxmlformats.org/drawingml/2006/table">
            <a:tbl>
              <a:tblPr firstRow="1" bandRow="1">
                <a:tableStyleId>{073A0DAA-6AF3-43AB-8588-CEC1D06C72B9}</a:tableStyleId>
              </a:tblPr>
              <a:tblGrid>
                <a:gridCol w="2179031">
                  <a:extLst>
                    <a:ext uri="{9D8B030D-6E8A-4147-A177-3AD203B41FA5}">
                      <a16:colId xmlns:a16="http://schemas.microsoft.com/office/drawing/2014/main" val="20000"/>
                    </a:ext>
                  </a:extLst>
                </a:gridCol>
                <a:gridCol w="2179031">
                  <a:extLst>
                    <a:ext uri="{9D8B030D-6E8A-4147-A177-3AD203B41FA5}">
                      <a16:colId xmlns:a16="http://schemas.microsoft.com/office/drawing/2014/main" val="20001"/>
                    </a:ext>
                  </a:extLst>
                </a:gridCol>
              </a:tblGrid>
              <a:tr h="370840">
                <a:tc>
                  <a:txBody>
                    <a:bodyPr/>
                    <a:lstStyle/>
                    <a:p>
                      <a:r>
                        <a:rPr lang="en-US" dirty="0"/>
                        <a:t>code</a:t>
                      </a:r>
                    </a:p>
                  </a:txBody>
                  <a:tcPr/>
                </a:tc>
                <a:tc>
                  <a:txBody>
                    <a:bodyPr/>
                    <a:lstStyle/>
                    <a:p>
                      <a:r>
                        <a:rPr lang="en-US" dirty="0"/>
                        <a:t>  Keff </a:t>
                      </a:r>
                    </a:p>
                  </a:txBody>
                  <a:tcPr/>
                </a:tc>
                <a:extLst>
                  <a:ext uri="{0D108BD9-81ED-4DB2-BD59-A6C34878D82A}">
                    <a16:rowId xmlns:a16="http://schemas.microsoft.com/office/drawing/2014/main" val="10000"/>
                  </a:ext>
                </a:extLst>
              </a:tr>
              <a:tr h="370840">
                <a:tc>
                  <a:txBody>
                    <a:bodyPr/>
                    <a:lstStyle/>
                    <a:p>
                      <a:r>
                        <a:rPr lang="en-US" dirty="0"/>
                        <a:t>OpenMC</a:t>
                      </a:r>
                    </a:p>
                  </a:txBody>
                  <a:tcPr/>
                </a:tc>
                <a:tc>
                  <a:txBody>
                    <a:bodyPr/>
                    <a:lstStyle/>
                    <a:p>
                      <a:r>
                        <a:rPr lang="en-US" dirty="0"/>
                        <a:t>0.05983  ± </a:t>
                      </a:r>
                      <a:r>
                        <a:rPr lang="en-US" baseline="0" dirty="0"/>
                        <a:t> 0.0001</a:t>
                      </a:r>
                      <a:endParaRPr lang="en-US" dirty="0"/>
                    </a:p>
                  </a:txBody>
                  <a:tcPr/>
                </a:tc>
                <a:extLst>
                  <a:ext uri="{0D108BD9-81ED-4DB2-BD59-A6C34878D82A}">
                    <a16:rowId xmlns:a16="http://schemas.microsoft.com/office/drawing/2014/main" val="10001"/>
                  </a:ext>
                </a:extLst>
              </a:tr>
              <a:tr h="370840">
                <a:tc>
                  <a:txBody>
                    <a:bodyPr/>
                    <a:lstStyle/>
                    <a:p>
                      <a:r>
                        <a:rPr lang="en-US" dirty="0"/>
                        <a:t>This code</a:t>
                      </a:r>
                    </a:p>
                  </a:txBody>
                  <a:tcPr/>
                </a:tc>
                <a:tc>
                  <a:txBody>
                    <a:bodyPr/>
                    <a:lstStyle/>
                    <a:p>
                      <a:r>
                        <a:rPr lang="en-US" dirty="0"/>
                        <a:t>0.072534 ± 0.0002</a:t>
                      </a:r>
                    </a:p>
                  </a:txBody>
                  <a:tcPr/>
                </a:tc>
                <a:extLst>
                  <a:ext uri="{0D108BD9-81ED-4DB2-BD59-A6C34878D82A}">
                    <a16:rowId xmlns:a16="http://schemas.microsoft.com/office/drawing/2014/main" val="10002"/>
                  </a:ext>
                </a:extLst>
              </a:tr>
            </a:tbl>
          </a:graphicData>
        </a:graphic>
      </p:graphicFrame>
    </p:spTree>
    <p:extLst>
      <p:ext uri="{BB962C8B-B14F-4D97-AF65-F5344CB8AC3E}">
        <p14:creationId xmlns:p14="http://schemas.microsoft.com/office/powerpoint/2010/main" val="408570306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08615" y="1989467"/>
            <a:ext cx="8231571" cy="2381523"/>
          </a:xfrm>
        </p:spPr>
        <p:txBody>
          <a:bodyPr>
            <a:normAutofit fontScale="70000" lnSpcReduction="20000"/>
          </a:bodyPr>
          <a:lstStyle/>
          <a:p>
            <a:r>
              <a:rPr lang="en-US" dirty="0"/>
              <a:t>    Incorporate input feature ( include other surface like cone ellipsoid )</a:t>
            </a:r>
          </a:p>
          <a:p>
            <a:r>
              <a:rPr lang="en-US" dirty="0"/>
              <a:t>    lattice – hexagonal</a:t>
            </a:r>
          </a:p>
          <a:p>
            <a:r>
              <a:rPr lang="en-US" dirty="0"/>
              <a:t>    nested lattice</a:t>
            </a:r>
          </a:p>
          <a:p>
            <a:r>
              <a:rPr lang="en-US" dirty="0"/>
              <a:t>    complex cell ( union and complement operators)</a:t>
            </a:r>
          </a:p>
          <a:p>
            <a:r>
              <a:rPr lang="en-US" dirty="0"/>
              <a:t>    write code to for parallel mode</a:t>
            </a:r>
          </a:p>
          <a:p>
            <a:r>
              <a:rPr lang="en-US" dirty="0"/>
              <a:t>    much more</a:t>
            </a:r>
          </a:p>
        </p:txBody>
      </p:sp>
      <p:sp>
        <p:nvSpPr>
          <p:cNvPr id="6"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To do</a:t>
            </a:r>
            <a:endParaRPr lang="en-US" sz="3200" b="1" baseline="-25000" dirty="0">
              <a:solidFill>
                <a:schemeClr val="bg1">
                  <a:lumMod val="65000"/>
                </a:schemeClr>
              </a:solidFill>
            </a:endParaRPr>
          </a:p>
        </p:txBody>
      </p:sp>
    </p:spTree>
    <p:extLst>
      <p:ext uri="{BB962C8B-B14F-4D97-AF65-F5344CB8AC3E}">
        <p14:creationId xmlns:p14="http://schemas.microsoft.com/office/powerpoint/2010/main" val="365232285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537658" y="4031030"/>
            <a:ext cx="2523476" cy="386197"/>
          </a:xfrm>
          <a:prstGeom prst="rect">
            <a:avLst/>
          </a:prstGeom>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2000" b="1" dirty="0">
                <a:latin typeface="+mn-lt"/>
              </a:rPr>
              <a:t>Conference papers</a:t>
            </a:r>
          </a:p>
        </p:txBody>
      </p:sp>
      <p:sp>
        <p:nvSpPr>
          <p:cNvPr id="7" name="TextBox 6"/>
          <p:cNvSpPr txBox="1"/>
          <p:nvPr/>
        </p:nvSpPr>
        <p:spPr>
          <a:xfrm>
            <a:off x="537659" y="1091262"/>
            <a:ext cx="1356269" cy="400110"/>
          </a:xfrm>
          <a:prstGeom prst="rect">
            <a:avLst/>
          </a:prstGeom>
          <a:noFill/>
        </p:spPr>
        <p:txBody>
          <a:bodyPr wrap="none" rtlCol="0">
            <a:spAutoFit/>
          </a:bodyPr>
          <a:lstStyle/>
          <a:p>
            <a:r>
              <a:rPr lang="en-US" sz="2000" b="1" dirty="0"/>
              <a:t>References</a:t>
            </a:r>
            <a:endParaRPr lang="en-US" b="1" dirty="0"/>
          </a:p>
        </p:txBody>
      </p:sp>
      <p:sp>
        <p:nvSpPr>
          <p:cNvPr id="10" name="TextBox 9"/>
          <p:cNvSpPr txBox="1"/>
          <p:nvPr/>
        </p:nvSpPr>
        <p:spPr>
          <a:xfrm>
            <a:off x="731837" y="4494670"/>
            <a:ext cx="8061435" cy="1600438"/>
          </a:xfrm>
          <a:prstGeom prst="rect">
            <a:avLst/>
          </a:prstGeom>
          <a:noFill/>
        </p:spPr>
        <p:txBody>
          <a:bodyPr wrap="square" rtlCol="0">
            <a:spAutoFit/>
          </a:bodyPr>
          <a:lstStyle/>
          <a:p>
            <a:r>
              <a:rPr lang="en-US" altLang="en-US" sz="1400" dirty="0">
                <a:cs typeface="Arial" panose="020B0604020202020204" pitchFamily="34" charset="0"/>
              </a:rPr>
              <a:t>1.   “</a:t>
            </a:r>
            <a:r>
              <a:rPr lang="en-US" altLang="en-US" sz="1400" b="1" i="1" dirty="0">
                <a:cs typeface="Arial" panose="020B0604020202020204" pitchFamily="34" charset="0"/>
              </a:rPr>
              <a:t>Advances</a:t>
            </a:r>
            <a:r>
              <a:rPr lang="en-US" altLang="en-US" sz="1400" b="1" i="1" dirty="0"/>
              <a:t> </a:t>
            </a:r>
            <a:r>
              <a:rPr lang="en-US" altLang="en-US" sz="1400" b="1" i="1" dirty="0">
                <a:cs typeface="Arial" panose="020B0604020202020204" pitchFamily="34" charset="0"/>
              </a:rPr>
              <a:t>in Monte Carlo methods in Radiation Transport</a:t>
            </a:r>
            <a:r>
              <a:rPr lang="en-US" altLang="en-US" sz="1400" dirty="0">
                <a:cs typeface="Arial" panose="020B0604020202020204" pitchFamily="34" charset="0"/>
              </a:rPr>
              <a:t>”  </a:t>
            </a:r>
            <a:r>
              <a:rPr lang="en-US" altLang="en-US" sz="1400" dirty="0" err="1"/>
              <a:t>Sachin</a:t>
            </a:r>
            <a:r>
              <a:rPr lang="en-US" altLang="en-US" sz="1400" dirty="0"/>
              <a:t> </a:t>
            </a:r>
            <a:r>
              <a:rPr lang="en-US" altLang="en-US" sz="1400" dirty="0" err="1"/>
              <a:t>Shet</a:t>
            </a:r>
            <a:r>
              <a:rPr lang="en-US" altLang="en-US" sz="1400" dirty="0"/>
              <a:t>,  </a:t>
            </a:r>
            <a:r>
              <a:rPr lang="en-US" altLang="en-US" sz="1400" dirty="0" err="1"/>
              <a:t>K.V.Subbaiah</a:t>
            </a:r>
            <a:endParaRPr lang="en-US" altLang="en-US" sz="1400" dirty="0"/>
          </a:p>
          <a:p>
            <a:r>
              <a:rPr lang="en-US" altLang="en-US" sz="1400" dirty="0">
                <a:cs typeface="Arial" panose="020B0604020202020204" pitchFamily="34" charset="0"/>
              </a:rPr>
              <a:t>         Indian Association for Radiation Protection International Conference – 2018,</a:t>
            </a:r>
          </a:p>
          <a:p>
            <a:r>
              <a:rPr lang="en-US" sz="1400" dirty="0"/>
              <a:t>2.   “</a:t>
            </a:r>
            <a:r>
              <a:rPr lang="en-US" sz="1400" b="1" i="1" dirty="0"/>
              <a:t>Monte Carlo simulation: Optimization of computer time and memory</a:t>
            </a:r>
            <a:r>
              <a:rPr lang="en-US" sz="1400" dirty="0"/>
              <a:t>”, </a:t>
            </a:r>
            <a:r>
              <a:rPr lang="en-US" altLang="en-US" sz="1400" dirty="0" err="1"/>
              <a:t>Sachin</a:t>
            </a:r>
            <a:r>
              <a:rPr lang="en-US" altLang="en-US" sz="1400" dirty="0"/>
              <a:t> </a:t>
            </a:r>
            <a:r>
              <a:rPr lang="en-US" altLang="en-US" sz="1400" dirty="0" err="1"/>
              <a:t>Shet</a:t>
            </a:r>
            <a:r>
              <a:rPr lang="en-US" altLang="en-US" sz="1400" dirty="0"/>
              <a:t>,  </a:t>
            </a:r>
            <a:r>
              <a:rPr lang="en-US" altLang="en-US" sz="1400" dirty="0" err="1"/>
              <a:t>K.V.Subbaiah</a:t>
            </a:r>
            <a:endParaRPr lang="en-US" altLang="en-US" sz="1400" dirty="0"/>
          </a:p>
          <a:p>
            <a:r>
              <a:rPr lang="en-US" sz="1400" dirty="0"/>
              <a:t>         </a:t>
            </a:r>
            <a:r>
              <a:rPr lang="en-US" sz="1400" dirty="0" err="1"/>
              <a:t>Manipal</a:t>
            </a:r>
            <a:r>
              <a:rPr lang="en-US" sz="1400" dirty="0"/>
              <a:t> Research Colloquium – 2017 </a:t>
            </a:r>
          </a:p>
          <a:p>
            <a:r>
              <a:rPr lang="en-US" sz="1400" dirty="0"/>
              <a:t>3.   </a:t>
            </a:r>
            <a:r>
              <a:rPr lang="en-US" sz="1400" b="1" dirty="0"/>
              <a:t>“Comparison of measured and calculated dose rates of Am-Be source with Monte Carlo simulation.”</a:t>
            </a:r>
          </a:p>
          <a:p>
            <a:r>
              <a:rPr lang="en-US" sz="1400" dirty="0"/>
              <a:t>         </a:t>
            </a:r>
            <a:r>
              <a:rPr lang="en-US" sz="1400" dirty="0" err="1"/>
              <a:t>Sachin</a:t>
            </a:r>
            <a:r>
              <a:rPr lang="en-US" sz="1400" dirty="0"/>
              <a:t> </a:t>
            </a:r>
            <a:r>
              <a:rPr lang="en-US" sz="1400" dirty="0" err="1"/>
              <a:t>Shet</a:t>
            </a:r>
            <a:r>
              <a:rPr lang="en-US" sz="1400" dirty="0"/>
              <a:t>, K V </a:t>
            </a:r>
            <a:r>
              <a:rPr lang="en-US" sz="1400" dirty="0" err="1"/>
              <a:t>Subbaiah</a:t>
            </a:r>
            <a:r>
              <a:rPr lang="en-US" sz="1400" dirty="0"/>
              <a:t>, 21</a:t>
            </a:r>
            <a:r>
              <a:rPr lang="en-US" sz="1400" baseline="30000" dirty="0"/>
              <a:t>st</a:t>
            </a:r>
            <a:r>
              <a:rPr lang="en-US" sz="1400" dirty="0"/>
              <a:t> National Symposium on Radiation Physics-2018</a:t>
            </a:r>
          </a:p>
          <a:p>
            <a:endParaRPr lang="en-US" sz="1400" dirty="0"/>
          </a:p>
        </p:txBody>
      </p:sp>
      <p:sp>
        <p:nvSpPr>
          <p:cNvPr id="8" name="TextBox 7"/>
          <p:cNvSpPr txBox="1"/>
          <p:nvPr/>
        </p:nvSpPr>
        <p:spPr>
          <a:xfrm>
            <a:off x="731837" y="1706817"/>
            <a:ext cx="7755329" cy="2246769"/>
          </a:xfrm>
          <a:prstGeom prst="rect">
            <a:avLst/>
          </a:prstGeom>
          <a:noFill/>
        </p:spPr>
        <p:txBody>
          <a:bodyPr wrap="square" rtlCol="0">
            <a:spAutoFit/>
          </a:bodyPr>
          <a:lstStyle/>
          <a:p>
            <a:pPr marL="285750" indent="-285750">
              <a:buFont typeface="Arial" panose="020B0604020202020204" pitchFamily="34" charset="0"/>
              <a:buChar char="•"/>
            </a:pPr>
            <a:r>
              <a:rPr lang="en-US" sz="1400" dirty="0"/>
              <a:t>Numerical Recipes in Fortran The art of scientific computing</a:t>
            </a:r>
          </a:p>
          <a:p>
            <a:r>
              <a:rPr lang="en-US" sz="1400" dirty="0"/>
              <a:t>       William H. Press, Saul A. </a:t>
            </a:r>
            <a:r>
              <a:rPr lang="en-US" sz="1400" dirty="0" err="1"/>
              <a:t>Teukolsky</a:t>
            </a:r>
            <a:r>
              <a:rPr lang="en-US" sz="1400" dirty="0"/>
              <a:t> William T. </a:t>
            </a:r>
            <a:r>
              <a:rPr lang="en-US" sz="1400" dirty="0" err="1"/>
              <a:t>Vetterling</a:t>
            </a:r>
            <a:r>
              <a:rPr lang="en-US" sz="1400" dirty="0"/>
              <a:t>, Brian P. Flannery</a:t>
            </a:r>
          </a:p>
          <a:p>
            <a:pPr marL="285750" indent="-285750">
              <a:buFont typeface="Arial" panose="020B0604020202020204" pitchFamily="34" charset="0"/>
              <a:buChar char="•"/>
            </a:pPr>
            <a:r>
              <a:rPr lang="en-US" sz="1400" dirty="0"/>
              <a:t>Monte Carlo methods, </a:t>
            </a:r>
            <a:r>
              <a:rPr lang="en-US" sz="1400" dirty="0" err="1"/>
              <a:t>Malvin</a:t>
            </a:r>
            <a:r>
              <a:rPr lang="en-US" sz="1400" dirty="0"/>
              <a:t> H. </a:t>
            </a:r>
            <a:r>
              <a:rPr lang="en-US" sz="1400" dirty="0" err="1"/>
              <a:t>Kalos</a:t>
            </a:r>
            <a:endParaRPr lang="en-US" sz="1400" dirty="0"/>
          </a:p>
          <a:p>
            <a:pPr marL="285750" indent="-285750">
              <a:buFont typeface="Arial" panose="020B0604020202020204" pitchFamily="34" charset="0"/>
              <a:buChar char="•"/>
            </a:pPr>
            <a:r>
              <a:rPr lang="en-US" sz="1400" dirty="0"/>
              <a:t>Monte Carlo N–Particle Transport Code System Contributed by: Los Alamos     </a:t>
            </a:r>
          </a:p>
          <a:p>
            <a:r>
              <a:rPr lang="en-US" sz="1400" dirty="0"/>
              <a:t>       National Laboratory, Los Alamos, New Mexico</a:t>
            </a:r>
          </a:p>
          <a:p>
            <a:pPr marL="285750" indent="-285750">
              <a:buFont typeface="Arial" panose="020B0604020202020204" pitchFamily="34" charset="0"/>
              <a:buChar char="•"/>
            </a:pPr>
            <a:r>
              <a:rPr lang="en-US" sz="1400" dirty="0"/>
              <a:t>Roger Brewer, “Criticality Calculations with MCNP5: A Primer”, </a:t>
            </a:r>
          </a:p>
          <a:p>
            <a:r>
              <a:rPr lang="en-US" sz="1400" dirty="0"/>
              <a:t>       Los Alamos National Laboratory,LA-UR-09-00380, January 2009</a:t>
            </a:r>
          </a:p>
          <a:p>
            <a:pPr marL="285750" indent="-285750">
              <a:buFont typeface="Arial" panose="020B0604020202020204" pitchFamily="34" charset="0"/>
              <a:buChar char="•"/>
            </a:pPr>
            <a:r>
              <a:rPr lang="en-US" sz="1400" dirty="0"/>
              <a:t>A Monte Carlo Primer, Stephen A Dupree and Stanley K. Fraley</a:t>
            </a:r>
          </a:p>
          <a:p>
            <a:pPr marL="285750" indent="-285750">
              <a:buFont typeface="Arial" panose="020B0604020202020204" pitchFamily="34" charset="0"/>
              <a:buChar char="•"/>
            </a:pPr>
            <a:r>
              <a:rPr lang="en-US" sz="1400" u="sng" dirty="0">
                <a:solidFill>
                  <a:schemeClr val="bg1"/>
                </a:solidFill>
                <a:hlinkClick r:id="rId3"/>
              </a:rPr>
              <a:t>http:// </a:t>
            </a:r>
            <a:r>
              <a:rPr lang="en-US" sz="1400" dirty="0">
                <a:solidFill>
                  <a:schemeClr val="bg1"/>
                </a:solidFill>
                <a:hlinkClick r:id="rId4"/>
              </a:rPr>
              <a:t>www.stackoverflow.com</a:t>
            </a:r>
            <a:r>
              <a:rPr lang="en-US" sz="1400" dirty="0">
                <a:solidFill>
                  <a:schemeClr val="bg1"/>
                </a:solidFill>
              </a:rPr>
              <a:t>, </a:t>
            </a:r>
            <a:r>
              <a:rPr lang="en-US" sz="1400" u="sng" dirty="0">
                <a:solidFill>
                  <a:schemeClr val="bg1"/>
                </a:solidFill>
                <a:hlinkClick r:id="rId3"/>
              </a:rPr>
              <a:t>http://gcc.gnu.org</a:t>
            </a:r>
            <a:r>
              <a:rPr lang="en-US" sz="1400" u="sng" dirty="0">
                <a:solidFill>
                  <a:schemeClr val="bg1"/>
                </a:solidFill>
              </a:rPr>
              <a:t>  </a:t>
            </a:r>
            <a:r>
              <a:rPr lang="en-US" sz="1400" u="sng" dirty="0">
                <a:solidFill>
                  <a:schemeClr val="bg1"/>
                </a:solidFill>
                <a:hlinkClick r:id="rId5"/>
              </a:rPr>
              <a:t>http://github.com</a:t>
            </a:r>
            <a:endParaRPr lang="en-US" sz="1400" dirty="0">
              <a:solidFill>
                <a:schemeClr val="bg1"/>
              </a:solidFill>
            </a:endParaRPr>
          </a:p>
          <a:p>
            <a:pPr marL="285750" indent="-285750">
              <a:buFont typeface="Arial" panose="020B0604020202020204" pitchFamily="34" charset="0"/>
              <a:buChar char="•"/>
            </a:pPr>
            <a:r>
              <a:rPr lang="en-US" sz="1400" u="sng" dirty="0">
                <a:solidFill>
                  <a:schemeClr val="bg1"/>
                </a:solidFill>
              </a:rPr>
              <a:t>, </a:t>
            </a:r>
          </a:p>
        </p:txBody>
      </p:sp>
    </p:spTree>
    <p:extLst>
      <p:ext uri="{BB962C8B-B14F-4D97-AF65-F5344CB8AC3E}">
        <p14:creationId xmlns:p14="http://schemas.microsoft.com/office/powerpoint/2010/main" val="697665891"/>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a:xfrm>
            <a:off x="6559550" y="5675751"/>
            <a:ext cx="2057400" cy="316442"/>
          </a:xfrm>
        </p:spPr>
        <p:txBody>
          <a:bodyPr/>
          <a:lstStyle/>
          <a:p>
            <a:fld id="{E8AED626-0DA2-41C1-8ADA-7C7DBD6AC235}" type="slidenum">
              <a:rPr lang="en-US" smtClean="0">
                <a:solidFill>
                  <a:schemeClr val="accent6">
                    <a:lumMod val="20000"/>
                    <a:lumOff val="80000"/>
                  </a:schemeClr>
                </a:solidFill>
              </a:rPr>
              <a:t>52</a:t>
            </a:fld>
            <a:endParaRPr lang="en-US" dirty="0">
              <a:solidFill>
                <a:schemeClr val="accent6">
                  <a:lumMod val="20000"/>
                  <a:lumOff val="80000"/>
                </a:schemeClr>
              </a:solidFill>
            </a:endParaRPr>
          </a:p>
        </p:txBody>
      </p:sp>
      <p:sp>
        <p:nvSpPr>
          <p:cNvPr id="7" name="TextBox 6"/>
          <p:cNvSpPr txBox="1"/>
          <p:nvPr/>
        </p:nvSpPr>
        <p:spPr>
          <a:xfrm>
            <a:off x="1943570" y="886960"/>
            <a:ext cx="1233030" cy="2031325"/>
          </a:xfrm>
          <a:prstGeom prst="rect">
            <a:avLst/>
          </a:prstGeom>
          <a:noFill/>
        </p:spPr>
        <p:txBody>
          <a:bodyPr wrap="none" rtlCol="0">
            <a:spAutoFit/>
          </a:bodyPr>
          <a:lstStyle/>
          <a:p>
            <a:r>
              <a:rPr lang="en-US" b="1" dirty="0">
                <a:solidFill>
                  <a:schemeClr val="accent6">
                    <a:lumMod val="20000"/>
                    <a:lumOff val="80000"/>
                  </a:schemeClr>
                </a:solidFill>
              </a:rPr>
              <a:t>common</a:t>
            </a:r>
          </a:p>
          <a:p>
            <a:r>
              <a:rPr lang="en-US" sz="1200" dirty="0">
                <a:solidFill>
                  <a:schemeClr val="accent6">
                    <a:lumMod val="20000"/>
                    <a:lumOff val="80000"/>
                  </a:schemeClr>
                </a:solidFill>
              </a:rPr>
              <a:t>write_fatalerror</a:t>
            </a:r>
          </a:p>
          <a:p>
            <a:r>
              <a:rPr lang="en-US" sz="1200" dirty="0">
                <a:solidFill>
                  <a:schemeClr val="accent6">
                    <a:lumMod val="20000"/>
                    <a:lumOff val="80000"/>
                  </a:schemeClr>
                </a:solidFill>
              </a:rPr>
              <a:t>write_warning</a:t>
            </a:r>
          </a:p>
          <a:p>
            <a:r>
              <a:rPr lang="en-US" sz="1200" dirty="0">
                <a:solidFill>
                  <a:schemeClr val="accent6">
                    <a:lumMod val="20000"/>
                    <a:lumOff val="80000"/>
                  </a:schemeClr>
                </a:solidFill>
              </a:rPr>
              <a:t>write_message</a:t>
            </a:r>
          </a:p>
          <a:p>
            <a:r>
              <a:rPr lang="en-US" sz="1200" dirty="0">
                <a:solidFill>
                  <a:schemeClr val="accent6">
                    <a:lumMod val="20000"/>
                    <a:lumOff val="80000"/>
                  </a:schemeClr>
                </a:solidFill>
              </a:rPr>
              <a:t>int_read_write</a:t>
            </a:r>
          </a:p>
          <a:p>
            <a:r>
              <a:rPr lang="en-US" sz="1200" dirty="0">
                <a:solidFill>
                  <a:schemeClr val="accent6">
                    <a:lumMod val="20000"/>
                    <a:lumOff val="80000"/>
                  </a:schemeClr>
                </a:solidFill>
              </a:rPr>
              <a:t>binary_search</a:t>
            </a:r>
          </a:p>
          <a:p>
            <a:r>
              <a:rPr lang="en-US" sz="1200" dirty="0">
                <a:solidFill>
                  <a:schemeClr val="accent6">
                    <a:lumMod val="20000"/>
                    <a:lumOff val="80000"/>
                  </a:schemeClr>
                </a:solidFill>
              </a:rPr>
              <a:t>int_to_str</a:t>
            </a:r>
          </a:p>
          <a:p>
            <a:r>
              <a:rPr lang="en-US" sz="1200" dirty="0">
                <a:solidFill>
                  <a:schemeClr val="accent6">
                    <a:lumMod val="20000"/>
                    <a:lumOff val="80000"/>
                  </a:schemeClr>
                </a:solidFill>
              </a:rPr>
              <a:t>interpolate_tab1</a:t>
            </a:r>
          </a:p>
          <a:p>
            <a:r>
              <a:rPr lang="en-US" sz="1200" dirty="0">
                <a:solidFill>
                  <a:schemeClr val="accent6">
                    <a:lumMod val="20000"/>
                    <a:lumOff val="80000"/>
                  </a:schemeClr>
                </a:solidFill>
              </a:rPr>
              <a:t>real_to_str</a:t>
            </a:r>
          </a:p>
          <a:p>
            <a:r>
              <a:rPr lang="en-US" sz="1200" dirty="0">
                <a:solidFill>
                  <a:schemeClr val="accent6">
                    <a:lumMod val="20000"/>
                    <a:lumOff val="80000"/>
                  </a:schemeClr>
                </a:solidFill>
              </a:rPr>
              <a:t>free_memory</a:t>
            </a:r>
          </a:p>
        </p:txBody>
      </p:sp>
      <p:sp>
        <p:nvSpPr>
          <p:cNvPr id="8" name="TextBox 7"/>
          <p:cNvSpPr txBox="1"/>
          <p:nvPr/>
        </p:nvSpPr>
        <p:spPr>
          <a:xfrm>
            <a:off x="7019213" y="5128784"/>
            <a:ext cx="1550168" cy="923330"/>
          </a:xfrm>
          <a:prstGeom prst="rect">
            <a:avLst/>
          </a:prstGeom>
          <a:noFill/>
        </p:spPr>
        <p:txBody>
          <a:bodyPr wrap="none" rtlCol="0">
            <a:spAutoFit/>
          </a:bodyPr>
          <a:lstStyle/>
          <a:p>
            <a:r>
              <a:rPr lang="en-US" b="1" dirty="0">
                <a:solidFill>
                  <a:schemeClr val="accent6">
                    <a:lumMod val="20000"/>
                    <a:lumOff val="80000"/>
                  </a:schemeClr>
                </a:solidFill>
              </a:rPr>
              <a:t>constants</a:t>
            </a:r>
          </a:p>
          <a:p>
            <a:r>
              <a:rPr lang="en-US" sz="1200" b="1" dirty="0">
                <a:solidFill>
                  <a:schemeClr val="accent6">
                    <a:lumMod val="20000"/>
                    <a:lumOff val="80000"/>
                  </a:schemeClr>
                </a:solidFill>
              </a:rPr>
              <a:t>Contains all constant </a:t>
            </a:r>
          </a:p>
          <a:p>
            <a:r>
              <a:rPr lang="en-US" sz="1200" b="1" dirty="0">
                <a:solidFill>
                  <a:schemeClr val="accent6">
                    <a:lumMod val="20000"/>
                    <a:lumOff val="80000"/>
                  </a:schemeClr>
                </a:solidFill>
              </a:rPr>
              <a:t>parameter required </a:t>
            </a:r>
          </a:p>
          <a:p>
            <a:r>
              <a:rPr lang="en-US" sz="1200" b="1" dirty="0">
                <a:solidFill>
                  <a:schemeClr val="accent6">
                    <a:lumMod val="20000"/>
                    <a:lumOff val="80000"/>
                  </a:schemeClr>
                </a:solidFill>
              </a:rPr>
              <a:t>for the code</a:t>
            </a:r>
            <a:endParaRPr lang="en-US" sz="1200" dirty="0">
              <a:solidFill>
                <a:schemeClr val="accent6">
                  <a:lumMod val="20000"/>
                  <a:lumOff val="80000"/>
                </a:schemeClr>
              </a:solidFill>
            </a:endParaRPr>
          </a:p>
        </p:txBody>
      </p:sp>
      <p:sp>
        <p:nvSpPr>
          <p:cNvPr id="9" name="TextBox 8"/>
          <p:cNvSpPr txBox="1"/>
          <p:nvPr/>
        </p:nvSpPr>
        <p:spPr>
          <a:xfrm>
            <a:off x="332109" y="5187184"/>
            <a:ext cx="1649811" cy="923330"/>
          </a:xfrm>
          <a:prstGeom prst="rect">
            <a:avLst/>
          </a:prstGeom>
          <a:noFill/>
        </p:spPr>
        <p:txBody>
          <a:bodyPr wrap="none" rtlCol="0">
            <a:spAutoFit/>
          </a:bodyPr>
          <a:lstStyle/>
          <a:p>
            <a:r>
              <a:rPr lang="en-US" b="1" dirty="0">
                <a:solidFill>
                  <a:schemeClr val="accent6">
                    <a:lumMod val="20000"/>
                    <a:lumOff val="80000"/>
                  </a:schemeClr>
                </a:solidFill>
              </a:rPr>
              <a:t>declarations</a:t>
            </a:r>
          </a:p>
          <a:p>
            <a:r>
              <a:rPr lang="en-US" sz="1200" b="1" dirty="0">
                <a:solidFill>
                  <a:schemeClr val="accent6">
                    <a:lumMod val="20000"/>
                    <a:lumOff val="80000"/>
                  </a:schemeClr>
                </a:solidFill>
              </a:rPr>
              <a:t>contains all type</a:t>
            </a:r>
          </a:p>
          <a:p>
            <a:r>
              <a:rPr lang="en-US" sz="1200" b="1" dirty="0">
                <a:solidFill>
                  <a:schemeClr val="accent6">
                    <a:lumMod val="20000"/>
                    <a:lumOff val="80000"/>
                  </a:schemeClr>
                </a:solidFill>
              </a:rPr>
              <a:t>and  class declarations</a:t>
            </a:r>
          </a:p>
          <a:p>
            <a:r>
              <a:rPr lang="en-US" sz="1200" b="1" dirty="0">
                <a:solidFill>
                  <a:schemeClr val="accent6">
                    <a:lumMod val="20000"/>
                    <a:lumOff val="80000"/>
                  </a:schemeClr>
                </a:solidFill>
              </a:rPr>
              <a:t>required</a:t>
            </a:r>
          </a:p>
        </p:txBody>
      </p:sp>
      <p:sp>
        <p:nvSpPr>
          <p:cNvPr id="10" name="TextBox 9"/>
          <p:cNvSpPr txBox="1"/>
          <p:nvPr/>
        </p:nvSpPr>
        <p:spPr>
          <a:xfrm>
            <a:off x="350240" y="881469"/>
            <a:ext cx="1364476" cy="4708981"/>
          </a:xfrm>
          <a:prstGeom prst="rect">
            <a:avLst/>
          </a:prstGeom>
          <a:noFill/>
        </p:spPr>
        <p:txBody>
          <a:bodyPr wrap="none" rtlCol="0">
            <a:spAutoFit/>
          </a:bodyPr>
          <a:lstStyle/>
          <a:p>
            <a:r>
              <a:rPr lang="en-US" b="1" dirty="0">
                <a:solidFill>
                  <a:schemeClr val="accent6">
                    <a:lumMod val="20000"/>
                    <a:lumOff val="80000"/>
                  </a:schemeClr>
                </a:solidFill>
              </a:rPr>
              <a:t>cxs</a:t>
            </a:r>
          </a:p>
          <a:p>
            <a:r>
              <a:rPr lang="en-US" sz="1100" dirty="0">
                <a:solidFill>
                  <a:schemeClr val="accent6">
                    <a:lumMod val="20000"/>
                    <a:lumOff val="80000"/>
                  </a:schemeClr>
                </a:solidFill>
              </a:rPr>
              <a:t>normalize_ao</a:t>
            </a:r>
          </a:p>
          <a:p>
            <a:r>
              <a:rPr lang="en-US" sz="1100" dirty="0" err="1">
                <a:solidFill>
                  <a:schemeClr val="accent6">
                    <a:lumMod val="20000"/>
                    <a:lumOff val="80000"/>
                  </a:schemeClr>
                </a:solidFill>
              </a:rPr>
              <a:t>logarithmic_grid</a:t>
            </a:r>
            <a:endParaRPr lang="en-US" sz="1100" dirty="0">
              <a:solidFill>
                <a:schemeClr val="accent6">
                  <a:lumMod val="20000"/>
                  <a:lumOff val="80000"/>
                </a:schemeClr>
              </a:solidFill>
            </a:endParaRPr>
          </a:p>
          <a:p>
            <a:r>
              <a:rPr lang="en-US" sz="1100" dirty="0" err="1">
                <a:solidFill>
                  <a:schemeClr val="accent6">
                    <a:lumMod val="20000"/>
                    <a:lumOff val="80000"/>
                  </a:schemeClr>
                </a:solidFill>
              </a:rPr>
              <a:t>calculate_xs</a:t>
            </a:r>
            <a:endParaRPr lang="en-US" sz="1100" dirty="0">
              <a:solidFill>
                <a:schemeClr val="accent6">
                  <a:lumMod val="20000"/>
                  <a:lumOff val="80000"/>
                </a:schemeClr>
              </a:solidFill>
            </a:endParaRPr>
          </a:p>
          <a:p>
            <a:r>
              <a:rPr lang="en-US" sz="1100" dirty="0" err="1">
                <a:solidFill>
                  <a:schemeClr val="accent6">
                    <a:lumMod val="20000"/>
                    <a:lumOff val="80000"/>
                  </a:schemeClr>
                </a:solidFill>
              </a:rPr>
              <a:t>calculate_nuclide_xs</a:t>
            </a:r>
            <a:endParaRPr lang="en-US" sz="1100" dirty="0">
              <a:solidFill>
                <a:schemeClr val="accent6">
                  <a:lumMod val="20000"/>
                  <a:lumOff val="80000"/>
                </a:schemeClr>
              </a:solidFill>
            </a:endParaRPr>
          </a:p>
          <a:p>
            <a:r>
              <a:rPr lang="en-US" sz="1100" dirty="0">
                <a:solidFill>
                  <a:schemeClr val="accent6">
                    <a:lumMod val="20000"/>
                    <a:lumOff val="80000"/>
                  </a:schemeClr>
                </a:solidFill>
              </a:rPr>
              <a:t>calculate_urr_xs</a:t>
            </a:r>
          </a:p>
          <a:p>
            <a:r>
              <a:rPr lang="en-US" sz="1100" dirty="0">
                <a:solidFill>
                  <a:schemeClr val="accent6">
                    <a:lumMod val="20000"/>
                    <a:lumOff val="80000"/>
                  </a:schemeClr>
                </a:solidFill>
              </a:rPr>
              <a:t>read_xs</a:t>
            </a:r>
          </a:p>
          <a:p>
            <a:r>
              <a:rPr lang="en-US" sz="1100" dirty="0">
                <a:solidFill>
                  <a:schemeClr val="accent6">
                    <a:lumMod val="20000"/>
                    <a:lumOff val="80000"/>
                  </a:schemeClr>
                </a:solidFill>
              </a:rPr>
              <a:t>read_ace_table</a:t>
            </a:r>
          </a:p>
          <a:p>
            <a:r>
              <a:rPr lang="en-US" sz="1100" dirty="0">
                <a:solidFill>
                  <a:schemeClr val="accent6">
                    <a:lumMod val="20000"/>
                    <a:lumOff val="80000"/>
                  </a:schemeClr>
                </a:solidFill>
              </a:rPr>
              <a:t>read_esz</a:t>
            </a:r>
          </a:p>
          <a:p>
            <a:r>
              <a:rPr lang="en-US" sz="1100" dirty="0">
                <a:solidFill>
                  <a:schemeClr val="accent6">
                    <a:lumMod val="20000"/>
                    <a:lumOff val="80000"/>
                  </a:schemeClr>
                </a:solidFill>
              </a:rPr>
              <a:t>read_nu_data</a:t>
            </a:r>
          </a:p>
          <a:p>
            <a:r>
              <a:rPr lang="en-US" sz="1100" dirty="0">
                <a:solidFill>
                  <a:schemeClr val="accent6">
                    <a:lumMod val="20000"/>
                    <a:lumOff val="80000"/>
                  </a:schemeClr>
                </a:solidFill>
              </a:rPr>
              <a:t>read_reactions</a:t>
            </a:r>
          </a:p>
          <a:p>
            <a:r>
              <a:rPr lang="en-US" sz="1100" dirty="0">
                <a:solidFill>
                  <a:schemeClr val="accent6">
                    <a:lumMod val="20000"/>
                    <a:lumOff val="80000"/>
                  </a:schemeClr>
                </a:solidFill>
              </a:rPr>
              <a:t>read_angular_dist</a:t>
            </a:r>
          </a:p>
          <a:p>
            <a:r>
              <a:rPr lang="en-US" sz="1100" dirty="0">
                <a:solidFill>
                  <a:schemeClr val="accent6">
                    <a:lumMod val="20000"/>
                    <a:lumOff val="80000"/>
                  </a:schemeClr>
                </a:solidFill>
              </a:rPr>
              <a:t>read_energy_dist</a:t>
            </a:r>
          </a:p>
          <a:p>
            <a:r>
              <a:rPr lang="en-US" sz="1100" dirty="0">
                <a:solidFill>
                  <a:schemeClr val="accent6">
                    <a:lumMod val="20000"/>
                    <a:lumOff val="80000"/>
                  </a:schemeClr>
                </a:solidFill>
              </a:rPr>
              <a:t>get_energy_dist</a:t>
            </a:r>
          </a:p>
          <a:p>
            <a:r>
              <a:rPr lang="en-US" sz="1100" dirty="0">
                <a:solidFill>
                  <a:schemeClr val="accent6">
                    <a:lumMod val="20000"/>
                    <a:lumOff val="80000"/>
                  </a:schemeClr>
                </a:solidFill>
              </a:rPr>
              <a:t>length_energy_dist</a:t>
            </a:r>
          </a:p>
          <a:p>
            <a:r>
              <a:rPr lang="en-US" sz="1100" dirty="0">
                <a:solidFill>
                  <a:schemeClr val="accent6">
                    <a:lumMod val="20000"/>
                    <a:lumOff val="80000"/>
                  </a:schemeClr>
                </a:solidFill>
              </a:rPr>
              <a:t>read_unr_res</a:t>
            </a:r>
          </a:p>
          <a:p>
            <a:r>
              <a:rPr lang="en-US" sz="1100" dirty="0">
                <a:solidFill>
                  <a:schemeClr val="accent6">
                    <a:lumMod val="20000"/>
                    <a:lumOff val="80000"/>
                  </a:schemeClr>
                </a:solidFill>
              </a:rPr>
              <a:t>generate_nu_fission</a:t>
            </a:r>
          </a:p>
          <a:p>
            <a:r>
              <a:rPr lang="en-US" sz="1100" dirty="0">
                <a:solidFill>
                  <a:schemeClr val="accent6">
                    <a:lumMod val="20000"/>
                    <a:lumOff val="80000"/>
                  </a:schemeClr>
                </a:solidFill>
              </a:rPr>
              <a:t>read_thermal_data</a:t>
            </a:r>
          </a:p>
          <a:p>
            <a:r>
              <a:rPr lang="en-US" sz="1100" dirty="0">
                <a:solidFill>
                  <a:schemeClr val="accent6">
                    <a:lumMod val="20000"/>
                    <a:lumOff val="80000"/>
                  </a:schemeClr>
                </a:solidFill>
              </a:rPr>
              <a:t>get_int</a:t>
            </a:r>
          </a:p>
          <a:p>
            <a:r>
              <a:rPr lang="en-US" sz="1100" dirty="0">
                <a:solidFill>
                  <a:schemeClr val="accent6">
                    <a:lumMod val="20000"/>
                    <a:lumOff val="80000"/>
                  </a:schemeClr>
                </a:solidFill>
              </a:rPr>
              <a:t>get_real</a:t>
            </a:r>
          </a:p>
          <a:p>
            <a:r>
              <a:rPr lang="en-US" sz="1100" dirty="0">
                <a:solidFill>
                  <a:schemeClr val="accent6">
                    <a:lumMod val="20000"/>
                    <a:lumOff val="80000"/>
                  </a:schemeClr>
                </a:solidFill>
              </a:rPr>
              <a:t>is_fission</a:t>
            </a:r>
          </a:p>
          <a:p>
            <a:r>
              <a:rPr lang="en-US" sz="1100" dirty="0">
                <a:solidFill>
                  <a:schemeClr val="accent6">
                    <a:lumMod val="20000"/>
                    <a:lumOff val="80000"/>
                  </a:schemeClr>
                </a:solidFill>
              </a:rPr>
              <a:t>is_disappearance</a:t>
            </a:r>
          </a:p>
          <a:p>
            <a:r>
              <a:rPr lang="en-US" sz="1100" dirty="0">
                <a:solidFill>
                  <a:schemeClr val="accent6">
                    <a:lumMod val="20000"/>
                    <a:lumOff val="80000"/>
                  </a:schemeClr>
                </a:solidFill>
              </a:rPr>
              <a:t>is_scatter</a:t>
            </a:r>
          </a:p>
          <a:p>
            <a:r>
              <a:rPr lang="en-US" sz="1100" dirty="0">
                <a:solidFill>
                  <a:schemeClr val="accent6">
                    <a:lumMod val="20000"/>
                    <a:lumOff val="80000"/>
                  </a:schemeClr>
                </a:solidFill>
              </a:rPr>
              <a:t>reaction_name</a:t>
            </a:r>
          </a:p>
          <a:p>
            <a:r>
              <a:rPr lang="en-US" sz="1100" dirty="0">
                <a:solidFill>
                  <a:schemeClr val="accent6">
                    <a:lumMod val="20000"/>
                    <a:lumOff val="80000"/>
                  </a:schemeClr>
                </a:solidFill>
              </a:rPr>
              <a:t>calculate_sab_xs</a:t>
            </a:r>
          </a:p>
          <a:p>
            <a:endParaRPr lang="en-US" dirty="0">
              <a:solidFill>
                <a:schemeClr val="accent6">
                  <a:lumMod val="20000"/>
                  <a:lumOff val="80000"/>
                </a:schemeClr>
              </a:solidFill>
            </a:endParaRPr>
          </a:p>
        </p:txBody>
      </p:sp>
      <p:sp>
        <p:nvSpPr>
          <p:cNvPr id="11" name="TextBox 10"/>
          <p:cNvSpPr txBox="1"/>
          <p:nvPr/>
        </p:nvSpPr>
        <p:spPr>
          <a:xfrm>
            <a:off x="3340223" y="2918285"/>
            <a:ext cx="1521553" cy="1846659"/>
          </a:xfrm>
          <a:prstGeom prst="rect">
            <a:avLst/>
          </a:prstGeom>
          <a:noFill/>
        </p:spPr>
        <p:txBody>
          <a:bodyPr wrap="square" rtlCol="0">
            <a:spAutoFit/>
          </a:bodyPr>
          <a:lstStyle/>
          <a:p>
            <a:r>
              <a:rPr lang="en-US" b="1" dirty="0">
                <a:solidFill>
                  <a:schemeClr val="accent6">
                    <a:lumMod val="20000"/>
                    <a:lumOff val="80000"/>
                  </a:schemeClr>
                </a:solidFill>
              </a:rPr>
              <a:t>Eigenvalue</a:t>
            </a:r>
          </a:p>
          <a:p>
            <a:r>
              <a:rPr lang="en-US" sz="1200" dirty="0">
                <a:solidFill>
                  <a:schemeClr val="accent6">
                    <a:lumMod val="20000"/>
                    <a:lumOff val="80000"/>
                  </a:schemeClr>
                </a:solidFill>
              </a:rPr>
              <a:t>run_eigenvalue</a:t>
            </a:r>
          </a:p>
          <a:p>
            <a:r>
              <a:rPr lang="en-US" sz="1200" dirty="0">
                <a:solidFill>
                  <a:schemeClr val="accent6">
                    <a:lumMod val="20000"/>
                    <a:lumOff val="80000"/>
                  </a:schemeClr>
                </a:solidFill>
              </a:rPr>
              <a:t>output_print</a:t>
            </a:r>
          </a:p>
          <a:p>
            <a:r>
              <a:rPr lang="en-US" sz="1200" dirty="0">
                <a:solidFill>
                  <a:schemeClr val="accent6">
                    <a:lumMod val="20000"/>
                    <a:lumOff val="80000"/>
                  </a:schemeClr>
                </a:solidFill>
              </a:rPr>
              <a:t>initialize_batch</a:t>
            </a:r>
          </a:p>
          <a:p>
            <a:r>
              <a:rPr lang="en-US" sz="1200" dirty="0">
                <a:solidFill>
                  <a:schemeClr val="accent6">
                    <a:lumMod val="20000"/>
                    <a:lumOff val="80000"/>
                  </a:schemeClr>
                </a:solidFill>
              </a:rPr>
              <a:t>initialize_generation</a:t>
            </a:r>
          </a:p>
          <a:p>
            <a:r>
              <a:rPr lang="en-US" sz="1200" dirty="0">
                <a:solidFill>
                  <a:schemeClr val="accent6">
                    <a:lumMod val="20000"/>
                    <a:lumOff val="80000"/>
                  </a:schemeClr>
                </a:solidFill>
              </a:rPr>
              <a:t>finalize_generation</a:t>
            </a:r>
          </a:p>
          <a:p>
            <a:r>
              <a:rPr lang="en-US" sz="1200" dirty="0">
                <a:solidFill>
                  <a:schemeClr val="accent6">
                    <a:lumMod val="20000"/>
                    <a:lumOff val="80000"/>
                  </a:schemeClr>
                </a:solidFill>
              </a:rPr>
              <a:t>finalize_batch</a:t>
            </a:r>
          </a:p>
          <a:p>
            <a:r>
              <a:rPr lang="en-US" sz="1200" dirty="0">
                <a:solidFill>
                  <a:schemeClr val="accent6">
                    <a:lumMod val="20000"/>
                    <a:lumOff val="80000"/>
                  </a:schemeClr>
                </a:solidFill>
              </a:rPr>
              <a:t>synchronize_bank</a:t>
            </a:r>
          </a:p>
          <a:p>
            <a:r>
              <a:rPr lang="en-US" sz="1200" dirty="0">
                <a:solidFill>
                  <a:schemeClr val="accent6">
                    <a:lumMod val="20000"/>
                    <a:lumOff val="80000"/>
                  </a:schemeClr>
                </a:solidFill>
              </a:rPr>
              <a:t>reset_result</a:t>
            </a:r>
          </a:p>
        </p:txBody>
      </p:sp>
      <p:sp>
        <p:nvSpPr>
          <p:cNvPr id="12" name="TextBox 11"/>
          <p:cNvSpPr txBox="1"/>
          <p:nvPr/>
        </p:nvSpPr>
        <p:spPr>
          <a:xfrm>
            <a:off x="3340222" y="897825"/>
            <a:ext cx="1603196" cy="2031325"/>
          </a:xfrm>
          <a:prstGeom prst="rect">
            <a:avLst/>
          </a:prstGeom>
          <a:noFill/>
        </p:spPr>
        <p:txBody>
          <a:bodyPr wrap="none" rtlCol="0">
            <a:spAutoFit/>
          </a:bodyPr>
          <a:lstStyle/>
          <a:p>
            <a:r>
              <a:rPr lang="en-US" b="1" dirty="0">
                <a:solidFill>
                  <a:schemeClr val="accent6">
                    <a:lumMod val="20000"/>
                    <a:lumOff val="80000"/>
                  </a:schemeClr>
                </a:solidFill>
              </a:rPr>
              <a:t>geometry</a:t>
            </a:r>
          </a:p>
          <a:p>
            <a:r>
              <a:rPr lang="en-US" sz="1200" dirty="0">
                <a:solidFill>
                  <a:schemeClr val="accent6">
                    <a:lumMod val="20000"/>
                    <a:lumOff val="80000"/>
                  </a:schemeClr>
                </a:solidFill>
              </a:rPr>
              <a:t>cell_contains</a:t>
            </a:r>
          </a:p>
          <a:p>
            <a:r>
              <a:rPr lang="en-US" sz="1200" dirty="0">
                <a:solidFill>
                  <a:schemeClr val="accent6">
                    <a:lumMod val="20000"/>
                    <a:lumOff val="80000"/>
                  </a:schemeClr>
                </a:solidFill>
              </a:rPr>
              <a:t>simple_cell_contains</a:t>
            </a:r>
          </a:p>
          <a:p>
            <a:r>
              <a:rPr lang="en-US" sz="1200" dirty="0">
                <a:solidFill>
                  <a:schemeClr val="accent6">
                    <a:lumMod val="20000"/>
                    <a:lumOff val="80000"/>
                  </a:schemeClr>
                </a:solidFill>
              </a:rPr>
              <a:t>complex_cell_contains</a:t>
            </a:r>
          </a:p>
          <a:p>
            <a:r>
              <a:rPr lang="en-US" sz="1200" dirty="0">
                <a:solidFill>
                  <a:schemeClr val="accent6">
                    <a:lumMod val="20000"/>
                    <a:lumOff val="80000"/>
                  </a:schemeClr>
                </a:solidFill>
              </a:rPr>
              <a:t>find_cell</a:t>
            </a:r>
          </a:p>
          <a:p>
            <a:r>
              <a:rPr lang="en-US" sz="1200" dirty="0">
                <a:solidFill>
                  <a:schemeClr val="accent6">
                    <a:lumMod val="20000"/>
                    <a:lumOff val="80000"/>
                  </a:schemeClr>
                </a:solidFill>
              </a:rPr>
              <a:t>cross_surface</a:t>
            </a:r>
          </a:p>
          <a:p>
            <a:r>
              <a:rPr lang="en-US" sz="1200" dirty="0">
                <a:solidFill>
                  <a:schemeClr val="accent6">
                    <a:lumMod val="20000"/>
                    <a:lumOff val="80000"/>
                  </a:schemeClr>
                </a:solidFill>
              </a:rPr>
              <a:t>cross_lattice</a:t>
            </a:r>
          </a:p>
          <a:p>
            <a:r>
              <a:rPr lang="en-US" sz="1200" dirty="0">
                <a:solidFill>
                  <a:schemeClr val="accent6">
                    <a:lumMod val="20000"/>
                    <a:lumOff val="80000"/>
                  </a:schemeClr>
                </a:solidFill>
              </a:rPr>
              <a:t>distance_to_boundary</a:t>
            </a:r>
          </a:p>
          <a:p>
            <a:r>
              <a:rPr lang="en-US" sz="1200" dirty="0">
                <a:solidFill>
                  <a:schemeClr val="accent6">
                    <a:lumMod val="20000"/>
                    <a:lumOff val="80000"/>
                  </a:schemeClr>
                </a:solidFill>
              </a:rPr>
              <a:t>Sense</a:t>
            </a:r>
          </a:p>
          <a:p>
            <a:r>
              <a:rPr lang="en-US" sz="1200" dirty="0">
                <a:solidFill>
                  <a:schemeClr val="accent6">
                    <a:lumMod val="20000"/>
                    <a:lumOff val="80000"/>
                  </a:schemeClr>
                </a:solidFill>
              </a:rPr>
              <a:t>handle_lost_particle</a:t>
            </a:r>
          </a:p>
        </p:txBody>
      </p:sp>
      <p:sp>
        <p:nvSpPr>
          <p:cNvPr id="13" name="TextBox 12"/>
          <p:cNvSpPr txBox="1"/>
          <p:nvPr/>
        </p:nvSpPr>
        <p:spPr>
          <a:xfrm>
            <a:off x="3325347" y="4764943"/>
            <a:ext cx="1013162" cy="1107996"/>
          </a:xfrm>
          <a:prstGeom prst="rect">
            <a:avLst/>
          </a:prstGeom>
          <a:noFill/>
        </p:spPr>
        <p:txBody>
          <a:bodyPr wrap="none" rtlCol="0">
            <a:spAutoFit/>
          </a:bodyPr>
          <a:lstStyle/>
          <a:p>
            <a:r>
              <a:rPr lang="en-US" b="1" dirty="0">
                <a:solidFill>
                  <a:schemeClr val="accent6">
                    <a:lumMod val="20000"/>
                    <a:lumOff val="80000"/>
                  </a:schemeClr>
                </a:solidFill>
              </a:rPr>
              <a:t>Graphics</a:t>
            </a:r>
          </a:p>
          <a:p>
            <a:r>
              <a:rPr lang="en-US" sz="1200" dirty="0">
                <a:solidFill>
                  <a:schemeClr val="accent6">
                    <a:lumMod val="20000"/>
                    <a:lumOff val="80000"/>
                  </a:schemeClr>
                </a:solidFill>
              </a:rPr>
              <a:t>Plot</a:t>
            </a:r>
          </a:p>
          <a:p>
            <a:r>
              <a:rPr lang="en-US" sz="1200" dirty="0">
                <a:solidFill>
                  <a:schemeClr val="accent6">
                    <a:lumMod val="20000"/>
                    <a:lumOff val="80000"/>
                  </a:schemeClr>
                </a:solidFill>
              </a:rPr>
              <a:t>position_rgb</a:t>
            </a:r>
          </a:p>
          <a:p>
            <a:r>
              <a:rPr lang="en-US" sz="1200" dirty="0">
                <a:solidFill>
                  <a:schemeClr val="accent6">
                    <a:lumMod val="20000"/>
                    <a:lumOff val="80000"/>
                  </a:schemeClr>
                </a:solidFill>
              </a:rPr>
              <a:t>Plotter</a:t>
            </a:r>
          </a:p>
          <a:p>
            <a:r>
              <a:rPr lang="en-US" sz="1200" dirty="0">
                <a:solidFill>
                  <a:schemeClr val="accent6">
                    <a:lumMod val="20000"/>
                    <a:lumOff val="80000"/>
                  </a:schemeClr>
                </a:solidFill>
              </a:rPr>
              <a:t>Display</a:t>
            </a:r>
          </a:p>
        </p:txBody>
      </p:sp>
      <p:sp>
        <p:nvSpPr>
          <p:cNvPr id="14" name="TextBox 13"/>
          <p:cNvSpPr txBox="1"/>
          <p:nvPr/>
        </p:nvSpPr>
        <p:spPr>
          <a:xfrm>
            <a:off x="1942740" y="2786528"/>
            <a:ext cx="1475789" cy="3323987"/>
          </a:xfrm>
          <a:prstGeom prst="rect">
            <a:avLst/>
          </a:prstGeom>
          <a:noFill/>
        </p:spPr>
        <p:txBody>
          <a:bodyPr wrap="none" rtlCol="0">
            <a:spAutoFit/>
          </a:bodyPr>
          <a:lstStyle/>
          <a:p>
            <a:r>
              <a:rPr lang="en-US" b="1" dirty="0">
                <a:solidFill>
                  <a:schemeClr val="accent6">
                    <a:lumMod val="20000"/>
                    <a:lumOff val="80000"/>
                  </a:schemeClr>
                </a:solidFill>
              </a:rPr>
              <a:t>Input</a:t>
            </a:r>
          </a:p>
          <a:p>
            <a:r>
              <a:rPr lang="en-US" sz="1200" dirty="0">
                <a:solidFill>
                  <a:schemeClr val="accent6">
                    <a:lumMod val="20000"/>
                    <a:lumOff val="80000"/>
                  </a:schemeClr>
                </a:solidFill>
              </a:rPr>
              <a:t>split_string</a:t>
            </a:r>
          </a:p>
          <a:p>
            <a:r>
              <a:rPr lang="en-US" sz="1200" dirty="0">
                <a:solidFill>
                  <a:schemeClr val="accent6">
                    <a:lumMod val="20000"/>
                    <a:lumOff val="80000"/>
                  </a:schemeClr>
                </a:solidFill>
              </a:rPr>
              <a:t>Tokenize</a:t>
            </a:r>
          </a:p>
          <a:p>
            <a:r>
              <a:rPr lang="en-US" sz="1200" dirty="0">
                <a:solidFill>
                  <a:schemeClr val="accent6">
                    <a:lumMod val="20000"/>
                    <a:lumOff val="80000"/>
                  </a:schemeClr>
                </a:solidFill>
              </a:rPr>
              <a:t>to_lower</a:t>
            </a:r>
          </a:p>
          <a:p>
            <a:r>
              <a:rPr lang="en-US" sz="1200" dirty="0">
                <a:solidFill>
                  <a:schemeClr val="accent6">
                    <a:lumMod val="20000"/>
                    <a:lumOff val="80000"/>
                  </a:schemeClr>
                </a:solidFill>
              </a:rPr>
              <a:t>to_upper</a:t>
            </a:r>
          </a:p>
          <a:p>
            <a:r>
              <a:rPr lang="en-US" sz="1200" dirty="0">
                <a:solidFill>
                  <a:schemeClr val="accent6">
                    <a:lumMod val="20000"/>
                    <a:lumOff val="80000"/>
                  </a:schemeClr>
                </a:solidFill>
              </a:rPr>
              <a:t>is_number</a:t>
            </a:r>
          </a:p>
          <a:p>
            <a:r>
              <a:rPr lang="en-US" sz="1200" dirty="0">
                <a:solidFill>
                  <a:schemeClr val="accent6">
                    <a:lumMod val="20000"/>
                    <a:lumOff val="80000"/>
                  </a:schemeClr>
                </a:solidFill>
              </a:rPr>
              <a:t>string_contains</a:t>
            </a:r>
          </a:p>
          <a:p>
            <a:r>
              <a:rPr lang="en-US" sz="1200" dirty="0">
                <a:solidFill>
                  <a:schemeClr val="accent6">
                    <a:lumMod val="20000"/>
                    <a:lumOff val="80000"/>
                  </a:schemeClr>
                </a:solidFill>
              </a:rPr>
              <a:t>generate_rpn</a:t>
            </a:r>
          </a:p>
          <a:p>
            <a:r>
              <a:rPr lang="en-US" sz="1200" dirty="0">
                <a:solidFill>
                  <a:schemeClr val="accent6">
                    <a:lumMod val="20000"/>
                    <a:lumOff val="80000"/>
                  </a:schemeClr>
                </a:solidFill>
              </a:rPr>
              <a:t>already_contains</a:t>
            </a:r>
          </a:p>
          <a:p>
            <a:r>
              <a:rPr lang="en-US" sz="1200" dirty="0">
                <a:solidFill>
                  <a:schemeClr val="accent6">
                    <a:lumMod val="20000"/>
                    <a:lumOff val="80000"/>
                  </a:schemeClr>
                </a:solidFill>
              </a:rPr>
              <a:t>neighbor_list</a:t>
            </a:r>
          </a:p>
          <a:p>
            <a:r>
              <a:rPr lang="en-US" sz="1200" dirty="0">
                <a:solidFill>
                  <a:schemeClr val="accent6">
                    <a:lumMod val="20000"/>
                    <a:lumOff val="80000"/>
                  </a:schemeClr>
                </a:solidFill>
              </a:rPr>
              <a:t>input_check</a:t>
            </a:r>
          </a:p>
          <a:p>
            <a:r>
              <a:rPr lang="en-US" sz="1200" dirty="0">
                <a:solidFill>
                  <a:schemeClr val="accent6">
                    <a:lumMod val="20000"/>
                    <a:lumOff val="80000"/>
                  </a:schemeClr>
                </a:solidFill>
              </a:rPr>
              <a:t>id_index</a:t>
            </a:r>
          </a:p>
          <a:p>
            <a:r>
              <a:rPr lang="en-US" sz="1200" dirty="0">
                <a:solidFill>
                  <a:schemeClr val="accent6">
                    <a:lumMod val="20000"/>
                    <a:lumOff val="80000"/>
                  </a:schemeClr>
                </a:solidFill>
              </a:rPr>
              <a:t>input_print</a:t>
            </a:r>
          </a:p>
          <a:p>
            <a:r>
              <a:rPr lang="en-US" sz="1200" dirty="0">
                <a:solidFill>
                  <a:schemeClr val="accent6">
                    <a:lumMod val="20000"/>
                    <a:lumOff val="80000"/>
                  </a:schemeClr>
                </a:solidFill>
              </a:rPr>
              <a:t>input_read </a:t>
            </a:r>
          </a:p>
          <a:p>
            <a:r>
              <a:rPr lang="en-US" sz="1200" dirty="0">
                <a:solidFill>
                  <a:schemeClr val="accent6">
                    <a:lumMod val="20000"/>
                    <a:lumOff val="80000"/>
                  </a:schemeClr>
                </a:solidFill>
              </a:rPr>
              <a:t>input_block_process</a:t>
            </a:r>
          </a:p>
          <a:p>
            <a:r>
              <a:rPr lang="en-US" sz="1200" dirty="0">
                <a:solidFill>
                  <a:schemeClr val="accent6">
                    <a:lumMod val="20000"/>
                    <a:lumOff val="80000"/>
                  </a:schemeClr>
                </a:solidFill>
              </a:rPr>
              <a:t>input_samples</a:t>
            </a:r>
          </a:p>
          <a:p>
            <a:r>
              <a:rPr lang="en-US" sz="1200" dirty="0">
                <a:solidFill>
                  <a:schemeClr val="accent6">
                    <a:lumMod val="20000"/>
                    <a:lumOff val="80000"/>
                  </a:schemeClr>
                </a:solidFill>
              </a:rPr>
              <a:t>input_file_read</a:t>
            </a:r>
          </a:p>
        </p:txBody>
      </p:sp>
      <p:sp>
        <p:nvSpPr>
          <p:cNvPr id="17" name="TextBox 16"/>
          <p:cNvSpPr txBox="1"/>
          <p:nvPr/>
        </p:nvSpPr>
        <p:spPr>
          <a:xfrm>
            <a:off x="5053611" y="958863"/>
            <a:ext cx="1965603" cy="1384995"/>
          </a:xfrm>
          <a:prstGeom prst="rect">
            <a:avLst/>
          </a:prstGeom>
          <a:noFill/>
        </p:spPr>
        <p:txBody>
          <a:bodyPr wrap="none" rtlCol="0">
            <a:spAutoFit/>
          </a:bodyPr>
          <a:lstStyle/>
          <a:p>
            <a:r>
              <a:rPr lang="en-US" b="1" dirty="0">
                <a:solidFill>
                  <a:schemeClr val="accent6">
                    <a:lumMod val="20000"/>
                    <a:lumOff val="80000"/>
                  </a:schemeClr>
                </a:solidFill>
              </a:rPr>
              <a:t>Graphics </a:t>
            </a:r>
          </a:p>
          <a:p>
            <a:r>
              <a:rPr lang="en-US" b="1" dirty="0">
                <a:solidFill>
                  <a:schemeClr val="accent6">
                    <a:lumMod val="20000"/>
                    <a:lumOff val="80000"/>
                  </a:schemeClr>
                </a:solidFill>
              </a:rPr>
              <a:t>C-binding modules</a:t>
            </a:r>
          </a:p>
          <a:p>
            <a:r>
              <a:rPr lang="en-US" sz="1200" b="1" dirty="0">
                <a:solidFill>
                  <a:schemeClr val="accent6">
                    <a:lumMod val="20000"/>
                    <a:lumOff val="80000"/>
                  </a:schemeClr>
                </a:solidFill>
              </a:rPr>
              <a:t>Opengl_kinds</a:t>
            </a:r>
          </a:p>
          <a:p>
            <a:r>
              <a:rPr lang="en-US" sz="1200" b="1" dirty="0">
                <a:solidFill>
                  <a:schemeClr val="accent6">
                    <a:lumMod val="20000"/>
                    <a:lumOff val="80000"/>
                  </a:schemeClr>
                </a:solidFill>
              </a:rPr>
              <a:t>Opengl_gl</a:t>
            </a:r>
          </a:p>
          <a:p>
            <a:r>
              <a:rPr lang="en-US" sz="1200" b="1" dirty="0">
                <a:solidFill>
                  <a:schemeClr val="accent6">
                    <a:lumMod val="20000"/>
                    <a:lumOff val="80000"/>
                  </a:schemeClr>
                </a:solidFill>
              </a:rPr>
              <a:t>Opengl_glu</a:t>
            </a:r>
          </a:p>
          <a:p>
            <a:r>
              <a:rPr lang="en-US" sz="1200" b="1" dirty="0">
                <a:solidFill>
                  <a:schemeClr val="accent6">
                    <a:lumMod val="20000"/>
                    <a:lumOff val="80000"/>
                  </a:schemeClr>
                </a:solidFill>
              </a:rPr>
              <a:t>Opengl_glut</a:t>
            </a:r>
          </a:p>
        </p:txBody>
      </p:sp>
      <p:sp>
        <p:nvSpPr>
          <p:cNvPr id="18" name="TextBox 17"/>
          <p:cNvSpPr txBox="1"/>
          <p:nvPr/>
        </p:nvSpPr>
        <p:spPr>
          <a:xfrm>
            <a:off x="5053610" y="2419900"/>
            <a:ext cx="1691810" cy="923330"/>
          </a:xfrm>
          <a:prstGeom prst="rect">
            <a:avLst/>
          </a:prstGeom>
          <a:noFill/>
        </p:spPr>
        <p:txBody>
          <a:bodyPr wrap="none" rtlCol="0">
            <a:spAutoFit/>
          </a:bodyPr>
          <a:lstStyle/>
          <a:p>
            <a:r>
              <a:rPr lang="en-US" b="1" dirty="0">
                <a:solidFill>
                  <a:schemeClr val="accent6">
                    <a:lumMod val="20000"/>
                    <a:lumOff val="80000"/>
                  </a:schemeClr>
                </a:solidFill>
              </a:rPr>
              <a:t>Particle_header</a:t>
            </a:r>
          </a:p>
          <a:p>
            <a:r>
              <a:rPr lang="en-US" sz="1200" dirty="0">
                <a:solidFill>
                  <a:schemeClr val="accent6">
                    <a:lumMod val="20000"/>
                    <a:lumOff val="80000"/>
                  </a:schemeClr>
                </a:solidFill>
              </a:rPr>
              <a:t>deallocate_coord</a:t>
            </a:r>
          </a:p>
          <a:p>
            <a:r>
              <a:rPr lang="en-US" sz="1200" dirty="0">
                <a:solidFill>
                  <a:schemeClr val="accent6">
                    <a:lumMod val="20000"/>
                    <a:lumOff val="80000"/>
                  </a:schemeClr>
                </a:solidFill>
              </a:rPr>
              <a:t>initialize_particle</a:t>
            </a:r>
          </a:p>
          <a:p>
            <a:r>
              <a:rPr lang="en-US" sz="1200" dirty="0">
                <a:solidFill>
                  <a:schemeClr val="accent6">
                    <a:lumMod val="20000"/>
                    <a:lumOff val="80000"/>
                  </a:schemeClr>
                </a:solidFill>
              </a:rPr>
              <a:t>clear_particle</a:t>
            </a:r>
          </a:p>
        </p:txBody>
      </p:sp>
      <p:sp>
        <p:nvSpPr>
          <p:cNvPr id="19" name="TextBox 18"/>
          <p:cNvSpPr txBox="1"/>
          <p:nvPr/>
        </p:nvSpPr>
        <p:spPr>
          <a:xfrm>
            <a:off x="7019214" y="998188"/>
            <a:ext cx="1913857" cy="4247317"/>
          </a:xfrm>
          <a:prstGeom prst="rect">
            <a:avLst/>
          </a:prstGeom>
          <a:noFill/>
        </p:spPr>
        <p:txBody>
          <a:bodyPr wrap="none" rtlCol="0">
            <a:spAutoFit/>
          </a:bodyPr>
          <a:lstStyle/>
          <a:p>
            <a:r>
              <a:rPr lang="en-US" b="1" dirty="0">
                <a:solidFill>
                  <a:schemeClr val="accent6">
                    <a:lumMod val="20000"/>
                    <a:lumOff val="80000"/>
                  </a:schemeClr>
                </a:solidFill>
              </a:rPr>
              <a:t>Physics</a:t>
            </a:r>
          </a:p>
          <a:p>
            <a:r>
              <a:rPr lang="en-US" sz="1200" dirty="0">
                <a:solidFill>
                  <a:schemeClr val="accent6">
                    <a:lumMod val="20000"/>
                    <a:lumOff val="80000"/>
                  </a:schemeClr>
                </a:solidFill>
              </a:rPr>
              <a:t>Collision</a:t>
            </a:r>
          </a:p>
          <a:p>
            <a:r>
              <a:rPr lang="en-US" sz="1200" dirty="0">
                <a:solidFill>
                  <a:schemeClr val="accent6">
                    <a:lumMod val="20000"/>
                    <a:lumOff val="80000"/>
                  </a:schemeClr>
                </a:solidFill>
              </a:rPr>
              <a:t>sample_reaction</a:t>
            </a:r>
          </a:p>
          <a:p>
            <a:r>
              <a:rPr lang="en-US" sz="1200" dirty="0">
                <a:solidFill>
                  <a:schemeClr val="accent6">
                    <a:lumMod val="20000"/>
                    <a:lumOff val="80000"/>
                  </a:schemeClr>
                </a:solidFill>
              </a:rPr>
              <a:t>sample_nuclide</a:t>
            </a:r>
          </a:p>
          <a:p>
            <a:r>
              <a:rPr lang="en-US" sz="1200" dirty="0">
                <a:solidFill>
                  <a:schemeClr val="accent6">
                    <a:lumMod val="20000"/>
                    <a:lumOff val="80000"/>
                  </a:schemeClr>
                </a:solidFill>
              </a:rPr>
              <a:t>sample_fission</a:t>
            </a:r>
          </a:p>
          <a:p>
            <a:r>
              <a:rPr lang="en-US" sz="1200" dirty="0">
                <a:solidFill>
                  <a:schemeClr val="accent6">
                    <a:lumMod val="20000"/>
                    <a:lumOff val="80000"/>
                  </a:schemeClr>
                </a:solidFill>
              </a:rPr>
              <a:t>Absorption</a:t>
            </a:r>
          </a:p>
          <a:p>
            <a:r>
              <a:rPr lang="en-US" sz="1200" dirty="0">
                <a:solidFill>
                  <a:schemeClr val="accent6">
                    <a:lumMod val="20000"/>
                    <a:lumOff val="80000"/>
                  </a:schemeClr>
                </a:solidFill>
              </a:rPr>
              <a:t>Scatter</a:t>
            </a:r>
          </a:p>
          <a:p>
            <a:r>
              <a:rPr lang="en-US" sz="1200" dirty="0">
                <a:solidFill>
                  <a:schemeClr val="accent6">
                    <a:lumMod val="20000"/>
                    <a:lumOff val="80000"/>
                  </a:schemeClr>
                </a:solidFill>
              </a:rPr>
              <a:t>elastic_scatter</a:t>
            </a:r>
          </a:p>
          <a:p>
            <a:r>
              <a:rPr lang="en-US" sz="1200" dirty="0">
                <a:solidFill>
                  <a:schemeClr val="accent6">
                    <a:lumMod val="20000"/>
                    <a:lumOff val="80000"/>
                  </a:schemeClr>
                </a:solidFill>
              </a:rPr>
              <a:t>sab_scatter</a:t>
            </a:r>
          </a:p>
          <a:p>
            <a:r>
              <a:rPr lang="en-US" sz="1200" dirty="0">
                <a:solidFill>
                  <a:schemeClr val="accent6">
                    <a:lumMod val="20000"/>
                    <a:lumOff val="80000"/>
                  </a:schemeClr>
                </a:solidFill>
              </a:rPr>
              <a:t>sample_target_velocity</a:t>
            </a:r>
          </a:p>
          <a:p>
            <a:r>
              <a:rPr lang="en-US" sz="1200" dirty="0">
                <a:solidFill>
                  <a:schemeClr val="accent6">
                    <a:lumMod val="20000"/>
                    <a:lumOff val="80000"/>
                  </a:schemeClr>
                </a:solidFill>
              </a:rPr>
              <a:t>sample_cxs_target_velocity</a:t>
            </a:r>
          </a:p>
          <a:p>
            <a:r>
              <a:rPr lang="en-US" sz="1200" dirty="0">
                <a:solidFill>
                  <a:schemeClr val="accent6">
                    <a:lumMod val="20000"/>
                    <a:lumOff val="80000"/>
                  </a:schemeClr>
                </a:solidFill>
              </a:rPr>
              <a:t>create_fission_sites</a:t>
            </a:r>
          </a:p>
          <a:p>
            <a:r>
              <a:rPr lang="en-US" sz="1200" dirty="0">
                <a:solidFill>
                  <a:schemeClr val="accent6">
                    <a:lumMod val="20000"/>
                    <a:lumOff val="80000"/>
                  </a:schemeClr>
                </a:solidFill>
              </a:rPr>
              <a:t>sample_fission_energy</a:t>
            </a:r>
          </a:p>
          <a:p>
            <a:r>
              <a:rPr lang="en-US" sz="1200" dirty="0">
                <a:solidFill>
                  <a:schemeClr val="accent6">
                    <a:lumMod val="20000"/>
                    <a:lumOff val="80000"/>
                  </a:schemeClr>
                </a:solidFill>
              </a:rPr>
              <a:t>inelastic_scatter</a:t>
            </a:r>
          </a:p>
          <a:p>
            <a:r>
              <a:rPr lang="en-US" sz="1200" dirty="0">
                <a:solidFill>
                  <a:schemeClr val="accent6">
                    <a:lumMod val="20000"/>
                    <a:lumOff val="80000"/>
                  </a:schemeClr>
                </a:solidFill>
              </a:rPr>
              <a:t>sample_angle</a:t>
            </a:r>
          </a:p>
          <a:p>
            <a:r>
              <a:rPr lang="en-US" sz="1200" dirty="0">
                <a:solidFill>
                  <a:schemeClr val="accent6">
                    <a:lumMod val="20000"/>
                    <a:lumOff val="80000"/>
                  </a:schemeClr>
                </a:solidFill>
              </a:rPr>
              <a:t>rotate_angle</a:t>
            </a:r>
          </a:p>
          <a:p>
            <a:r>
              <a:rPr lang="en-US" sz="1200" dirty="0">
                <a:solidFill>
                  <a:schemeClr val="accent6">
                    <a:lumMod val="20000"/>
                    <a:lumOff val="80000"/>
                  </a:schemeClr>
                </a:solidFill>
              </a:rPr>
              <a:t>sample_energy</a:t>
            </a:r>
          </a:p>
          <a:p>
            <a:r>
              <a:rPr lang="en-US" sz="1200" dirty="0">
                <a:solidFill>
                  <a:schemeClr val="accent6">
                    <a:lumMod val="20000"/>
                    <a:lumOff val="80000"/>
                  </a:schemeClr>
                </a:solidFill>
              </a:rPr>
              <a:t>maxwell_spectrum</a:t>
            </a:r>
          </a:p>
          <a:p>
            <a:r>
              <a:rPr lang="en-US" sz="1200" dirty="0">
                <a:solidFill>
                  <a:schemeClr val="accent6">
                    <a:lumMod val="20000"/>
                    <a:lumOff val="80000"/>
                  </a:schemeClr>
                </a:solidFill>
              </a:rPr>
              <a:t>watt_spectrum</a:t>
            </a:r>
          </a:p>
          <a:p>
            <a:r>
              <a:rPr lang="en-US" sz="1200" dirty="0">
                <a:solidFill>
                  <a:schemeClr val="accent6">
                    <a:lumMod val="20000"/>
                    <a:lumOff val="80000"/>
                  </a:schemeClr>
                </a:solidFill>
              </a:rPr>
              <a:t>nu_total</a:t>
            </a:r>
          </a:p>
          <a:p>
            <a:r>
              <a:rPr lang="en-US" sz="1200" dirty="0">
                <a:solidFill>
                  <a:schemeClr val="accent6">
                    <a:lumMod val="20000"/>
                    <a:lumOff val="80000"/>
                  </a:schemeClr>
                </a:solidFill>
              </a:rPr>
              <a:t>nu_prompt</a:t>
            </a:r>
          </a:p>
          <a:p>
            <a:r>
              <a:rPr lang="en-US" sz="1200" dirty="0">
                <a:solidFill>
                  <a:schemeClr val="accent6">
                    <a:lumMod val="20000"/>
                    <a:lumOff val="80000"/>
                  </a:schemeClr>
                </a:solidFill>
              </a:rPr>
              <a:t>nu_delayed</a:t>
            </a:r>
          </a:p>
        </p:txBody>
      </p:sp>
      <p:sp>
        <p:nvSpPr>
          <p:cNvPr id="20" name="TextBox 19"/>
          <p:cNvSpPr txBox="1"/>
          <p:nvPr/>
        </p:nvSpPr>
        <p:spPr>
          <a:xfrm>
            <a:off x="5053610" y="3343231"/>
            <a:ext cx="1362874" cy="1200329"/>
          </a:xfrm>
          <a:prstGeom prst="rect">
            <a:avLst/>
          </a:prstGeom>
          <a:noFill/>
        </p:spPr>
        <p:txBody>
          <a:bodyPr wrap="none" rtlCol="0">
            <a:spAutoFit/>
          </a:bodyPr>
          <a:lstStyle/>
          <a:p>
            <a:r>
              <a:rPr lang="en-US" b="1" dirty="0">
                <a:solidFill>
                  <a:schemeClr val="accent6">
                    <a:lumMod val="20000"/>
                    <a:lumOff val="80000"/>
                  </a:schemeClr>
                </a:solidFill>
              </a:rPr>
              <a:t>Random_lcg</a:t>
            </a:r>
          </a:p>
          <a:p>
            <a:r>
              <a:rPr lang="en-US" sz="1200" dirty="0">
                <a:solidFill>
                  <a:schemeClr val="accent6">
                    <a:lumMod val="20000"/>
                    <a:lumOff val="80000"/>
                  </a:schemeClr>
                </a:solidFill>
              </a:rPr>
              <a:t>Prn</a:t>
            </a:r>
          </a:p>
          <a:p>
            <a:r>
              <a:rPr lang="en-US" sz="1200" dirty="0">
                <a:solidFill>
                  <a:schemeClr val="accent6">
                    <a:lumMod val="20000"/>
                    <a:lumOff val="80000"/>
                  </a:schemeClr>
                </a:solidFill>
              </a:rPr>
              <a:t>initialize_prng</a:t>
            </a:r>
          </a:p>
          <a:p>
            <a:r>
              <a:rPr lang="en-US" sz="1200" dirty="0">
                <a:solidFill>
                  <a:schemeClr val="accent6">
                    <a:lumMod val="20000"/>
                    <a:lumOff val="80000"/>
                  </a:schemeClr>
                </a:solidFill>
              </a:rPr>
              <a:t>set_particle_seed</a:t>
            </a:r>
          </a:p>
          <a:p>
            <a:endParaRPr lang="en-US" dirty="0">
              <a:solidFill>
                <a:schemeClr val="accent6">
                  <a:lumMod val="20000"/>
                  <a:lumOff val="80000"/>
                </a:schemeClr>
              </a:solidFill>
            </a:endParaRPr>
          </a:p>
        </p:txBody>
      </p:sp>
      <p:sp>
        <p:nvSpPr>
          <p:cNvPr id="21" name="TextBox 20"/>
          <p:cNvSpPr txBox="1"/>
          <p:nvPr/>
        </p:nvSpPr>
        <p:spPr>
          <a:xfrm>
            <a:off x="5053611" y="4263855"/>
            <a:ext cx="1716175" cy="1384995"/>
          </a:xfrm>
          <a:prstGeom prst="rect">
            <a:avLst/>
          </a:prstGeom>
          <a:noFill/>
        </p:spPr>
        <p:txBody>
          <a:bodyPr wrap="none" rtlCol="0">
            <a:spAutoFit/>
          </a:bodyPr>
          <a:lstStyle/>
          <a:p>
            <a:r>
              <a:rPr lang="en-US" b="1" dirty="0">
                <a:solidFill>
                  <a:schemeClr val="accent6">
                    <a:lumMod val="20000"/>
                    <a:lumOff val="80000"/>
                  </a:schemeClr>
                </a:solidFill>
              </a:rPr>
              <a:t>Source</a:t>
            </a:r>
          </a:p>
          <a:p>
            <a:r>
              <a:rPr lang="en-US" sz="1200" dirty="0">
                <a:solidFill>
                  <a:schemeClr val="accent6">
                    <a:lumMod val="20000"/>
                    <a:lumOff val="80000"/>
                  </a:schemeClr>
                </a:solidFill>
              </a:rPr>
              <a:t>initialize_source</a:t>
            </a:r>
          </a:p>
          <a:p>
            <a:r>
              <a:rPr lang="en-US" sz="1200" dirty="0">
                <a:solidFill>
                  <a:schemeClr val="accent6">
                    <a:lumMod val="20000"/>
                    <a:lumOff val="80000"/>
                  </a:schemeClr>
                </a:solidFill>
              </a:rPr>
              <a:t>sample_external_source</a:t>
            </a:r>
          </a:p>
          <a:p>
            <a:r>
              <a:rPr lang="en-US" sz="1200" dirty="0">
                <a:solidFill>
                  <a:schemeClr val="accent6">
                    <a:lumMod val="20000"/>
                    <a:lumOff val="80000"/>
                  </a:schemeClr>
                </a:solidFill>
              </a:rPr>
              <a:t>get_source_particle</a:t>
            </a:r>
          </a:p>
          <a:p>
            <a:r>
              <a:rPr lang="en-US" sz="1200" dirty="0">
                <a:solidFill>
                  <a:schemeClr val="accent6">
                    <a:lumMod val="20000"/>
                    <a:lumOff val="80000"/>
                  </a:schemeClr>
                </a:solidFill>
              </a:rPr>
              <a:t>copy_source_attributes</a:t>
            </a:r>
          </a:p>
          <a:p>
            <a:endParaRPr lang="en-US" dirty="0">
              <a:solidFill>
                <a:schemeClr val="accent6">
                  <a:lumMod val="20000"/>
                  <a:lumOff val="80000"/>
                </a:schemeClr>
              </a:solidFill>
            </a:endParaRPr>
          </a:p>
        </p:txBody>
      </p:sp>
      <p:sp>
        <p:nvSpPr>
          <p:cNvPr id="22" name="TextBox 21"/>
          <p:cNvSpPr txBox="1"/>
          <p:nvPr/>
        </p:nvSpPr>
        <p:spPr>
          <a:xfrm>
            <a:off x="5053610" y="5398752"/>
            <a:ext cx="972446" cy="553998"/>
          </a:xfrm>
          <a:prstGeom prst="rect">
            <a:avLst/>
          </a:prstGeom>
          <a:noFill/>
        </p:spPr>
        <p:txBody>
          <a:bodyPr wrap="none" rtlCol="0">
            <a:spAutoFit/>
          </a:bodyPr>
          <a:lstStyle/>
          <a:p>
            <a:r>
              <a:rPr lang="en-US" b="1" dirty="0">
                <a:solidFill>
                  <a:schemeClr val="accent6">
                    <a:lumMod val="20000"/>
                    <a:lumOff val="80000"/>
                  </a:schemeClr>
                </a:solidFill>
              </a:rPr>
              <a:t>Tracking</a:t>
            </a:r>
          </a:p>
          <a:p>
            <a:r>
              <a:rPr lang="en-US" sz="1200" dirty="0">
                <a:solidFill>
                  <a:schemeClr val="accent6">
                    <a:lumMod val="20000"/>
                    <a:lumOff val="80000"/>
                  </a:schemeClr>
                </a:solidFill>
              </a:rPr>
              <a:t>transport</a:t>
            </a:r>
          </a:p>
        </p:txBody>
      </p:sp>
      <p:sp>
        <p:nvSpPr>
          <p:cNvPr id="23" name="Rectangle 22"/>
          <p:cNvSpPr/>
          <p:nvPr/>
        </p:nvSpPr>
        <p:spPr>
          <a:xfrm>
            <a:off x="2099801" y="2728214"/>
            <a:ext cx="5523948" cy="1200329"/>
          </a:xfrm>
          <a:prstGeom prst="rect">
            <a:avLst/>
          </a:prstGeom>
          <a:noFill/>
        </p:spPr>
        <p:txBody>
          <a:bodyPr wrap="none" lIns="91440" tIns="45720" rIns="91440" bIns="45720">
            <a:spAutoFit/>
          </a:bodyPr>
          <a:lstStyle/>
          <a:p>
            <a:pPr algn="ctr"/>
            <a:r>
              <a:rPr lang="en-US" sz="7200" b="1" dirty="0">
                <a:ln w="9525">
                  <a:solidFill>
                    <a:schemeClr val="bg1"/>
                  </a:solidFill>
                  <a:prstDash val="solid"/>
                </a:ln>
                <a:solidFill>
                  <a:srgbClr val="0070C0"/>
                </a:solidFill>
                <a:effectLst>
                  <a:outerShdw blurRad="12700" dist="38100" dir="2700000" algn="tl" rotWithShape="0">
                    <a:schemeClr val="bg1">
                      <a:lumMod val="50000"/>
                    </a:schemeClr>
                  </a:outerShdw>
                </a:effectLst>
              </a:rPr>
              <a:t>Thank you . . .</a:t>
            </a:r>
          </a:p>
        </p:txBody>
      </p:sp>
    </p:spTree>
    <p:extLst>
      <p:ext uri="{BB962C8B-B14F-4D97-AF65-F5344CB8AC3E}">
        <p14:creationId xmlns:p14="http://schemas.microsoft.com/office/powerpoint/2010/main" val="386969565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8AED626-0DA2-41C1-8ADA-7C7DBD6AC235}" type="slidenum">
              <a:rPr lang="en-US" smtClean="0"/>
              <a:t>53</a:t>
            </a:fld>
            <a:endParaRPr lang="en-US" dirty="0"/>
          </a:p>
        </p:txBody>
      </p:sp>
    </p:spTree>
    <p:extLst>
      <p:ext uri="{BB962C8B-B14F-4D97-AF65-F5344CB8AC3E}">
        <p14:creationId xmlns:p14="http://schemas.microsoft.com/office/powerpoint/2010/main" val="3328171531"/>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p:cNvSpPr>
            <a:spLocks noGrp="1"/>
          </p:cNvSpPr>
          <p:nvPr>
            <p:ph type="sldNum" sz="quarter" idx="12"/>
          </p:nvPr>
        </p:nvSpPr>
        <p:spPr/>
        <p:txBody>
          <a:bodyPr/>
          <a:lstStyle/>
          <a:p>
            <a:fld id="{E8AED626-0DA2-41C1-8ADA-7C7DBD6AC235}" type="slidenum">
              <a:rPr lang="en-US" smtClean="0">
                <a:solidFill>
                  <a:srgbClr val="C00000"/>
                </a:solidFill>
              </a:rPr>
              <a:t>54</a:t>
            </a:fld>
            <a:endParaRPr lang="en-US" dirty="0">
              <a:solidFill>
                <a:srgbClr val="C00000"/>
              </a:solidFill>
            </a:endParaRPr>
          </a:p>
        </p:txBody>
      </p:sp>
      <p:sp>
        <p:nvSpPr>
          <p:cNvPr id="7" name="TextBox 6"/>
          <p:cNvSpPr txBox="1"/>
          <p:nvPr/>
        </p:nvSpPr>
        <p:spPr>
          <a:xfrm>
            <a:off x="1841970" y="1177246"/>
            <a:ext cx="1233030" cy="2031325"/>
          </a:xfrm>
          <a:prstGeom prst="rect">
            <a:avLst/>
          </a:prstGeom>
          <a:noFill/>
        </p:spPr>
        <p:txBody>
          <a:bodyPr wrap="none" rtlCol="0">
            <a:spAutoFit/>
          </a:bodyPr>
          <a:lstStyle/>
          <a:p>
            <a:r>
              <a:rPr lang="en-US" b="1" dirty="0">
                <a:solidFill>
                  <a:srgbClr val="C00000"/>
                </a:solidFill>
              </a:rPr>
              <a:t>common</a:t>
            </a:r>
          </a:p>
          <a:p>
            <a:r>
              <a:rPr lang="en-US" sz="1200" dirty="0">
                <a:solidFill>
                  <a:srgbClr val="C00000"/>
                </a:solidFill>
              </a:rPr>
              <a:t>write_fatalerror</a:t>
            </a:r>
          </a:p>
          <a:p>
            <a:r>
              <a:rPr lang="en-US" sz="1200" dirty="0">
                <a:solidFill>
                  <a:srgbClr val="C00000"/>
                </a:solidFill>
              </a:rPr>
              <a:t>write_warning</a:t>
            </a:r>
          </a:p>
          <a:p>
            <a:r>
              <a:rPr lang="en-US" sz="1200" dirty="0">
                <a:solidFill>
                  <a:srgbClr val="C00000"/>
                </a:solidFill>
              </a:rPr>
              <a:t>write_message</a:t>
            </a:r>
          </a:p>
          <a:p>
            <a:r>
              <a:rPr lang="en-US" sz="1200" dirty="0">
                <a:solidFill>
                  <a:srgbClr val="C00000"/>
                </a:solidFill>
              </a:rPr>
              <a:t>int_read_write</a:t>
            </a:r>
          </a:p>
          <a:p>
            <a:r>
              <a:rPr lang="en-US" sz="1200" dirty="0">
                <a:solidFill>
                  <a:srgbClr val="C00000"/>
                </a:solidFill>
              </a:rPr>
              <a:t>binary_search</a:t>
            </a:r>
          </a:p>
          <a:p>
            <a:r>
              <a:rPr lang="en-US" sz="1200" dirty="0">
                <a:solidFill>
                  <a:srgbClr val="C00000"/>
                </a:solidFill>
              </a:rPr>
              <a:t>int_to_str</a:t>
            </a:r>
          </a:p>
          <a:p>
            <a:r>
              <a:rPr lang="en-US" sz="1200" dirty="0">
                <a:solidFill>
                  <a:srgbClr val="C00000"/>
                </a:solidFill>
              </a:rPr>
              <a:t>interpolate_tab1</a:t>
            </a:r>
          </a:p>
          <a:p>
            <a:r>
              <a:rPr lang="en-US" sz="1200" dirty="0">
                <a:solidFill>
                  <a:srgbClr val="C00000"/>
                </a:solidFill>
              </a:rPr>
              <a:t>real_to_str</a:t>
            </a:r>
          </a:p>
          <a:p>
            <a:r>
              <a:rPr lang="en-US" sz="1200" dirty="0">
                <a:solidFill>
                  <a:srgbClr val="C00000"/>
                </a:solidFill>
              </a:rPr>
              <a:t>free_memory</a:t>
            </a:r>
          </a:p>
        </p:txBody>
      </p:sp>
      <p:sp>
        <p:nvSpPr>
          <p:cNvPr id="8" name="TextBox 7"/>
          <p:cNvSpPr txBox="1"/>
          <p:nvPr/>
        </p:nvSpPr>
        <p:spPr>
          <a:xfrm>
            <a:off x="6917613" y="5419070"/>
            <a:ext cx="1550168" cy="923330"/>
          </a:xfrm>
          <a:prstGeom prst="rect">
            <a:avLst/>
          </a:prstGeom>
          <a:noFill/>
        </p:spPr>
        <p:txBody>
          <a:bodyPr wrap="none" rtlCol="0">
            <a:spAutoFit/>
          </a:bodyPr>
          <a:lstStyle/>
          <a:p>
            <a:r>
              <a:rPr lang="en-US" b="1" dirty="0">
                <a:solidFill>
                  <a:srgbClr val="C00000"/>
                </a:solidFill>
              </a:rPr>
              <a:t>constants</a:t>
            </a:r>
          </a:p>
          <a:p>
            <a:r>
              <a:rPr lang="en-US" sz="1200" b="1" dirty="0">
                <a:solidFill>
                  <a:srgbClr val="C00000"/>
                </a:solidFill>
              </a:rPr>
              <a:t>Contains all constant </a:t>
            </a:r>
          </a:p>
          <a:p>
            <a:r>
              <a:rPr lang="en-US" sz="1200" b="1" dirty="0">
                <a:solidFill>
                  <a:srgbClr val="C00000"/>
                </a:solidFill>
              </a:rPr>
              <a:t>parameter required </a:t>
            </a:r>
          </a:p>
          <a:p>
            <a:r>
              <a:rPr lang="en-US" sz="1200" b="1" dirty="0">
                <a:solidFill>
                  <a:srgbClr val="C00000"/>
                </a:solidFill>
              </a:rPr>
              <a:t>for the code</a:t>
            </a:r>
            <a:endParaRPr lang="en-US" sz="1200" dirty="0">
              <a:solidFill>
                <a:srgbClr val="C00000"/>
              </a:solidFill>
            </a:endParaRPr>
          </a:p>
        </p:txBody>
      </p:sp>
      <p:sp>
        <p:nvSpPr>
          <p:cNvPr id="9" name="TextBox 8"/>
          <p:cNvSpPr txBox="1"/>
          <p:nvPr/>
        </p:nvSpPr>
        <p:spPr>
          <a:xfrm>
            <a:off x="230509" y="5477470"/>
            <a:ext cx="1649811" cy="923330"/>
          </a:xfrm>
          <a:prstGeom prst="rect">
            <a:avLst/>
          </a:prstGeom>
          <a:noFill/>
        </p:spPr>
        <p:txBody>
          <a:bodyPr wrap="none" rtlCol="0">
            <a:spAutoFit/>
          </a:bodyPr>
          <a:lstStyle/>
          <a:p>
            <a:r>
              <a:rPr lang="en-US" b="1" dirty="0">
                <a:solidFill>
                  <a:srgbClr val="C00000"/>
                </a:solidFill>
              </a:rPr>
              <a:t>declarations</a:t>
            </a:r>
          </a:p>
          <a:p>
            <a:r>
              <a:rPr lang="en-US" sz="1200" b="1" dirty="0">
                <a:solidFill>
                  <a:srgbClr val="C00000"/>
                </a:solidFill>
              </a:rPr>
              <a:t>contains all type</a:t>
            </a:r>
          </a:p>
          <a:p>
            <a:r>
              <a:rPr lang="en-US" sz="1200" b="1" dirty="0">
                <a:solidFill>
                  <a:srgbClr val="C00000"/>
                </a:solidFill>
              </a:rPr>
              <a:t>and  class declarations</a:t>
            </a:r>
          </a:p>
          <a:p>
            <a:r>
              <a:rPr lang="en-US" sz="1200" b="1" dirty="0">
                <a:solidFill>
                  <a:srgbClr val="C00000"/>
                </a:solidFill>
              </a:rPr>
              <a:t>required</a:t>
            </a:r>
          </a:p>
        </p:txBody>
      </p:sp>
      <p:sp>
        <p:nvSpPr>
          <p:cNvPr id="10" name="TextBox 9"/>
          <p:cNvSpPr txBox="1"/>
          <p:nvPr/>
        </p:nvSpPr>
        <p:spPr>
          <a:xfrm>
            <a:off x="248640" y="1171755"/>
            <a:ext cx="1364476" cy="4708981"/>
          </a:xfrm>
          <a:prstGeom prst="rect">
            <a:avLst/>
          </a:prstGeom>
          <a:noFill/>
        </p:spPr>
        <p:txBody>
          <a:bodyPr wrap="none" rtlCol="0">
            <a:spAutoFit/>
          </a:bodyPr>
          <a:lstStyle/>
          <a:p>
            <a:r>
              <a:rPr lang="en-US" b="1" dirty="0">
                <a:solidFill>
                  <a:srgbClr val="C00000"/>
                </a:solidFill>
              </a:rPr>
              <a:t>cxs</a:t>
            </a:r>
          </a:p>
          <a:p>
            <a:r>
              <a:rPr lang="en-US" sz="1100" dirty="0">
                <a:solidFill>
                  <a:srgbClr val="C00000"/>
                </a:solidFill>
              </a:rPr>
              <a:t>normalize_ao</a:t>
            </a:r>
          </a:p>
          <a:p>
            <a:r>
              <a:rPr lang="en-US" sz="1100" dirty="0" err="1">
                <a:solidFill>
                  <a:srgbClr val="C00000"/>
                </a:solidFill>
              </a:rPr>
              <a:t>logarithmic_grid</a:t>
            </a:r>
            <a:endParaRPr lang="en-US" sz="1100" dirty="0">
              <a:solidFill>
                <a:srgbClr val="C00000"/>
              </a:solidFill>
            </a:endParaRPr>
          </a:p>
          <a:p>
            <a:r>
              <a:rPr lang="en-US" sz="1100" dirty="0" err="1">
                <a:solidFill>
                  <a:srgbClr val="C00000"/>
                </a:solidFill>
              </a:rPr>
              <a:t>calculate_xs</a:t>
            </a:r>
            <a:endParaRPr lang="en-US" sz="1100" dirty="0">
              <a:solidFill>
                <a:srgbClr val="C00000"/>
              </a:solidFill>
            </a:endParaRPr>
          </a:p>
          <a:p>
            <a:r>
              <a:rPr lang="en-US" sz="1100" dirty="0" err="1">
                <a:solidFill>
                  <a:srgbClr val="C00000"/>
                </a:solidFill>
              </a:rPr>
              <a:t>calculate_nuclide_xs</a:t>
            </a:r>
            <a:endParaRPr lang="en-US" sz="1100" dirty="0">
              <a:solidFill>
                <a:srgbClr val="C00000"/>
              </a:solidFill>
            </a:endParaRPr>
          </a:p>
          <a:p>
            <a:r>
              <a:rPr lang="en-US" sz="1100" dirty="0">
                <a:solidFill>
                  <a:srgbClr val="C00000"/>
                </a:solidFill>
              </a:rPr>
              <a:t>calculate_urr_xs</a:t>
            </a:r>
          </a:p>
          <a:p>
            <a:r>
              <a:rPr lang="en-US" sz="1100" dirty="0">
                <a:solidFill>
                  <a:srgbClr val="C00000"/>
                </a:solidFill>
              </a:rPr>
              <a:t>read_xs</a:t>
            </a:r>
          </a:p>
          <a:p>
            <a:r>
              <a:rPr lang="en-US" sz="1100" dirty="0">
                <a:solidFill>
                  <a:srgbClr val="C00000"/>
                </a:solidFill>
              </a:rPr>
              <a:t>read_ace_table</a:t>
            </a:r>
          </a:p>
          <a:p>
            <a:r>
              <a:rPr lang="en-US" sz="1100" dirty="0">
                <a:solidFill>
                  <a:srgbClr val="C00000"/>
                </a:solidFill>
              </a:rPr>
              <a:t>read_esz</a:t>
            </a:r>
          </a:p>
          <a:p>
            <a:r>
              <a:rPr lang="en-US" sz="1100" dirty="0">
                <a:solidFill>
                  <a:srgbClr val="C00000"/>
                </a:solidFill>
              </a:rPr>
              <a:t>read_nu_data</a:t>
            </a:r>
          </a:p>
          <a:p>
            <a:r>
              <a:rPr lang="en-US" sz="1100" dirty="0">
                <a:solidFill>
                  <a:srgbClr val="C00000"/>
                </a:solidFill>
              </a:rPr>
              <a:t>read_reactions</a:t>
            </a:r>
          </a:p>
          <a:p>
            <a:r>
              <a:rPr lang="en-US" sz="1100" dirty="0">
                <a:solidFill>
                  <a:srgbClr val="C00000"/>
                </a:solidFill>
              </a:rPr>
              <a:t>read_angular_dist</a:t>
            </a:r>
          </a:p>
          <a:p>
            <a:r>
              <a:rPr lang="en-US" sz="1100" dirty="0">
                <a:solidFill>
                  <a:srgbClr val="C00000"/>
                </a:solidFill>
              </a:rPr>
              <a:t>read_energy_dist</a:t>
            </a:r>
          </a:p>
          <a:p>
            <a:r>
              <a:rPr lang="en-US" sz="1100" dirty="0">
                <a:solidFill>
                  <a:srgbClr val="C00000"/>
                </a:solidFill>
              </a:rPr>
              <a:t>get_energy_dist</a:t>
            </a:r>
          </a:p>
          <a:p>
            <a:r>
              <a:rPr lang="en-US" sz="1100" dirty="0">
                <a:solidFill>
                  <a:srgbClr val="C00000"/>
                </a:solidFill>
              </a:rPr>
              <a:t>length_energy_dist</a:t>
            </a:r>
          </a:p>
          <a:p>
            <a:r>
              <a:rPr lang="en-US" sz="1100" dirty="0">
                <a:solidFill>
                  <a:srgbClr val="C00000"/>
                </a:solidFill>
              </a:rPr>
              <a:t>read_unr_res</a:t>
            </a:r>
          </a:p>
          <a:p>
            <a:r>
              <a:rPr lang="en-US" sz="1100" dirty="0">
                <a:solidFill>
                  <a:srgbClr val="C00000"/>
                </a:solidFill>
              </a:rPr>
              <a:t>generate_nu_fission</a:t>
            </a:r>
          </a:p>
          <a:p>
            <a:r>
              <a:rPr lang="en-US" sz="1100" dirty="0">
                <a:solidFill>
                  <a:srgbClr val="C00000"/>
                </a:solidFill>
              </a:rPr>
              <a:t>read_thermal_data</a:t>
            </a:r>
          </a:p>
          <a:p>
            <a:r>
              <a:rPr lang="en-US" sz="1100" dirty="0">
                <a:solidFill>
                  <a:srgbClr val="C00000"/>
                </a:solidFill>
              </a:rPr>
              <a:t>get_int</a:t>
            </a:r>
          </a:p>
          <a:p>
            <a:r>
              <a:rPr lang="en-US" sz="1100" dirty="0">
                <a:solidFill>
                  <a:srgbClr val="C00000"/>
                </a:solidFill>
              </a:rPr>
              <a:t>get_real</a:t>
            </a:r>
          </a:p>
          <a:p>
            <a:r>
              <a:rPr lang="en-US" sz="1100" dirty="0">
                <a:solidFill>
                  <a:srgbClr val="C00000"/>
                </a:solidFill>
              </a:rPr>
              <a:t>is_fission</a:t>
            </a:r>
          </a:p>
          <a:p>
            <a:r>
              <a:rPr lang="en-US" sz="1100" dirty="0">
                <a:solidFill>
                  <a:srgbClr val="C00000"/>
                </a:solidFill>
              </a:rPr>
              <a:t>is_disappearance</a:t>
            </a:r>
          </a:p>
          <a:p>
            <a:r>
              <a:rPr lang="en-US" sz="1100" dirty="0">
                <a:solidFill>
                  <a:srgbClr val="C00000"/>
                </a:solidFill>
              </a:rPr>
              <a:t>is_scatter</a:t>
            </a:r>
          </a:p>
          <a:p>
            <a:r>
              <a:rPr lang="en-US" sz="1100" dirty="0">
                <a:solidFill>
                  <a:srgbClr val="C00000"/>
                </a:solidFill>
              </a:rPr>
              <a:t>reaction_name</a:t>
            </a:r>
          </a:p>
          <a:p>
            <a:r>
              <a:rPr lang="en-US" sz="1100" dirty="0">
                <a:solidFill>
                  <a:srgbClr val="C00000"/>
                </a:solidFill>
              </a:rPr>
              <a:t>calculate_sab_xs</a:t>
            </a:r>
          </a:p>
          <a:p>
            <a:endParaRPr lang="en-US" dirty="0">
              <a:solidFill>
                <a:srgbClr val="C00000"/>
              </a:solidFill>
            </a:endParaRPr>
          </a:p>
        </p:txBody>
      </p:sp>
      <p:sp>
        <p:nvSpPr>
          <p:cNvPr id="11" name="TextBox 10"/>
          <p:cNvSpPr txBox="1"/>
          <p:nvPr/>
        </p:nvSpPr>
        <p:spPr>
          <a:xfrm>
            <a:off x="3238623" y="3208571"/>
            <a:ext cx="1521553" cy="1846659"/>
          </a:xfrm>
          <a:prstGeom prst="rect">
            <a:avLst/>
          </a:prstGeom>
          <a:noFill/>
        </p:spPr>
        <p:txBody>
          <a:bodyPr wrap="square" rtlCol="0">
            <a:spAutoFit/>
          </a:bodyPr>
          <a:lstStyle/>
          <a:p>
            <a:r>
              <a:rPr lang="en-US" b="1" dirty="0">
                <a:solidFill>
                  <a:srgbClr val="C00000"/>
                </a:solidFill>
              </a:rPr>
              <a:t>Eigenvalue</a:t>
            </a:r>
          </a:p>
          <a:p>
            <a:r>
              <a:rPr lang="en-US" sz="1200" dirty="0">
                <a:solidFill>
                  <a:srgbClr val="C00000"/>
                </a:solidFill>
              </a:rPr>
              <a:t>run_eigenvalue</a:t>
            </a:r>
          </a:p>
          <a:p>
            <a:r>
              <a:rPr lang="en-US" sz="1200" dirty="0">
                <a:solidFill>
                  <a:srgbClr val="C00000"/>
                </a:solidFill>
              </a:rPr>
              <a:t>output_print</a:t>
            </a:r>
          </a:p>
          <a:p>
            <a:r>
              <a:rPr lang="en-US" sz="1200" dirty="0">
                <a:solidFill>
                  <a:srgbClr val="C00000"/>
                </a:solidFill>
              </a:rPr>
              <a:t>initialize_batch</a:t>
            </a:r>
          </a:p>
          <a:p>
            <a:r>
              <a:rPr lang="en-US" sz="1200" dirty="0">
                <a:solidFill>
                  <a:srgbClr val="C00000"/>
                </a:solidFill>
              </a:rPr>
              <a:t>initialize_generation</a:t>
            </a:r>
          </a:p>
          <a:p>
            <a:r>
              <a:rPr lang="en-US" sz="1200" dirty="0">
                <a:solidFill>
                  <a:srgbClr val="C00000"/>
                </a:solidFill>
              </a:rPr>
              <a:t>finalize_generation</a:t>
            </a:r>
          </a:p>
          <a:p>
            <a:r>
              <a:rPr lang="en-US" sz="1200" dirty="0">
                <a:solidFill>
                  <a:srgbClr val="C00000"/>
                </a:solidFill>
              </a:rPr>
              <a:t>finalize_batch</a:t>
            </a:r>
          </a:p>
          <a:p>
            <a:r>
              <a:rPr lang="en-US" sz="1200" dirty="0">
                <a:solidFill>
                  <a:srgbClr val="C00000"/>
                </a:solidFill>
              </a:rPr>
              <a:t>synchronize_bank</a:t>
            </a:r>
          </a:p>
          <a:p>
            <a:r>
              <a:rPr lang="en-US" sz="1200" dirty="0">
                <a:solidFill>
                  <a:srgbClr val="C00000"/>
                </a:solidFill>
              </a:rPr>
              <a:t>reset_result</a:t>
            </a:r>
          </a:p>
        </p:txBody>
      </p:sp>
      <p:sp>
        <p:nvSpPr>
          <p:cNvPr id="12" name="TextBox 11"/>
          <p:cNvSpPr txBox="1"/>
          <p:nvPr/>
        </p:nvSpPr>
        <p:spPr>
          <a:xfrm>
            <a:off x="3238622" y="1188111"/>
            <a:ext cx="1603196" cy="2031325"/>
          </a:xfrm>
          <a:prstGeom prst="rect">
            <a:avLst/>
          </a:prstGeom>
          <a:noFill/>
        </p:spPr>
        <p:txBody>
          <a:bodyPr wrap="none" rtlCol="0">
            <a:spAutoFit/>
          </a:bodyPr>
          <a:lstStyle/>
          <a:p>
            <a:r>
              <a:rPr lang="en-US" b="1" dirty="0">
                <a:solidFill>
                  <a:srgbClr val="C00000"/>
                </a:solidFill>
              </a:rPr>
              <a:t>geometry</a:t>
            </a:r>
          </a:p>
          <a:p>
            <a:r>
              <a:rPr lang="en-US" sz="1200" dirty="0">
                <a:solidFill>
                  <a:srgbClr val="C00000"/>
                </a:solidFill>
              </a:rPr>
              <a:t>cell_contains</a:t>
            </a:r>
          </a:p>
          <a:p>
            <a:r>
              <a:rPr lang="en-US" sz="1200" dirty="0">
                <a:solidFill>
                  <a:srgbClr val="C00000"/>
                </a:solidFill>
              </a:rPr>
              <a:t>simple_cell_contains</a:t>
            </a:r>
          </a:p>
          <a:p>
            <a:r>
              <a:rPr lang="en-US" sz="1200" dirty="0">
                <a:solidFill>
                  <a:srgbClr val="C00000"/>
                </a:solidFill>
              </a:rPr>
              <a:t>complex_cell_contains</a:t>
            </a:r>
          </a:p>
          <a:p>
            <a:r>
              <a:rPr lang="en-US" sz="1200" dirty="0">
                <a:solidFill>
                  <a:srgbClr val="C00000"/>
                </a:solidFill>
              </a:rPr>
              <a:t>find_cell</a:t>
            </a:r>
          </a:p>
          <a:p>
            <a:r>
              <a:rPr lang="en-US" sz="1200" dirty="0">
                <a:solidFill>
                  <a:srgbClr val="C00000"/>
                </a:solidFill>
              </a:rPr>
              <a:t>cross_surface</a:t>
            </a:r>
          </a:p>
          <a:p>
            <a:r>
              <a:rPr lang="en-US" sz="1200" dirty="0">
                <a:solidFill>
                  <a:srgbClr val="C00000"/>
                </a:solidFill>
              </a:rPr>
              <a:t>cross_lattice</a:t>
            </a:r>
          </a:p>
          <a:p>
            <a:r>
              <a:rPr lang="en-US" sz="1200" dirty="0">
                <a:solidFill>
                  <a:srgbClr val="C00000"/>
                </a:solidFill>
              </a:rPr>
              <a:t>distance_to_boundary</a:t>
            </a:r>
          </a:p>
          <a:p>
            <a:r>
              <a:rPr lang="en-US" sz="1200" dirty="0">
                <a:solidFill>
                  <a:srgbClr val="C00000"/>
                </a:solidFill>
              </a:rPr>
              <a:t>Sense</a:t>
            </a:r>
          </a:p>
          <a:p>
            <a:r>
              <a:rPr lang="en-US" sz="1200" dirty="0">
                <a:solidFill>
                  <a:srgbClr val="C00000"/>
                </a:solidFill>
              </a:rPr>
              <a:t>handle_lost_particle</a:t>
            </a:r>
          </a:p>
        </p:txBody>
      </p:sp>
      <p:sp>
        <p:nvSpPr>
          <p:cNvPr id="13" name="TextBox 12"/>
          <p:cNvSpPr txBox="1"/>
          <p:nvPr/>
        </p:nvSpPr>
        <p:spPr>
          <a:xfrm>
            <a:off x="3223747" y="5055229"/>
            <a:ext cx="1013162" cy="1107996"/>
          </a:xfrm>
          <a:prstGeom prst="rect">
            <a:avLst/>
          </a:prstGeom>
          <a:noFill/>
        </p:spPr>
        <p:txBody>
          <a:bodyPr wrap="none" rtlCol="0">
            <a:spAutoFit/>
          </a:bodyPr>
          <a:lstStyle/>
          <a:p>
            <a:r>
              <a:rPr lang="en-US" b="1" dirty="0">
                <a:solidFill>
                  <a:srgbClr val="C00000"/>
                </a:solidFill>
              </a:rPr>
              <a:t>Graphics</a:t>
            </a:r>
          </a:p>
          <a:p>
            <a:r>
              <a:rPr lang="en-US" sz="1200" dirty="0">
                <a:solidFill>
                  <a:srgbClr val="C00000"/>
                </a:solidFill>
              </a:rPr>
              <a:t>Plot</a:t>
            </a:r>
          </a:p>
          <a:p>
            <a:r>
              <a:rPr lang="en-US" sz="1200" dirty="0">
                <a:solidFill>
                  <a:srgbClr val="C00000"/>
                </a:solidFill>
              </a:rPr>
              <a:t>position_rgb</a:t>
            </a:r>
          </a:p>
          <a:p>
            <a:r>
              <a:rPr lang="en-US" sz="1200" dirty="0">
                <a:solidFill>
                  <a:srgbClr val="C00000"/>
                </a:solidFill>
              </a:rPr>
              <a:t>Plotter</a:t>
            </a:r>
          </a:p>
          <a:p>
            <a:r>
              <a:rPr lang="en-US" sz="1200" dirty="0">
                <a:solidFill>
                  <a:srgbClr val="C00000"/>
                </a:solidFill>
              </a:rPr>
              <a:t>Display</a:t>
            </a:r>
          </a:p>
        </p:txBody>
      </p:sp>
      <p:sp>
        <p:nvSpPr>
          <p:cNvPr id="14" name="TextBox 13"/>
          <p:cNvSpPr txBox="1"/>
          <p:nvPr/>
        </p:nvSpPr>
        <p:spPr>
          <a:xfrm>
            <a:off x="1841140" y="3076814"/>
            <a:ext cx="1475789" cy="3323987"/>
          </a:xfrm>
          <a:prstGeom prst="rect">
            <a:avLst/>
          </a:prstGeom>
          <a:noFill/>
        </p:spPr>
        <p:txBody>
          <a:bodyPr wrap="none" rtlCol="0">
            <a:spAutoFit/>
          </a:bodyPr>
          <a:lstStyle/>
          <a:p>
            <a:r>
              <a:rPr lang="en-US" b="1" dirty="0">
                <a:solidFill>
                  <a:srgbClr val="C00000"/>
                </a:solidFill>
              </a:rPr>
              <a:t>Input</a:t>
            </a:r>
          </a:p>
          <a:p>
            <a:r>
              <a:rPr lang="en-US" sz="1200" dirty="0">
                <a:solidFill>
                  <a:srgbClr val="C00000"/>
                </a:solidFill>
              </a:rPr>
              <a:t>split_string</a:t>
            </a:r>
          </a:p>
          <a:p>
            <a:r>
              <a:rPr lang="en-US" sz="1200" dirty="0">
                <a:solidFill>
                  <a:srgbClr val="C00000"/>
                </a:solidFill>
              </a:rPr>
              <a:t>Tokenize</a:t>
            </a:r>
          </a:p>
          <a:p>
            <a:r>
              <a:rPr lang="en-US" sz="1200" dirty="0">
                <a:solidFill>
                  <a:srgbClr val="C00000"/>
                </a:solidFill>
              </a:rPr>
              <a:t>to_lower</a:t>
            </a:r>
          </a:p>
          <a:p>
            <a:r>
              <a:rPr lang="en-US" sz="1200" dirty="0">
                <a:solidFill>
                  <a:srgbClr val="C00000"/>
                </a:solidFill>
              </a:rPr>
              <a:t>to_upper</a:t>
            </a:r>
          </a:p>
          <a:p>
            <a:r>
              <a:rPr lang="en-US" sz="1200" dirty="0">
                <a:solidFill>
                  <a:srgbClr val="C00000"/>
                </a:solidFill>
              </a:rPr>
              <a:t>is_number</a:t>
            </a:r>
          </a:p>
          <a:p>
            <a:r>
              <a:rPr lang="en-US" sz="1200" dirty="0">
                <a:solidFill>
                  <a:srgbClr val="C00000"/>
                </a:solidFill>
              </a:rPr>
              <a:t>string_contains</a:t>
            </a:r>
          </a:p>
          <a:p>
            <a:r>
              <a:rPr lang="en-US" sz="1200" dirty="0">
                <a:solidFill>
                  <a:srgbClr val="C00000"/>
                </a:solidFill>
              </a:rPr>
              <a:t>generate_rpn</a:t>
            </a:r>
          </a:p>
          <a:p>
            <a:r>
              <a:rPr lang="en-US" sz="1200" dirty="0">
                <a:solidFill>
                  <a:srgbClr val="C00000"/>
                </a:solidFill>
              </a:rPr>
              <a:t>already_contains</a:t>
            </a:r>
          </a:p>
          <a:p>
            <a:r>
              <a:rPr lang="en-US" sz="1200" dirty="0">
                <a:solidFill>
                  <a:srgbClr val="C00000"/>
                </a:solidFill>
              </a:rPr>
              <a:t>neighbor_list</a:t>
            </a:r>
          </a:p>
          <a:p>
            <a:r>
              <a:rPr lang="en-US" sz="1200" dirty="0">
                <a:solidFill>
                  <a:srgbClr val="C00000"/>
                </a:solidFill>
              </a:rPr>
              <a:t>input_check</a:t>
            </a:r>
          </a:p>
          <a:p>
            <a:r>
              <a:rPr lang="en-US" sz="1200" dirty="0">
                <a:solidFill>
                  <a:srgbClr val="C00000"/>
                </a:solidFill>
              </a:rPr>
              <a:t>id_index</a:t>
            </a:r>
          </a:p>
          <a:p>
            <a:r>
              <a:rPr lang="en-US" sz="1200" dirty="0">
                <a:solidFill>
                  <a:srgbClr val="C00000"/>
                </a:solidFill>
              </a:rPr>
              <a:t>input_print</a:t>
            </a:r>
          </a:p>
          <a:p>
            <a:r>
              <a:rPr lang="en-US" sz="1200" dirty="0">
                <a:solidFill>
                  <a:srgbClr val="C00000"/>
                </a:solidFill>
              </a:rPr>
              <a:t>input_read </a:t>
            </a:r>
          </a:p>
          <a:p>
            <a:r>
              <a:rPr lang="en-US" sz="1200" dirty="0">
                <a:solidFill>
                  <a:srgbClr val="C00000"/>
                </a:solidFill>
              </a:rPr>
              <a:t>input_block_process</a:t>
            </a:r>
          </a:p>
          <a:p>
            <a:r>
              <a:rPr lang="en-US" sz="1200" dirty="0">
                <a:solidFill>
                  <a:srgbClr val="C00000"/>
                </a:solidFill>
              </a:rPr>
              <a:t>input_samples</a:t>
            </a:r>
          </a:p>
          <a:p>
            <a:r>
              <a:rPr lang="en-US" sz="1200" dirty="0">
                <a:solidFill>
                  <a:srgbClr val="C00000"/>
                </a:solidFill>
              </a:rPr>
              <a:t>input_file_read</a:t>
            </a:r>
          </a:p>
        </p:txBody>
      </p:sp>
      <p:sp>
        <p:nvSpPr>
          <p:cNvPr id="17" name="TextBox 16"/>
          <p:cNvSpPr txBox="1"/>
          <p:nvPr/>
        </p:nvSpPr>
        <p:spPr>
          <a:xfrm>
            <a:off x="4952011" y="1249149"/>
            <a:ext cx="1965603" cy="1384995"/>
          </a:xfrm>
          <a:prstGeom prst="rect">
            <a:avLst/>
          </a:prstGeom>
          <a:noFill/>
        </p:spPr>
        <p:txBody>
          <a:bodyPr wrap="none" rtlCol="0">
            <a:spAutoFit/>
          </a:bodyPr>
          <a:lstStyle/>
          <a:p>
            <a:r>
              <a:rPr lang="en-US" b="1" dirty="0">
                <a:solidFill>
                  <a:srgbClr val="C00000"/>
                </a:solidFill>
              </a:rPr>
              <a:t>Graphics </a:t>
            </a:r>
          </a:p>
          <a:p>
            <a:r>
              <a:rPr lang="en-US" b="1" dirty="0">
                <a:solidFill>
                  <a:srgbClr val="C00000"/>
                </a:solidFill>
              </a:rPr>
              <a:t>C-binding modules</a:t>
            </a:r>
          </a:p>
          <a:p>
            <a:r>
              <a:rPr lang="en-US" sz="1200" b="1" dirty="0">
                <a:solidFill>
                  <a:srgbClr val="C00000"/>
                </a:solidFill>
              </a:rPr>
              <a:t>Opengl_kinds</a:t>
            </a:r>
          </a:p>
          <a:p>
            <a:r>
              <a:rPr lang="en-US" sz="1200" b="1" dirty="0">
                <a:solidFill>
                  <a:srgbClr val="C00000"/>
                </a:solidFill>
              </a:rPr>
              <a:t>Opengl_gl</a:t>
            </a:r>
          </a:p>
          <a:p>
            <a:r>
              <a:rPr lang="en-US" sz="1200" b="1" dirty="0">
                <a:solidFill>
                  <a:srgbClr val="C00000"/>
                </a:solidFill>
              </a:rPr>
              <a:t>Opengl_glu</a:t>
            </a:r>
          </a:p>
          <a:p>
            <a:r>
              <a:rPr lang="en-US" sz="1200" b="1" dirty="0">
                <a:solidFill>
                  <a:srgbClr val="C00000"/>
                </a:solidFill>
              </a:rPr>
              <a:t>Opengl_glut</a:t>
            </a:r>
          </a:p>
        </p:txBody>
      </p:sp>
      <p:sp>
        <p:nvSpPr>
          <p:cNvPr id="18" name="TextBox 17"/>
          <p:cNvSpPr txBox="1"/>
          <p:nvPr/>
        </p:nvSpPr>
        <p:spPr>
          <a:xfrm>
            <a:off x="4952010" y="2710186"/>
            <a:ext cx="1691810" cy="923330"/>
          </a:xfrm>
          <a:prstGeom prst="rect">
            <a:avLst/>
          </a:prstGeom>
          <a:noFill/>
        </p:spPr>
        <p:txBody>
          <a:bodyPr wrap="none" rtlCol="0">
            <a:spAutoFit/>
          </a:bodyPr>
          <a:lstStyle/>
          <a:p>
            <a:r>
              <a:rPr lang="en-US" b="1" dirty="0">
                <a:solidFill>
                  <a:srgbClr val="C00000"/>
                </a:solidFill>
              </a:rPr>
              <a:t>Particle_header</a:t>
            </a:r>
          </a:p>
          <a:p>
            <a:r>
              <a:rPr lang="en-US" sz="1200" dirty="0">
                <a:solidFill>
                  <a:srgbClr val="C00000"/>
                </a:solidFill>
              </a:rPr>
              <a:t>deallocate_coord</a:t>
            </a:r>
          </a:p>
          <a:p>
            <a:r>
              <a:rPr lang="en-US" sz="1200" dirty="0">
                <a:solidFill>
                  <a:srgbClr val="C00000"/>
                </a:solidFill>
              </a:rPr>
              <a:t>initialize_particle</a:t>
            </a:r>
          </a:p>
          <a:p>
            <a:r>
              <a:rPr lang="en-US" sz="1200" dirty="0">
                <a:solidFill>
                  <a:srgbClr val="C00000"/>
                </a:solidFill>
              </a:rPr>
              <a:t>clear_particle</a:t>
            </a:r>
          </a:p>
        </p:txBody>
      </p:sp>
      <p:sp>
        <p:nvSpPr>
          <p:cNvPr id="19" name="TextBox 18"/>
          <p:cNvSpPr txBox="1"/>
          <p:nvPr/>
        </p:nvSpPr>
        <p:spPr>
          <a:xfrm>
            <a:off x="6917614" y="1288474"/>
            <a:ext cx="1913857" cy="4247317"/>
          </a:xfrm>
          <a:prstGeom prst="rect">
            <a:avLst/>
          </a:prstGeom>
          <a:noFill/>
        </p:spPr>
        <p:txBody>
          <a:bodyPr wrap="none" rtlCol="0">
            <a:spAutoFit/>
          </a:bodyPr>
          <a:lstStyle/>
          <a:p>
            <a:r>
              <a:rPr lang="en-US" b="1" dirty="0">
                <a:solidFill>
                  <a:srgbClr val="C00000"/>
                </a:solidFill>
              </a:rPr>
              <a:t>Physics</a:t>
            </a:r>
          </a:p>
          <a:p>
            <a:r>
              <a:rPr lang="en-US" sz="1200" dirty="0">
                <a:solidFill>
                  <a:srgbClr val="C00000"/>
                </a:solidFill>
              </a:rPr>
              <a:t>Collision</a:t>
            </a:r>
          </a:p>
          <a:p>
            <a:r>
              <a:rPr lang="en-US" sz="1200" dirty="0">
                <a:solidFill>
                  <a:srgbClr val="C00000"/>
                </a:solidFill>
              </a:rPr>
              <a:t>sample_reaction</a:t>
            </a:r>
          </a:p>
          <a:p>
            <a:r>
              <a:rPr lang="en-US" sz="1200" dirty="0">
                <a:solidFill>
                  <a:srgbClr val="C00000"/>
                </a:solidFill>
              </a:rPr>
              <a:t>sample_nuclide</a:t>
            </a:r>
          </a:p>
          <a:p>
            <a:r>
              <a:rPr lang="en-US" sz="1200" dirty="0">
                <a:solidFill>
                  <a:srgbClr val="C00000"/>
                </a:solidFill>
              </a:rPr>
              <a:t>sample_fission</a:t>
            </a:r>
          </a:p>
          <a:p>
            <a:r>
              <a:rPr lang="en-US" sz="1200" dirty="0">
                <a:solidFill>
                  <a:srgbClr val="C00000"/>
                </a:solidFill>
              </a:rPr>
              <a:t>Absorption</a:t>
            </a:r>
          </a:p>
          <a:p>
            <a:r>
              <a:rPr lang="en-US" sz="1200" dirty="0">
                <a:solidFill>
                  <a:srgbClr val="C00000"/>
                </a:solidFill>
              </a:rPr>
              <a:t>Scatter</a:t>
            </a:r>
          </a:p>
          <a:p>
            <a:r>
              <a:rPr lang="en-US" sz="1200" dirty="0">
                <a:solidFill>
                  <a:srgbClr val="C00000"/>
                </a:solidFill>
              </a:rPr>
              <a:t>elastic_scatter</a:t>
            </a:r>
          </a:p>
          <a:p>
            <a:r>
              <a:rPr lang="en-US" sz="1200" dirty="0">
                <a:solidFill>
                  <a:srgbClr val="C00000"/>
                </a:solidFill>
              </a:rPr>
              <a:t>sab_scatter</a:t>
            </a:r>
          </a:p>
          <a:p>
            <a:r>
              <a:rPr lang="en-US" sz="1200" dirty="0">
                <a:solidFill>
                  <a:srgbClr val="C00000"/>
                </a:solidFill>
              </a:rPr>
              <a:t>sample_target_velocity</a:t>
            </a:r>
          </a:p>
          <a:p>
            <a:r>
              <a:rPr lang="en-US" sz="1200" dirty="0">
                <a:solidFill>
                  <a:srgbClr val="C00000"/>
                </a:solidFill>
              </a:rPr>
              <a:t>sample_cxs_target_velocity</a:t>
            </a:r>
          </a:p>
          <a:p>
            <a:r>
              <a:rPr lang="en-US" sz="1200" dirty="0">
                <a:solidFill>
                  <a:srgbClr val="C00000"/>
                </a:solidFill>
              </a:rPr>
              <a:t>create_fission_sites</a:t>
            </a:r>
          </a:p>
          <a:p>
            <a:r>
              <a:rPr lang="en-US" sz="1200" dirty="0">
                <a:solidFill>
                  <a:srgbClr val="C00000"/>
                </a:solidFill>
              </a:rPr>
              <a:t>sample_fission_energy</a:t>
            </a:r>
          </a:p>
          <a:p>
            <a:r>
              <a:rPr lang="en-US" sz="1200" dirty="0">
                <a:solidFill>
                  <a:srgbClr val="C00000"/>
                </a:solidFill>
              </a:rPr>
              <a:t>inelastic_scatter</a:t>
            </a:r>
          </a:p>
          <a:p>
            <a:r>
              <a:rPr lang="en-US" sz="1200" dirty="0">
                <a:solidFill>
                  <a:srgbClr val="C00000"/>
                </a:solidFill>
              </a:rPr>
              <a:t>sample_angle</a:t>
            </a:r>
          </a:p>
          <a:p>
            <a:r>
              <a:rPr lang="en-US" sz="1200" dirty="0">
                <a:solidFill>
                  <a:srgbClr val="C00000"/>
                </a:solidFill>
              </a:rPr>
              <a:t>rotate_angle</a:t>
            </a:r>
          </a:p>
          <a:p>
            <a:r>
              <a:rPr lang="en-US" sz="1200" dirty="0">
                <a:solidFill>
                  <a:srgbClr val="C00000"/>
                </a:solidFill>
              </a:rPr>
              <a:t>sample_energy</a:t>
            </a:r>
          </a:p>
          <a:p>
            <a:r>
              <a:rPr lang="en-US" sz="1200" dirty="0">
                <a:solidFill>
                  <a:srgbClr val="C00000"/>
                </a:solidFill>
              </a:rPr>
              <a:t>maxwell_spectrum</a:t>
            </a:r>
          </a:p>
          <a:p>
            <a:r>
              <a:rPr lang="en-US" sz="1200" dirty="0">
                <a:solidFill>
                  <a:srgbClr val="C00000"/>
                </a:solidFill>
              </a:rPr>
              <a:t>watt_spectrum</a:t>
            </a:r>
          </a:p>
          <a:p>
            <a:r>
              <a:rPr lang="en-US" sz="1200" dirty="0">
                <a:solidFill>
                  <a:srgbClr val="C00000"/>
                </a:solidFill>
              </a:rPr>
              <a:t>nu_total</a:t>
            </a:r>
          </a:p>
          <a:p>
            <a:r>
              <a:rPr lang="en-US" sz="1200" dirty="0">
                <a:solidFill>
                  <a:srgbClr val="C00000"/>
                </a:solidFill>
              </a:rPr>
              <a:t>nu_prompt</a:t>
            </a:r>
          </a:p>
          <a:p>
            <a:r>
              <a:rPr lang="en-US" sz="1200" dirty="0">
                <a:solidFill>
                  <a:srgbClr val="C00000"/>
                </a:solidFill>
              </a:rPr>
              <a:t>nu_delayed</a:t>
            </a:r>
          </a:p>
        </p:txBody>
      </p:sp>
      <p:sp>
        <p:nvSpPr>
          <p:cNvPr id="20" name="TextBox 19"/>
          <p:cNvSpPr txBox="1"/>
          <p:nvPr/>
        </p:nvSpPr>
        <p:spPr>
          <a:xfrm>
            <a:off x="4952010" y="3633517"/>
            <a:ext cx="1362874" cy="1200329"/>
          </a:xfrm>
          <a:prstGeom prst="rect">
            <a:avLst/>
          </a:prstGeom>
          <a:noFill/>
        </p:spPr>
        <p:txBody>
          <a:bodyPr wrap="none" rtlCol="0">
            <a:spAutoFit/>
          </a:bodyPr>
          <a:lstStyle/>
          <a:p>
            <a:r>
              <a:rPr lang="en-US" b="1" dirty="0">
                <a:solidFill>
                  <a:srgbClr val="C00000"/>
                </a:solidFill>
              </a:rPr>
              <a:t>Random_lcg</a:t>
            </a:r>
          </a:p>
          <a:p>
            <a:r>
              <a:rPr lang="en-US" sz="1200" dirty="0">
                <a:solidFill>
                  <a:srgbClr val="C00000"/>
                </a:solidFill>
              </a:rPr>
              <a:t>Prn</a:t>
            </a:r>
          </a:p>
          <a:p>
            <a:r>
              <a:rPr lang="en-US" sz="1200" dirty="0">
                <a:solidFill>
                  <a:srgbClr val="C00000"/>
                </a:solidFill>
              </a:rPr>
              <a:t>initialize_prng</a:t>
            </a:r>
          </a:p>
          <a:p>
            <a:r>
              <a:rPr lang="en-US" sz="1200" dirty="0">
                <a:solidFill>
                  <a:srgbClr val="C00000"/>
                </a:solidFill>
              </a:rPr>
              <a:t>set_particle_seed</a:t>
            </a:r>
          </a:p>
          <a:p>
            <a:endParaRPr lang="en-US" dirty="0">
              <a:solidFill>
                <a:srgbClr val="C00000"/>
              </a:solidFill>
            </a:endParaRPr>
          </a:p>
        </p:txBody>
      </p:sp>
      <p:sp>
        <p:nvSpPr>
          <p:cNvPr id="21" name="TextBox 20"/>
          <p:cNvSpPr txBox="1"/>
          <p:nvPr/>
        </p:nvSpPr>
        <p:spPr>
          <a:xfrm>
            <a:off x="4952011" y="4554141"/>
            <a:ext cx="1716175" cy="1384995"/>
          </a:xfrm>
          <a:prstGeom prst="rect">
            <a:avLst/>
          </a:prstGeom>
          <a:noFill/>
        </p:spPr>
        <p:txBody>
          <a:bodyPr wrap="none" rtlCol="0">
            <a:spAutoFit/>
          </a:bodyPr>
          <a:lstStyle/>
          <a:p>
            <a:r>
              <a:rPr lang="en-US" b="1" dirty="0">
                <a:solidFill>
                  <a:srgbClr val="C00000"/>
                </a:solidFill>
              </a:rPr>
              <a:t>Source</a:t>
            </a:r>
          </a:p>
          <a:p>
            <a:r>
              <a:rPr lang="en-US" sz="1200" dirty="0">
                <a:solidFill>
                  <a:srgbClr val="C00000"/>
                </a:solidFill>
              </a:rPr>
              <a:t>initialize_source</a:t>
            </a:r>
          </a:p>
          <a:p>
            <a:r>
              <a:rPr lang="en-US" sz="1200" dirty="0">
                <a:solidFill>
                  <a:srgbClr val="C00000"/>
                </a:solidFill>
              </a:rPr>
              <a:t>sample_external_source</a:t>
            </a:r>
          </a:p>
          <a:p>
            <a:r>
              <a:rPr lang="en-US" sz="1200" dirty="0">
                <a:solidFill>
                  <a:srgbClr val="C00000"/>
                </a:solidFill>
              </a:rPr>
              <a:t>get_source_particle</a:t>
            </a:r>
          </a:p>
          <a:p>
            <a:r>
              <a:rPr lang="en-US" sz="1200" dirty="0">
                <a:solidFill>
                  <a:srgbClr val="C00000"/>
                </a:solidFill>
              </a:rPr>
              <a:t>copy_source_attributes</a:t>
            </a:r>
          </a:p>
          <a:p>
            <a:endParaRPr lang="en-US" dirty="0">
              <a:solidFill>
                <a:srgbClr val="C00000"/>
              </a:solidFill>
            </a:endParaRPr>
          </a:p>
        </p:txBody>
      </p:sp>
      <p:sp>
        <p:nvSpPr>
          <p:cNvPr id="22" name="TextBox 21"/>
          <p:cNvSpPr txBox="1"/>
          <p:nvPr/>
        </p:nvSpPr>
        <p:spPr>
          <a:xfrm>
            <a:off x="4952010" y="5689038"/>
            <a:ext cx="972446" cy="553998"/>
          </a:xfrm>
          <a:prstGeom prst="rect">
            <a:avLst/>
          </a:prstGeom>
          <a:noFill/>
        </p:spPr>
        <p:txBody>
          <a:bodyPr wrap="none" rtlCol="0">
            <a:spAutoFit/>
          </a:bodyPr>
          <a:lstStyle/>
          <a:p>
            <a:r>
              <a:rPr lang="en-US" b="1" dirty="0">
                <a:solidFill>
                  <a:srgbClr val="C00000"/>
                </a:solidFill>
              </a:rPr>
              <a:t>Tracking</a:t>
            </a:r>
          </a:p>
          <a:p>
            <a:r>
              <a:rPr lang="en-US" sz="1200" dirty="0">
                <a:solidFill>
                  <a:srgbClr val="C00000"/>
                </a:solidFill>
              </a:rPr>
              <a:t>transport</a:t>
            </a:r>
          </a:p>
        </p:txBody>
      </p:sp>
      <p:sp>
        <p:nvSpPr>
          <p:cNvPr id="3" name="TextBox 2"/>
          <p:cNvSpPr txBox="1"/>
          <p:nvPr/>
        </p:nvSpPr>
        <p:spPr>
          <a:xfrm>
            <a:off x="1776739" y="879816"/>
            <a:ext cx="1061509" cy="369332"/>
          </a:xfrm>
          <a:prstGeom prst="rect">
            <a:avLst/>
          </a:prstGeom>
          <a:noFill/>
        </p:spPr>
        <p:txBody>
          <a:bodyPr wrap="none" rtlCol="0">
            <a:spAutoFit/>
          </a:bodyPr>
          <a:lstStyle/>
          <a:p>
            <a:r>
              <a:rPr lang="en-US" dirty="0"/>
              <a:t>13 k lines</a:t>
            </a:r>
          </a:p>
        </p:txBody>
      </p:sp>
    </p:spTree>
    <p:extLst>
      <p:ext uri="{BB962C8B-B14F-4D97-AF65-F5344CB8AC3E}">
        <p14:creationId xmlns:p14="http://schemas.microsoft.com/office/powerpoint/2010/main" val="1621762312"/>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rotWithShape="1">
          <a:blip r:embed="rId2">
            <a:duotone>
              <a:schemeClr val="bg2">
                <a:shade val="45000"/>
                <a:satMod val="135000"/>
              </a:schemeClr>
              <a:prstClr val="white"/>
            </a:duotone>
            <a:extLst>
              <a:ext uri="{28A0092B-C50C-407E-A947-70E740481C1C}">
                <a14:useLocalDpi xmlns:a14="http://schemas.microsoft.com/office/drawing/2010/main" val="0"/>
              </a:ext>
            </a:extLst>
          </a:blip>
          <a:srcRect b="4155"/>
          <a:stretch/>
        </p:blipFill>
        <p:spPr>
          <a:xfrm>
            <a:off x="159657" y="585787"/>
            <a:ext cx="8790176" cy="5691642"/>
          </a:xfrm>
          <a:prstGeom prst="rect">
            <a:avLst/>
          </a:prstGeom>
        </p:spPr>
      </p:pic>
      <p:sp>
        <p:nvSpPr>
          <p:cNvPr id="2" name="Rectangle 1"/>
          <p:cNvSpPr/>
          <p:nvPr/>
        </p:nvSpPr>
        <p:spPr>
          <a:xfrm>
            <a:off x="513485" y="2711310"/>
            <a:ext cx="8436348" cy="830997"/>
          </a:xfrm>
          <a:prstGeom prst="rect">
            <a:avLst/>
          </a:prstGeom>
          <a:noFill/>
        </p:spPr>
        <p:txBody>
          <a:bodyPr wrap="none" lIns="91440" tIns="45720" rIns="91440" bIns="45720">
            <a:spAutoFit/>
          </a:bodyPr>
          <a:lstStyle/>
          <a:p>
            <a:pPr algn="ctr"/>
            <a:r>
              <a:rPr lang="en-US" sz="4800" b="1" dirty="0">
                <a:ln w="9525">
                  <a:solidFill>
                    <a:schemeClr val="bg1"/>
                  </a:solidFill>
                  <a:prstDash val="solid"/>
                </a:ln>
                <a:solidFill>
                  <a:srgbClr val="008000"/>
                </a:solidFill>
                <a:effectLst>
                  <a:outerShdw blurRad="12700" dist="38100" dir="2700000" algn="tl" rotWithShape="0">
                    <a:schemeClr val="bg1">
                      <a:lumMod val="50000"/>
                    </a:schemeClr>
                  </a:outerShdw>
                </a:effectLst>
              </a:rPr>
              <a:t>Thank you for your attention . . .</a:t>
            </a:r>
          </a:p>
        </p:txBody>
      </p:sp>
    </p:spTree>
    <p:extLst>
      <p:ext uri="{BB962C8B-B14F-4D97-AF65-F5344CB8AC3E}">
        <p14:creationId xmlns:p14="http://schemas.microsoft.com/office/powerpoint/2010/main" val="216533594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8AED626-0DA2-41C1-8ADA-7C7DBD6AC235}" type="slidenum">
              <a:rPr lang="en-US" smtClean="0"/>
              <a:t>56</a:t>
            </a:fld>
            <a:endParaRPr lang="en-US" dirty="0"/>
          </a:p>
        </p:txBody>
      </p:sp>
    </p:spTree>
    <p:extLst>
      <p:ext uri="{BB962C8B-B14F-4D97-AF65-F5344CB8AC3E}">
        <p14:creationId xmlns:p14="http://schemas.microsoft.com/office/powerpoint/2010/main" val="2142363287"/>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a:p>
        </p:txBody>
      </p:sp>
      <p:sp>
        <p:nvSpPr>
          <p:cNvPr id="3" name="Content Placeholder 2"/>
          <p:cNvSpPr>
            <a:spLocks noGrp="1"/>
          </p:cNvSpPr>
          <p:nvPr>
            <p:ph idx="1"/>
          </p:nvPr>
        </p:nvSpPr>
        <p:spPr/>
        <p:txBody>
          <a:bodyPr/>
          <a:lstStyle/>
          <a:p>
            <a:endParaRPr lang="en-US"/>
          </a:p>
        </p:txBody>
      </p:sp>
      <p:sp>
        <p:nvSpPr>
          <p:cNvPr id="4" name="Slide Number Placeholder 3"/>
          <p:cNvSpPr>
            <a:spLocks noGrp="1"/>
          </p:cNvSpPr>
          <p:nvPr>
            <p:ph type="sldNum" sz="quarter" idx="12"/>
          </p:nvPr>
        </p:nvSpPr>
        <p:spPr/>
        <p:txBody>
          <a:bodyPr/>
          <a:lstStyle/>
          <a:p>
            <a:fld id="{E8AED626-0DA2-41C1-8ADA-7C7DBD6AC235}" type="slidenum">
              <a:rPr lang="en-US" smtClean="0"/>
              <a:t>57</a:t>
            </a:fld>
            <a:endParaRPr lang="en-US" dirty="0"/>
          </a:p>
        </p:txBody>
      </p:sp>
    </p:spTree>
    <p:extLst>
      <p:ext uri="{BB962C8B-B14F-4D97-AF65-F5344CB8AC3E}">
        <p14:creationId xmlns:p14="http://schemas.microsoft.com/office/powerpoint/2010/main" val="4290647845"/>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E8AED626-0DA2-41C1-8ADA-7C7DBD6AC235}" type="slidenum">
              <a:rPr lang="en-US" smtClean="0"/>
              <a:t>58</a:t>
            </a:fld>
            <a:endParaRPr lang="en-US" dirty="0"/>
          </a:p>
        </p:txBody>
      </p:sp>
      <p:sp>
        <p:nvSpPr>
          <p:cNvPr id="5" name="Chevron 4"/>
          <p:cNvSpPr/>
          <p:nvPr/>
        </p:nvSpPr>
        <p:spPr>
          <a:xfrm>
            <a:off x="2212623" y="657225"/>
            <a:ext cx="4617155" cy="322828"/>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Simulate all particles</a:t>
            </a:r>
          </a:p>
        </p:txBody>
      </p:sp>
      <p:sp>
        <p:nvSpPr>
          <p:cNvPr id="6" name="Chevron 5"/>
          <p:cNvSpPr/>
          <p:nvPr/>
        </p:nvSpPr>
        <p:spPr>
          <a:xfrm>
            <a:off x="6791326" y="658989"/>
            <a:ext cx="2343149" cy="321064"/>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7" name="Title 1"/>
          <p:cNvSpPr txBox="1">
            <a:spLocks/>
          </p:cNvSpPr>
          <p:nvPr/>
        </p:nvSpPr>
        <p:spPr>
          <a:xfrm>
            <a:off x="0" y="460748"/>
            <a:ext cx="9144000" cy="186953"/>
          </a:xfrm>
          <a:prstGeom prst="rect">
            <a:avLst/>
          </a:prstGeom>
          <a:solidFill>
            <a:schemeClr val="accent1">
              <a:lumMod val="40000"/>
              <a:lumOff val="60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8" name="Chevron 7"/>
          <p:cNvSpPr/>
          <p:nvPr/>
        </p:nvSpPr>
        <p:spPr>
          <a:xfrm>
            <a:off x="9526" y="658989"/>
            <a:ext cx="2248253" cy="322912"/>
          </a:xfrm>
          <a:prstGeom prst="chevron">
            <a:avLst/>
          </a:prstGeom>
          <a:solidFill>
            <a:schemeClr val="accent1">
              <a:lumMod val="75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Input</a:t>
            </a:r>
          </a:p>
        </p:txBody>
      </p:sp>
      <p:sp>
        <p:nvSpPr>
          <p:cNvPr id="9" name="Rectangle 8"/>
          <p:cNvSpPr/>
          <p:nvPr/>
        </p:nvSpPr>
        <p:spPr>
          <a:xfrm>
            <a:off x="374374" y="2035690"/>
            <a:ext cx="8140977" cy="584775"/>
          </a:xfrm>
          <a:prstGeom prst="rect">
            <a:avLst/>
          </a:prstGeom>
        </p:spPr>
        <p:txBody>
          <a:bodyPr wrap="square">
            <a:spAutoFit/>
          </a:bodyPr>
          <a:lstStyle/>
          <a:p>
            <a:pPr marL="285750" indent="-285750">
              <a:buFont typeface="Arial" panose="020B0604020202020204" pitchFamily="34" charset="0"/>
              <a:buChar char="•"/>
            </a:pPr>
            <a:r>
              <a:rPr lang="en-US" sz="1600" dirty="0">
                <a:latin typeface="Calibri" panose="020F0502020204030204" pitchFamily="34" charset="0"/>
                <a:ea typeface="Calibri" panose="020F0502020204030204" pitchFamily="34" charset="0"/>
                <a:cs typeface="Times New Roman" panose="02020603050405020304" pitchFamily="18" charset="0"/>
              </a:rPr>
              <a:t>By using the NJOY code the evaluated neutron cross section data of many nuclides are processed from ENDF-6 format to ACE format.</a:t>
            </a:r>
          </a:p>
        </p:txBody>
      </p:sp>
      <p:pic>
        <p:nvPicPr>
          <p:cNvPr id="10" name="Picture 9"/>
          <p:cNvPicPr>
            <a:picLocks noChangeAspect="1"/>
          </p:cNvPicPr>
          <p:nvPr/>
        </p:nvPicPr>
        <p:blipFill>
          <a:blip r:embed="rId2"/>
          <a:stretch>
            <a:fillRect/>
          </a:stretch>
        </p:blipFill>
        <p:spPr>
          <a:xfrm>
            <a:off x="740001" y="2909834"/>
            <a:ext cx="5836703" cy="2766835"/>
          </a:xfrm>
          <a:prstGeom prst="rect">
            <a:avLst/>
          </a:prstGeom>
        </p:spPr>
      </p:pic>
      <p:sp>
        <p:nvSpPr>
          <p:cNvPr id="11" name="Rectangle 10"/>
          <p:cNvSpPr/>
          <p:nvPr/>
        </p:nvSpPr>
        <p:spPr>
          <a:xfrm>
            <a:off x="1016864" y="5676669"/>
            <a:ext cx="5441086" cy="307777"/>
          </a:xfrm>
          <a:prstGeom prst="rect">
            <a:avLst/>
          </a:prstGeom>
        </p:spPr>
        <p:txBody>
          <a:bodyPr wrap="square">
            <a:spAutoFit/>
          </a:bodyPr>
          <a:lstStyle/>
          <a:p>
            <a:r>
              <a:rPr lang="en-US" sz="1400" dirty="0">
                <a:latin typeface="Calibri" panose="020F0502020204030204" pitchFamily="34" charset="0"/>
                <a:ea typeface="Calibri" panose="020F0502020204030204" pitchFamily="34" charset="0"/>
                <a:cs typeface="Times New Roman" panose="02020603050405020304" pitchFamily="18" charset="0"/>
              </a:rPr>
              <a:t>Plotted using </a:t>
            </a:r>
            <a:r>
              <a:rPr lang="en-US" sz="1400" b="1" dirty="0">
                <a:solidFill>
                  <a:srgbClr val="C00000"/>
                </a:solidFill>
                <a:latin typeface="Calibri" panose="020F0502020204030204" pitchFamily="34" charset="0"/>
                <a:ea typeface="Calibri" panose="020F0502020204030204" pitchFamily="34" charset="0"/>
                <a:cs typeface="Times New Roman" panose="02020603050405020304" pitchFamily="18" charset="0"/>
              </a:rPr>
              <a:t>JANIS-4.0</a:t>
            </a:r>
            <a:r>
              <a:rPr lang="en-US" sz="1400" dirty="0">
                <a:latin typeface="Calibri" panose="020F0502020204030204" pitchFamily="34" charset="0"/>
                <a:ea typeface="Calibri" panose="020F0502020204030204" pitchFamily="34" charset="0"/>
                <a:cs typeface="Times New Roman" panose="02020603050405020304" pitchFamily="18" charset="0"/>
              </a:rPr>
              <a:t> (Java-based Nuclear Data Information System)</a:t>
            </a:r>
            <a:endParaRPr lang="en-US" sz="1400" dirty="0"/>
          </a:p>
        </p:txBody>
      </p:sp>
      <p:sp>
        <p:nvSpPr>
          <p:cNvPr id="12" name="TextBox 11"/>
          <p:cNvSpPr txBox="1"/>
          <p:nvPr/>
        </p:nvSpPr>
        <p:spPr>
          <a:xfrm>
            <a:off x="7010486" y="3049646"/>
            <a:ext cx="1904826" cy="1754326"/>
          </a:xfrm>
          <a:prstGeom prst="rect">
            <a:avLst/>
          </a:prstGeom>
          <a:noFill/>
        </p:spPr>
        <p:txBody>
          <a:bodyPr wrap="square" rtlCol="0">
            <a:spAutoFit/>
          </a:bodyPr>
          <a:lstStyle/>
          <a:p>
            <a:r>
              <a:rPr lang="en-US" b="1" dirty="0">
                <a:solidFill>
                  <a:srgbClr val="00B050"/>
                </a:solidFill>
              </a:rPr>
              <a:t>MODULE cxs</a:t>
            </a:r>
          </a:p>
          <a:p>
            <a:endParaRPr lang="en-US" b="1" dirty="0">
              <a:solidFill>
                <a:srgbClr val="00B050"/>
              </a:solidFill>
            </a:endParaRPr>
          </a:p>
          <a:p>
            <a:r>
              <a:rPr lang="en-US" dirty="0">
                <a:solidFill>
                  <a:srgbClr val="00B050"/>
                </a:solidFill>
              </a:rPr>
              <a:t>Reads all nuclide cross-section data and store it in system memory</a:t>
            </a:r>
          </a:p>
        </p:txBody>
      </p:sp>
      <p:sp>
        <p:nvSpPr>
          <p:cNvPr id="13" name="Rectangle 12"/>
          <p:cNvSpPr/>
          <p:nvPr/>
        </p:nvSpPr>
        <p:spPr>
          <a:xfrm>
            <a:off x="398817" y="1239857"/>
            <a:ext cx="3627611" cy="366650"/>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dirty="0">
                <a:ln w="0"/>
                <a:solidFill>
                  <a:schemeClr val="tx1"/>
                </a:solidFill>
                <a:effectLst>
                  <a:outerShdw blurRad="38100" dist="19050" dir="2700000" algn="tl" rotWithShape="0">
                    <a:schemeClr val="dk1">
                      <a:alpha val="40000"/>
                    </a:schemeClr>
                  </a:outerShdw>
                </a:effectLst>
              </a:rPr>
              <a:t>2.cross-section data visualization</a:t>
            </a:r>
          </a:p>
        </p:txBody>
      </p:sp>
    </p:spTree>
    <p:extLst>
      <p:ext uri="{BB962C8B-B14F-4D97-AF65-F5344CB8AC3E}">
        <p14:creationId xmlns:p14="http://schemas.microsoft.com/office/powerpoint/2010/main" val="39020442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28650" y="1880730"/>
            <a:ext cx="7886700" cy="2475059"/>
          </a:xfrm>
        </p:spPr>
        <p:txBody>
          <a:bodyPr>
            <a:normAutofit fontScale="92500" lnSpcReduction="20000"/>
          </a:bodyPr>
          <a:lstStyle/>
          <a:p>
            <a:r>
              <a:rPr lang="en-US" dirty="0"/>
              <a:t>Compiler  –   </a:t>
            </a:r>
            <a:r>
              <a:rPr lang="en-US" dirty="0" err="1"/>
              <a:t>gfortran</a:t>
            </a:r>
            <a:r>
              <a:rPr lang="en-US" dirty="0"/>
              <a:t> windows binaries 64 bit</a:t>
            </a:r>
          </a:p>
          <a:p>
            <a:pPr marL="0" indent="0">
              <a:buNone/>
            </a:pPr>
            <a:r>
              <a:rPr lang="en-US" dirty="0"/>
              <a:t>                          </a:t>
            </a:r>
            <a:r>
              <a:rPr lang="en-US" dirty="0" err="1"/>
              <a:t>Mingw-gfortran</a:t>
            </a:r>
            <a:r>
              <a:rPr lang="en-US" dirty="0"/>
              <a:t> 32 bit</a:t>
            </a:r>
          </a:p>
          <a:p>
            <a:r>
              <a:rPr lang="en-US" dirty="0"/>
              <a:t>Debugger --  gdb ( by Gnu )</a:t>
            </a:r>
          </a:p>
          <a:p>
            <a:r>
              <a:rPr lang="en-US" dirty="0"/>
              <a:t>IDE(Integrated-development </a:t>
            </a:r>
            <a:r>
              <a:rPr lang="en-US" dirty="0" err="1"/>
              <a:t>env</a:t>
            </a:r>
            <a:r>
              <a:rPr lang="en-US" dirty="0"/>
              <a:t>)   –   </a:t>
            </a:r>
            <a:r>
              <a:rPr lang="en-US" dirty="0" err="1"/>
              <a:t>codeblocks</a:t>
            </a:r>
            <a:endParaRPr lang="en-US" dirty="0"/>
          </a:p>
          <a:p>
            <a:r>
              <a:rPr lang="en-US" dirty="0"/>
              <a:t>Written with fortran 2003 features</a:t>
            </a:r>
          </a:p>
          <a:p>
            <a:r>
              <a:rPr lang="en-US" dirty="0"/>
              <a:t>Graphics – open graphics library ( </a:t>
            </a:r>
            <a:r>
              <a:rPr lang="en-US" b="1" dirty="0"/>
              <a:t>C</a:t>
            </a:r>
            <a:r>
              <a:rPr lang="en-US" dirty="0"/>
              <a:t> libraries )</a:t>
            </a:r>
          </a:p>
        </p:txBody>
      </p:sp>
      <p:sp>
        <p:nvSpPr>
          <p:cNvPr id="4" name="Slide Number Placeholder 3"/>
          <p:cNvSpPr>
            <a:spLocks noGrp="1"/>
          </p:cNvSpPr>
          <p:nvPr>
            <p:ph type="sldNum" sz="quarter" idx="12"/>
          </p:nvPr>
        </p:nvSpPr>
        <p:spPr/>
        <p:txBody>
          <a:bodyPr/>
          <a:lstStyle/>
          <a:p>
            <a:fld id="{E8AED626-0DA2-41C1-8ADA-7C7DBD6AC235}" type="slidenum">
              <a:rPr lang="en-US" smtClean="0"/>
              <a:t>59</a:t>
            </a:fld>
            <a:endParaRPr lang="en-US" dirty="0"/>
          </a:p>
        </p:txBody>
      </p:sp>
      <p:sp>
        <p:nvSpPr>
          <p:cNvPr id="5" name="Title 1"/>
          <p:cNvSpPr txBox="1">
            <a:spLocks/>
          </p:cNvSpPr>
          <p:nvPr/>
        </p:nvSpPr>
        <p:spPr>
          <a:xfrm>
            <a:off x="0" y="457202"/>
            <a:ext cx="9144000" cy="634999"/>
          </a:xfrm>
          <a:prstGeom prst="rect">
            <a:avLst/>
          </a:prstGeom>
          <a:solidFill>
            <a:schemeClr val="accent1">
              <a:lumMod val="40000"/>
              <a:lumOff val="60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Tools used for the code</a:t>
            </a:r>
            <a:endParaRPr lang="en-US" sz="3200" b="1" baseline="-25000" dirty="0">
              <a:solidFill>
                <a:schemeClr val="bg1">
                  <a:lumMod val="65000"/>
                </a:schemeClr>
              </a:solidFill>
            </a:endParaRPr>
          </a:p>
        </p:txBody>
      </p:sp>
    </p:spTree>
    <p:extLst>
      <p:ext uri="{BB962C8B-B14F-4D97-AF65-F5344CB8AC3E}">
        <p14:creationId xmlns:p14="http://schemas.microsoft.com/office/powerpoint/2010/main" val="275528018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a14="http://schemas.microsoft.com/office/drawing/2010/main" Requires="a14">
          <p:sp>
            <p:nvSpPr>
              <p:cNvPr id="11" name="Rectangle 10"/>
              <p:cNvSpPr/>
              <p:nvPr/>
            </p:nvSpPr>
            <p:spPr>
              <a:xfrm>
                <a:off x="2638500" y="3126132"/>
                <a:ext cx="6146417" cy="743730"/>
              </a:xfrm>
              <a:prstGeom prst="rect">
                <a:avLst/>
              </a:prstGeom>
              <a:ln>
                <a:solidFill>
                  <a:schemeClr val="accent1"/>
                </a:solidFill>
              </a:ln>
            </p:spPr>
            <p:txBody>
              <a:bodyPr wrap="square">
                <a:spAutoFit/>
              </a:bodyPr>
              <a:lstStyle/>
              <a:p>
                <a:pPr/>
                <a14:m>
                  <m:oMathPara xmlns:m="http://schemas.openxmlformats.org/officeDocument/2006/math">
                    <m:oMathParaPr>
                      <m:jc m:val="centerGroup"/>
                    </m:oMathParaPr>
                    <m:oMath xmlns:m="http://schemas.openxmlformats.org/officeDocument/2006/math">
                      <m:nary>
                        <m:naryPr>
                          <m:limLoc m:val="undOvr"/>
                          <m:ctrlPr>
                            <a:rPr lang="en-US" sz="1387" b="1" i="1">
                              <a:latin typeface="Cambria Math" panose="02040503050406030204" pitchFamily="18" charset="0"/>
                            </a:rPr>
                          </m:ctrlPr>
                        </m:naryPr>
                        <m:sub>
                          <m:r>
                            <m:rPr>
                              <m:brk m:alnAt="24"/>
                            </m:rPr>
                            <a:rPr lang="en-US" sz="1387" b="1" i="1">
                              <a:latin typeface="Cambria Math" panose="02040503050406030204" pitchFamily="18" charset="0"/>
                            </a:rPr>
                            <m:t>𝒂</m:t>
                          </m:r>
                        </m:sub>
                        <m:sup>
                          <m:r>
                            <a:rPr lang="en-US" sz="1387" b="1" i="1">
                              <a:latin typeface="Cambria Math" panose="02040503050406030204" pitchFamily="18" charset="0"/>
                            </a:rPr>
                            <m:t>𝒃</m:t>
                          </m:r>
                        </m:sup>
                        <m:e>
                          <m:r>
                            <a:rPr lang="en-US" sz="1387" b="1" i="1">
                              <a:latin typeface="Cambria Math" panose="02040503050406030204" pitchFamily="18" charset="0"/>
                            </a:rPr>
                            <m:t>𝒇</m:t>
                          </m:r>
                          <m:d>
                            <m:dPr>
                              <m:ctrlPr>
                                <a:rPr lang="en-US" sz="1387" b="1" i="1">
                                  <a:latin typeface="Cambria Math" panose="02040503050406030204" pitchFamily="18" charset="0"/>
                                </a:rPr>
                              </m:ctrlPr>
                            </m:dPr>
                            <m:e>
                              <m:r>
                                <a:rPr lang="en-US" sz="1387" b="1" i="1">
                                  <a:latin typeface="Cambria Math" panose="02040503050406030204" pitchFamily="18" charset="0"/>
                                </a:rPr>
                                <m:t>𝒙</m:t>
                              </m:r>
                            </m:e>
                          </m:d>
                          <m:r>
                            <a:rPr lang="en-US" sz="1387" b="1" i="1">
                              <a:latin typeface="Cambria Math" panose="02040503050406030204" pitchFamily="18" charset="0"/>
                            </a:rPr>
                            <m:t> </m:t>
                          </m:r>
                          <m:r>
                            <a:rPr lang="en-US" sz="1387" b="1" i="1">
                              <a:latin typeface="Cambria Math" panose="02040503050406030204" pitchFamily="18" charset="0"/>
                            </a:rPr>
                            <m:t>𝒅𝒙</m:t>
                          </m:r>
                          <m:r>
                            <a:rPr lang="en-US" sz="1387" b="1" i="1">
                              <a:latin typeface="Cambria Math" panose="02040503050406030204" pitchFamily="18" charset="0"/>
                            </a:rPr>
                            <m:t> ≈ </m:t>
                          </m:r>
                          <m:func>
                            <m:funcPr>
                              <m:ctrlPr>
                                <a:rPr lang="en-US" sz="1387" b="1" i="1">
                                  <a:latin typeface="Cambria Math" panose="02040503050406030204" pitchFamily="18" charset="0"/>
                                  <a:ea typeface="Cambria Math" panose="02040503050406030204" pitchFamily="18" charset="0"/>
                                </a:rPr>
                              </m:ctrlPr>
                            </m:funcPr>
                            <m:fName>
                              <m:r>
                                <a:rPr lang="en-US" sz="1387" b="1">
                                  <a:latin typeface="Cambria Math" panose="02040503050406030204" pitchFamily="18" charset="0"/>
                                  <a:ea typeface="Cambria Math" panose="02040503050406030204" pitchFamily="18" charset="0"/>
                                </a:rPr>
                                <m:t>𝐦𝐚𝐱</m:t>
                              </m:r>
                            </m:fName>
                            <m:e>
                              <m:d>
                                <m:dPr>
                                  <m:ctrlPr>
                                    <a:rPr lang="en-US" sz="1387" b="1" i="1">
                                      <a:latin typeface="Cambria Math" panose="02040503050406030204" pitchFamily="18" charset="0"/>
                                      <a:ea typeface="Cambria Math" panose="02040503050406030204" pitchFamily="18" charset="0"/>
                                    </a:rPr>
                                  </m:ctrlPr>
                                </m:dPr>
                                <m:e>
                                  <m:r>
                                    <a:rPr lang="en-US" sz="1387" b="1" i="1">
                                      <a:latin typeface="Cambria Math" panose="02040503050406030204" pitchFamily="18" charset="0"/>
                                      <a:ea typeface="Cambria Math" panose="02040503050406030204" pitchFamily="18" charset="0"/>
                                    </a:rPr>
                                    <m:t>𝒇</m:t>
                                  </m:r>
                                  <m:d>
                                    <m:dPr>
                                      <m:ctrlPr>
                                        <a:rPr lang="en-US" sz="1387" b="1" i="1">
                                          <a:latin typeface="Cambria Math" panose="02040503050406030204" pitchFamily="18" charset="0"/>
                                          <a:ea typeface="Cambria Math" panose="02040503050406030204" pitchFamily="18" charset="0"/>
                                        </a:rPr>
                                      </m:ctrlPr>
                                    </m:dPr>
                                    <m:e>
                                      <m:r>
                                        <a:rPr lang="en-US" sz="1387" b="1" i="1">
                                          <a:latin typeface="Cambria Math" panose="02040503050406030204" pitchFamily="18" charset="0"/>
                                          <a:ea typeface="Cambria Math" panose="02040503050406030204" pitchFamily="18" charset="0"/>
                                        </a:rPr>
                                        <m:t>𝒙</m:t>
                                      </m:r>
                                    </m:e>
                                  </m:d>
                                </m:e>
                              </m:d>
                            </m:e>
                          </m:func>
                          <m:r>
                            <a:rPr lang="en-US" sz="1387" b="1" i="1">
                              <a:latin typeface="Cambria Math" panose="02040503050406030204" pitchFamily="18" charset="0"/>
                              <a:ea typeface="Cambria Math" panose="02040503050406030204" pitchFamily="18" charset="0"/>
                            </a:rPr>
                            <m:t> </m:t>
                          </m:r>
                          <m:d>
                            <m:dPr>
                              <m:ctrlPr>
                                <a:rPr lang="en-US" sz="1387" b="1" i="1">
                                  <a:latin typeface="Cambria Math" panose="02040503050406030204" pitchFamily="18" charset="0"/>
                                  <a:ea typeface="Cambria Math" panose="02040503050406030204" pitchFamily="18" charset="0"/>
                                </a:rPr>
                              </m:ctrlPr>
                            </m:dPr>
                            <m:e>
                              <m:r>
                                <a:rPr lang="en-US" sz="1387" b="1" i="1">
                                  <a:latin typeface="Cambria Math" panose="02040503050406030204" pitchFamily="18" charset="0"/>
                                  <a:ea typeface="Cambria Math" panose="02040503050406030204" pitchFamily="18" charset="0"/>
                                </a:rPr>
                                <m:t>𝒃</m:t>
                              </m:r>
                              <m:r>
                                <a:rPr lang="en-US" sz="1387" b="1" i="1">
                                  <a:latin typeface="Cambria Math" panose="02040503050406030204" pitchFamily="18" charset="0"/>
                                  <a:ea typeface="Cambria Math" panose="02040503050406030204" pitchFamily="18" charset="0"/>
                                </a:rPr>
                                <m:t>−</m:t>
                              </m:r>
                              <m:r>
                                <a:rPr lang="en-US" sz="1387" b="1" i="1">
                                  <a:latin typeface="Cambria Math" panose="02040503050406030204" pitchFamily="18" charset="0"/>
                                  <a:ea typeface="Cambria Math" panose="02040503050406030204" pitchFamily="18" charset="0"/>
                                </a:rPr>
                                <m:t>𝒂</m:t>
                              </m:r>
                              <m:r>
                                <a:rPr lang="en-US" sz="1387" b="1" i="1">
                                  <a:latin typeface="Cambria Math" panose="02040503050406030204" pitchFamily="18" charset="0"/>
                                  <a:ea typeface="Cambria Math" panose="02040503050406030204" pitchFamily="18" charset="0"/>
                                </a:rPr>
                                <m:t> </m:t>
                              </m:r>
                            </m:e>
                          </m:d>
                          <m:r>
                            <a:rPr lang="en-US" sz="1387" b="1" i="1">
                              <a:latin typeface="Cambria Math" panose="02040503050406030204" pitchFamily="18" charset="0"/>
                              <a:ea typeface="Cambria Math" panose="02040503050406030204" pitchFamily="18" charset="0"/>
                            </a:rPr>
                            <m:t> </m:t>
                          </m:r>
                          <m:f>
                            <m:fPr>
                              <m:ctrlPr>
                                <a:rPr lang="en-US" sz="1387" b="1" i="1">
                                  <a:latin typeface="Cambria Math" panose="02040503050406030204" pitchFamily="18" charset="0"/>
                                  <a:ea typeface="Cambria Math" panose="02040503050406030204" pitchFamily="18" charset="0"/>
                                </a:rPr>
                              </m:ctrlPr>
                            </m:fPr>
                            <m:num>
                              <m:r>
                                <a:rPr lang="en-US" sz="1387" b="1" i="1">
                                  <a:latin typeface="Cambria Math" panose="02040503050406030204" pitchFamily="18" charset="0"/>
                                  <a:ea typeface="Cambria Math" panose="02040503050406030204" pitchFamily="18" charset="0"/>
                                </a:rPr>
                                <m:t>𝒇𝒓𝒂𝒄𝒕𝒊𝒐𝒏</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𝒐𝒇</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𝒑𝒐𝒊𝒏𝒕𝒔</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𝒖𝒏𝒅𝒆𝒓</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𝒕𝒉𝒆</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𝒍𝒊𝒏𝒆</m:t>
                              </m:r>
                              <m:r>
                                <a:rPr lang="en-US" sz="1387" b="1" i="1">
                                  <a:latin typeface="Cambria Math" panose="02040503050406030204" pitchFamily="18" charset="0"/>
                                  <a:ea typeface="Cambria Math" panose="02040503050406030204" pitchFamily="18" charset="0"/>
                                </a:rPr>
                                <m:t> </m:t>
                              </m:r>
                            </m:num>
                            <m:den>
                              <m:r>
                                <a:rPr lang="en-US" sz="1387" b="1" i="1">
                                  <a:latin typeface="Cambria Math" panose="02040503050406030204" pitchFamily="18" charset="0"/>
                                  <a:ea typeface="Cambria Math" panose="02040503050406030204" pitchFamily="18" charset="0"/>
                                </a:rPr>
                                <m:t>𝑻𝒐𝒕𝒂𝒍</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𝒏𝒖𝒎𝒃𝒆𝒓</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𝒐𝒇</m:t>
                              </m:r>
                              <m:r>
                                <a:rPr lang="en-US" sz="1387" b="1" i="1">
                                  <a:latin typeface="Cambria Math" panose="02040503050406030204" pitchFamily="18" charset="0"/>
                                  <a:ea typeface="Cambria Math" panose="02040503050406030204" pitchFamily="18" charset="0"/>
                                </a:rPr>
                                <m:t> </m:t>
                              </m:r>
                              <m:r>
                                <a:rPr lang="en-US" sz="1387" b="1" i="1">
                                  <a:latin typeface="Cambria Math" panose="02040503050406030204" pitchFamily="18" charset="0"/>
                                  <a:ea typeface="Cambria Math" panose="02040503050406030204" pitchFamily="18" charset="0"/>
                                </a:rPr>
                                <m:t>𝒑𝒐𝒊𝒏𝒕𝒔</m:t>
                              </m:r>
                              <m:r>
                                <a:rPr lang="en-US" sz="1387" b="1" i="1">
                                  <a:latin typeface="Cambria Math" panose="02040503050406030204" pitchFamily="18" charset="0"/>
                                  <a:ea typeface="Cambria Math" panose="02040503050406030204" pitchFamily="18" charset="0"/>
                                </a:rPr>
                                <m:t>      +</m:t>
                              </m:r>
                            </m:den>
                          </m:f>
                        </m:e>
                      </m:nary>
                    </m:oMath>
                  </m:oMathPara>
                </a14:m>
                <a:endParaRPr lang="en-US" sz="1387" dirty="0"/>
              </a:p>
            </p:txBody>
          </p:sp>
        </mc:Choice>
        <mc:Fallback>
          <p:sp>
            <p:nvSpPr>
              <p:cNvPr id="11" name="Rectangle 10"/>
              <p:cNvSpPr>
                <a:spLocks noRot="1" noChangeAspect="1" noMove="1" noResize="1" noEditPoints="1" noAdjustHandles="1" noChangeArrowheads="1" noChangeShapeType="1" noTextEdit="1"/>
              </p:cNvSpPr>
              <p:nvPr/>
            </p:nvSpPr>
            <p:spPr>
              <a:xfrm>
                <a:off x="2638500" y="3126132"/>
                <a:ext cx="6146417" cy="743730"/>
              </a:xfrm>
              <a:prstGeom prst="rect">
                <a:avLst/>
              </a:prstGeom>
              <a:blipFill>
                <a:blip r:embed="rId3"/>
                <a:stretch>
                  <a:fillRect/>
                </a:stretch>
              </a:blipFill>
              <a:ln>
                <a:solidFill>
                  <a:schemeClr val="accent1"/>
                </a:solidFill>
              </a:ln>
            </p:spPr>
            <p:txBody>
              <a:bodyPr/>
              <a:lstStyle/>
              <a:p>
                <a:r>
                  <a:rPr lang="en-IN">
                    <a:noFill/>
                  </a:rPr>
                  <a:t> </a:t>
                </a:r>
              </a:p>
            </p:txBody>
          </p:sp>
        </mc:Fallback>
      </mc:AlternateContent>
      <p:sp>
        <p:nvSpPr>
          <p:cNvPr id="5" name="TextBox 4"/>
          <p:cNvSpPr txBox="1"/>
          <p:nvPr/>
        </p:nvSpPr>
        <p:spPr>
          <a:xfrm>
            <a:off x="549742" y="1282691"/>
            <a:ext cx="6835141" cy="679097"/>
          </a:xfrm>
          <a:prstGeom prst="rect">
            <a:avLst/>
          </a:prstGeom>
          <a:noFill/>
        </p:spPr>
        <p:txBody>
          <a:bodyPr wrap="square" rtlCol="0">
            <a:spAutoFit/>
          </a:bodyPr>
          <a:lstStyle/>
          <a:p>
            <a:r>
              <a:rPr lang="en-US" sz="2080" b="1" i="1" dirty="0">
                <a:solidFill>
                  <a:schemeClr val="accent1">
                    <a:lumMod val="50000"/>
                  </a:schemeClr>
                </a:solidFill>
              </a:rPr>
              <a:t>Estimation of a finite Integral: Deterministic Method </a:t>
            </a:r>
          </a:p>
          <a:p>
            <a:endParaRPr lang="en-US" sz="1733" b="1" i="1" dirty="0">
              <a:solidFill>
                <a:srgbClr val="C00000"/>
              </a:solidFill>
            </a:endParaRPr>
          </a:p>
        </p:txBody>
      </p:sp>
      <p:sp>
        <p:nvSpPr>
          <p:cNvPr id="7" name="Oval 6"/>
          <p:cNvSpPr/>
          <p:nvPr/>
        </p:nvSpPr>
        <p:spPr>
          <a:xfrm>
            <a:off x="8523920" y="3320411"/>
            <a:ext cx="107250" cy="130108"/>
          </a:xfrm>
          <a:prstGeom prst="ellipse">
            <a:avLst/>
          </a:prstGeom>
          <a:solidFill>
            <a:srgbClr val="73A9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0" dirty="0"/>
          </a:p>
        </p:txBody>
      </p:sp>
      <p:sp>
        <p:nvSpPr>
          <p:cNvPr id="8" name="Oval 7"/>
          <p:cNvSpPr/>
          <p:nvPr/>
        </p:nvSpPr>
        <p:spPr>
          <a:xfrm>
            <a:off x="7941155" y="3573829"/>
            <a:ext cx="107251" cy="124530"/>
          </a:xfrm>
          <a:prstGeom prst="ellipse">
            <a:avLst/>
          </a:prstGeom>
          <a:solidFill>
            <a:srgbClr val="73A9DB"/>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0" dirty="0"/>
          </a:p>
        </p:txBody>
      </p:sp>
      <p:sp>
        <p:nvSpPr>
          <p:cNvPr id="12" name="Oval 11"/>
          <p:cNvSpPr/>
          <p:nvPr/>
        </p:nvSpPr>
        <p:spPr>
          <a:xfrm>
            <a:off x="8291740" y="3566171"/>
            <a:ext cx="124921" cy="130108"/>
          </a:xfrm>
          <a:prstGeom prst="ellipse">
            <a:avLst/>
          </a:prstGeom>
          <a:solidFill>
            <a:srgbClr val="FF0000"/>
          </a:solidFill>
          <a:ln>
            <a:solidFill>
              <a:srgbClr val="FF000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560" dirty="0"/>
          </a:p>
        </p:txBody>
      </p:sp>
      <p:graphicFrame>
        <p:nvGraphicFramePr>
          <p:cNvPr id="13" name="Table 12"/>
          <p:cNvGraphicFramePr>
            <a:graphicFrameLocks noGrp="1"/>
          </p:cNvGraphicFramePr>
          <p:nvPr/>
        </p:nvGraphicFramePr>
        <p:xfrm>
          <a:off x="4227118" y="4333591"/>
          <a:ext cx="4024442" cy="1632447"/>
        </p:xfrm>
        <a:graphic>
          <a:graphicData uri="http://schemas.openxmlformats.org/drawingml/2006/table">
            <a:tbl>
              <a:tblPr firstRow="1" bandRow="1">
                <a:tableStyleId>{B301B821-A1FF-4177-AEE7-76D212191A09}</a:tableStyleId>
              </a:tblPr>
              <a:tblGrid>
                <a:gridCol w="1388358">
                  <a:extLst>
                    <a:ext uri="{9D8B030D-6E8A-4147-A177-3AD203B41FA5}">
                      <a16:colId xmlns:a16="http://schemas.microsoft.com/office/drawing/2014/main" val="20000"/>
                    </a:ext>
                  </a:extLst>
                </a:gridCol>
                <a:gridCol w="1528841">
                  <a:extLst>
                    <a:ext uri="{9D8B030D-6E8A-4147-A177-3AD203B41FA5}">
                      <a16:colId xmlns:a16="http://schemas.microsoft.com/office/drawing/2014/main" val="20001"/>
                    </a:ext>
                  </a:extLst>
                </a:gridCol>
                <a:gridCol w="1107243">
                  <a:extLst>
                    <a:ext uri="{9D8B030D-6E8A-4147-A177-3AD203B41FA5}">
                      <a16:colId xmlns:a16="http://schemas.microsoft.com/office/drawing/2014/main" val="20002"/>
                    </a:ext>
                  </a:extLst>
                </a:gridCol>
              </a:tblGrid>
              <a:tr h="462015">
                <a:tc>
                  <a:txBody>
                    <a:bodyPr/>
                    <a:lstStyle/>
                    <a:p>
                      <a:pPr algn="ctr"/>
                      <a:r>
                        <a:rPr lang="en-US" sz="1200" dirty="0"/>
                        <a:t>Number</a:t>
                      </a:r>
                      <a:r>
                        <a:rPr lang="en-US" sz="1200" baseline="0" dirty="0"/>
                        <a:t> of </a:t>
                      </a:r>
                      <a:r>
                        <a:rPr lang="en-US" sz="1200" dirty="0"/>
                        <a:t>trials</a:t>
                      </a:r>
                    </a:p>
                  </a:txBody>
                  <a:tcPr marL="79248" marR="79248" marT="39624" marB="39624"/>
                </a:tc>
                <a:tc>
                  <a:txBody>
                    <a:bodyPr/>
                    <a:lstStyle/>
                    <a:p>
                      <a:pPr algn="ctr"/>
                      <a:r>
                        <a:rPr lang="en-US" sz="1200" dirty="0"/>
                        <a:t>Points enclosed by the curve</a:t>
                      </a:r>
                    </a:p>
                  </a:txBody>
                  <a:tcPr marL="79248" marR="79248" marT="39624" marB="39624"/>
                </a:tc>
                <a:tc>
                  <a:txBody>
                    <a:bodyPr/>
                    <a:lstStyle/>
                    <a:p>
                      <a:pPr algn="ctr"/>
                      <a:r>
                        <a:rPr lang="en-US" sz="1200" dirty="0"/>
                        <a:t>Value</a:t>
                      </a:r>
                      <a:r>
                        <a:rPr lang="en-US" sz="1200" baseline="0" dirty="0"/>
                        <a:t> of the integral</a:t>
                      </a:r>
                      <a:endParaRPr lang="en-US" sz="1200" dirty="0"/>
                    </a:p>
                  </a:txBody>
                  <a:tcPr marL="79248" marR="79248" marT="39624" marB="39624"/>
                </a:tc>
                <a:extLst>
                  <a:ext uri="{0D108BD9-81ED-4DB2-BD59-A6C34878D82A}">
                    <a16:rowId xmlns:a16="http://schemas.microsoft.com/office/drawing/2014/main" val="10000"/>
                  </a:ext>
                </a:extLst>
              </a:tr>
              <a:tr h="221593">
                <a:tc>
                  <a:txBody>
                    <a:bodyPr/>
                    <a:lstStyle/>
                    <a:p>
                      <a:pPr algn="ctr"/>
                      <a:r>
                        <a:rPr lang="en-US" sz="1400" dirty="0"/>
                        <a:t>10</a:t>
                      </a:r>
                      <a:endParaRPr lang="en-US" sz="1400" b="1" dirty="0"/>
                    </a:p>
                  </a:txBody>
                  <a:tcPr marL="79248" marR="79248" marT="39624" marB="39624"/>
                </a:tc>
                <a:tc>
                  <a:txBody>
                    <a:bodyPr/>
                    <a:lstStyle/>
                    <a:p>
                      <a:pPr algn="ctr"/>
                      <a:r>
                        <a:rPr lang="en-US" sz="1400" dirty="0"/>
                        <a:t>6</a:t>
                      </a:r>
                      <a:endParaRPr lang="en-US" sz="1400" b="1" dirty="0"/>
                    </a:p>
                  </a:txBody>
                  <a:tcPr marL="79248" marR="79248" marT="39624" marB="39624"/>
                </a:tc>
                <a:tc>
                  <a:txBody>
                    <a:bodyPr/>
                    <a:lstStyle/>
                    <a:p>
                      <a:pPr algn="ctr"/>
                      <a:r>
                        <a:rPr lang="en-US" sz="1400" dirty="0"/>
                        <a:t>0.600</a:t>
                      </a:r>
                      <a:endParaRPr lang="en-US" sz="1400" b="1" dirty="0"/>
                    </a:p>
                  </a:txBody>
                  <a:tcPr marL="79248" marR="79248" marT="39624" marB="39624"/>
                </a:tc>
                <a:extLst>
                  <a:ext uri="{0D108BD9-81ED-4DB2-BD59-A6C34878D82A}">
                    <a16:rowId xmlns:a16="http://schemas.microsoft.com/office/drawing/2014/main" val="10001"/>
                  </a:ext>
                </a:extLst>
              </a:tr>
              <a:tr h="246485">
                <a:tc>
                  <a:txBody>
                    <a:bodyPr/>
                    <a:lstStyle/>
                    <a:p>
                      <a:pPr algn="ctr"/>
                      <a:r>
                        <a:rPr lang="en-US" sz="1400" dirty="0"/>
                        <a:t>100</a:t>
                      </a:r>
                      <a:endParaRPr lang="en-US" sz="1400" b="1" dirty="0"/>
                    </a:p>
                  </a:txBody>
                  <a:tcPr marL="79248" marR="79248" marT="39624" marB="39624"/>
                </a:tc>
                <a:tc>
                  <a:txBody>
                    <a:bodyPr/>
                    <a:lstStyle/>
                    <a:p>
                      <a:pPr algn="ctr"/>
                      <a:r>
                        <a:rPr lang="en-US" sz="1400" dirty="0"/>
                        <a:t>56</a:t>
                      </a:r>
                      <a:endParaRPr lang="en-US" sz="1400" b="1" dirty="0"/>
                    </a:p>
                  </a:txBody>
                  <a:tcPr marL="79248" marR="79248" marT="39624" marB="39624"/>
                </a:tc>
                <a:tc>
                  <a:txBody>
                    <a:bodyPr/>
                    <a:lstStyle/>
                    <a:p>
                      <a:pPr algn="ctr"/>
                      <a:r>
                        <a:rPr lang="en-US" sz="1400" dirty="0"/>
                        <a:t>0.56</a:t>
                      </a:r>
                      <a:endParaRPr lang="en-US" sz="1400" b="1" dirty="0"/>
                    </a:p>
                  </a:txBody>
                  <a:tcPr marL="79248" marR="79248" marT="39624" marB="39624"/>
                </a:tc>
                <a:extLst>
                  <a:ext uri="{0D108BD9-81ED-4DB2-BD59-A6C34878D82A}">
                    <a16:rowId xmlns:a16="http://schemas.microsoft.com/office/drawing/2014/main" val="10002"/>
                  </a:ext>
                </a:extLst>
              </a:tr>
              <a:tr h="258677">
                <a:tc>
                  <a:txBody>
                    <a:bodyPr/>
                    <a:lstStyle/>
                    <a:p>
                      <a:pPr algn="ctr"/>
                      <a:r>
                        <a:rPr lang="en-US" sz="1400" dirty="0"/>
                        <a:t>1000</a:t>
                      </a:r>
                      <a:endParaRPr lang="en-US" sz="1400" b="1" dirty="0"/>
                    </a:p>
                  </a:txBody>
                  <a:tcPr marL="79248" marR="79248" marT="39624" marB="39624"/>
                </a:tc>
                <a:tc>
                  <a:txBody>
                    <a:bodyPr/>
                    <a:lstStyle/>
                    <a:p>
                      <a:pPr algn="ctr"/>
                      <a:r>
                        <a:rPr lang="en-US" sz="1400" dirty="0"/>
                        <a:t>497</a:t>
                      </a:r>
                      <a:endParaRPr lang="en-US" sz="1400" b="1" dirty="0"/>
                    </a:p>
                  </a:txBody>
                  <a:tcPr marL="79248" marR="79248" marT="39624" marB="39624"/>
                </a:tc>
                <a:tc>
                  <a:txBody>
                    <a:bodyPr/>
                    <a:lstStyle/>
                    <a:p>
                      <a:pPr algn="ctr"/>
                      <a:r>
                        <a:rPr lang="en-US" sz="1400" dirty="0"/>
                        <a:t>0.497</a:t>
                      </a:r>
                      <a:endParaRPr lang="en-US" sz="1400" b="1" dirty="0"/>
                    </a:p>
                  </a:txBody>
                  <a:tcPr marL="79248" marR="79248" marT="39624" marB="39624"/>
                </a:tc>
                <a:extLst>
                  <a:ext uri="{0D108BD9-81ED-4DB2-BD59-A6C34878D82A}">
                    <a16:rowId xmlns:a16="http://schemas.microsoft.com/office/drawing/2014/main" val="10003"/>
                  </a:ext>
                </a:extLst>
              </a:tr>
              <a:tr h="207369">
                <a:tc>
                  <a:txBody>
                    <a:bodyPr/>
                    <a:lstStyle/>
                    <a:p>
                      <a:pPr algn="ctr"/>
                      <a:r>
                        <a:rPr lang="en-US" sz="1400" dirty="0"/>
                        <a:t>10000</a:t>
                      </a:r>
                      <a:endParaRPr lang="en-US" sz="1400" b="1" dirty="0"/>
                    </a:p>
                  </a:txBody>
                  <a:tcPr marL="79248" marR="79248" marT="39624" marB="39624"/>
                </a:tc>
                <a:tc>
                  <a:txBody>
                    <a:bodyPr/>
                    <a:lstStyle/>
                    <a:p>
                      <a:pPr algn="ctr"/>
                      <a:r>
                        <a:rPr lang="en-US" sz="1400" dirty="0"/>
                        <a:t>5001</a:t>
                      </a:r>
                      <a:endParaRPr lang="en-US" sz="1400" b="1" dirty="0"/>
                    </a:p>
                  </a:txBody>
                  <a:tcPr marL="79248" marR="79248" marT="39624" marB="39624"/>
                </a:tc>
                <a:tc>
                  <a:txBody>
                    <a:bodyPr/>
                    <a:lstStyle/>
                    <a:p>
                      <a:pPr algn="ctr"/>
                      <a:r>
                        <a:rPr lang="en-US" sz="1400" dirty="0"/>
                        <a:t>0.5001</a:t>
                      </a:r>
                      <a:endParaRPr lang="en-US" sz="1400" b="1" dirty="0"/>
                    </a:p>
                  </a:txBody>
                  <a:tcPr marL="79248" marR="79248" marT="39624" marB="39624"/>
                </a:tc>
                <a:extLst>
                  <a:ext uri="{0D108BD9-81ED-4DB2-BD59-A6C34878D82A}">
                    <a16:rowId xmlns:a16="http://schemas.microsoft.com/office/drawing/2014/main" val="10004"/>
                  </a:ext>
                </a:extLst>
              </a:tr>
            </a:tbl>
          </a:graphicData>
        </a:graphic>
      </p:graphicFrame>
      <p:sp>
        <p:nvSpPr>
          <p:cNvPr id="15" name="TextBox 14"/>
          <p:cNvSpPr txBox="1"/>
          <p:nvPr/>
        </p:nvSpPr>
        <p:spPr>
          <a:xfrm>
            <a:off x="723413" y="1721117"/>
            <a:ext cx="7680878" cy="923330"/>
          </a:xfrm>
          <a:prstGeom prst="rect">
            <a:avLst/>
          </a:prstGeom>
          <a:noFill/>
        </p:spPr>
        <p:txBody>
          <a:bodyPr wrap="square" rtlCol="0">
            <a:spAutoFit/>
          </a:bodyPr>
          <a:lstStyle/>
          <a:p>
            <a:pPr marL="297191" indent="-297191">
              <a:buFont typeface="Arial" panose="020B0604020202020204" pitchFamily="34" charset="0"/>
              <a:buChar char="•"/>
            </a:pPr>
            <a:r>
              <a:rPr lang="en-US" dirty="0"/>
              <a:t>Deterministic system : In which the later states of the system are determined by the earlier ones.</a:t>
            </a:r>
          </a:p>
          <a:p>
            <a:pPr marL="297191" indent="-297191">
              <a:buFont typeface="Arial" panose="020B0604020202020204" pitchFamily="34" charset="0"/>
              <a:buChar char="•"/>
            </a:pPr>
            <a:r>
              <a:rPr lang="en-US" dirty="0"/>
              <a:t>This method enables artificial construction of a probabilistic model. </a:t>
            </a:r>
          </a:p>
        </p:txBody>
      </p:sp>
      <p:pic>
        <p:nvPicPr>
          <p:cNvPr id="9" name="Picture 8"/>
          <p:cNvPicPr>
            <a:picLocks noChangeAspect="1"/>
          </p:cNvPicPr>
          <p:nvPr/>
        </p:nvPicPr>
        <p:blipFill>
          <a:blip r:embed="rId4"/>
          <a:stretch>
            <a:fillRect/>
          </a:stretch>
        </p:blipFill>
        <p:spPr>
          <a:xfrm>
            <a:off x="1091481" y="4256171"/>
            <a:ext cx="2556816" cy="1709867"/>
          </a:xfrm>
          <a:prstGeom prst="rect">
            <a:avLst/>
          </a:prstGeom>
        </p:spPr>
      </p:pic>
      <mc:AlternateContent xmlns:mc="http://schemas.openxmlformats.org/markup-compatibility/2006">
        <mc:Choice xmlns:a14="http://schemas.microsoft.com/office/drawing/2010/main" Requires="a14">
          <p:sp>
            <p:nvSpPr>
              <p:cNvPr id="10" name="TextBox 9"/>
              <p:cNvSpPr txBox="1"/>
              <p:nvPr/>
            </p:nvSpPr>
            <p:spPr>
              <a:xfrm>
                <a:off x="549742" y="3282671"/>
                <a:ext cx="1508555" cy="606063"/>
              </a:xfrm>
              <a:prstGeom prst="rect">
                <a:avLst/>
              </a:prstGeom>
              <a:noFill/>
              <a:ln>
                <a:solidFill>
                  <a:schemeClr val="accent1"/>
                </a:solidFill>
              </a:ln>
            </p:spPr>
            <p:txBody>
              <a:bodyPr wrap="none" lIns="0" tIns="0" rIns="0" bIns="0" rtlCol="0">
                <a:spAutoFit/>
              </a:bodyPr>
              <a:lstStyle/>
              <a:p>
                <a:pPr/>
                <a14:m>
                  <m:oMathPara xmlns:m="http://schemas.openxmlformats.org/officeDocument/2006/math">
                    <m:oMathParaPr>
                      <m:jc m:val="centerGroup"/>
                    </m:oMathParaPr>
                    <m:oMath xmlns:m="http://schemas.openxmlformats.org/officeDocument/2006/math">
                      <m:nary>
                        <m:naryPr>
                          <m:ctrlPr>
                            <a:rPr lang="en-US" sz="1733" b="1" i="1">
                              <a:latin typeface="Cambria Math" panose="02040503050406030204" pitchFamily="18" charset="0"/>
                            </a:rPr>
                          </m:ctrlPr>
                        </m:naryPr>
                        <m:sub>
                          <m:r>
                            <m:rPr>
                              <m:brk m:alnAt="23"/>
                            </m:rPr>
                            <a:rPr lang="en-US" sz="1733" b="1">
                              <a:latin typeface="Cambria Math" panose="02040503050406030204" pitchFamily="18" charset="0"/>
                            </a:rPr>
                            <m:t>𝟎</m:t>
                          </m:r>
                        </m:sub>
                        <m:sup>
                          <m:r>
                            <a:rPr lang="en-US" sz="1733" b="1">
                              <a:latin typeface="Cambria Math" panose="02040503050406030204" pitchFamily="18" charset="0"/>
                            </a:rPr>
                            <m:t>𝟏</m:t>
                          </m:r>
                        </m:sup>
                        <m:e>
                          <m:r>
                            <a:rPr lang="en-US" sz="1733" b="1">
                              <a:latin typeface="Cambria Math" panose="02040503050406030204" pitchFamily="18" charset="0"/>
                            </a:rPr>
                            <m:t>𝐱</m:t>
                          </m:r>
                          <m:r>
                            <a:rPr lang="en-US" sz="1733" b="1">
                              <a:latin typeface="Cambria Math" panose="02040503050406030204" pitchFamily="18" charset="0"/>
                            </a:rPr>
                            <m:t> </m:t>
                          </m:r>
                          <m:r>
                            <a:rPr lang="en-US" sz="1733" b="1">
                              <a:latin typeface="Cambria Math" panose="02040503050406030204" pitchFamily="18" charset="0"/>
                            </a:rPr>
                            <m:t>𝐝𝐱</m:t>
                          </m:r>
                          <m:r>
                            <a:rPr lang="en-US" sz="1733" b="1">
                              <a:latin typeface="Cambria Math" panose="02040503050406030204" pitchFamily="18" charset="0"/>
                            </a:rPr>
                            <m:t> = </m:t>
                          </m:r>
                          <m:r>
                            <a:rPr lang="en-US" sz="1733" b="1">
                              <a:latin typeface="Cambria Math" panose="02040503050406030204" pitchFamily="18" charset="0"/>
                            </a:rPr>
                            <m:t>𝟎</m:t>
                          </m:r>
                          <m:r>
                            <a:rPr lang="en-US" sz="1733" b="1">
                              <a:latin typeface="Cambria Math" panose="02040503050406030204" pitchFamily="18" charset="0"/>
                            </a:rPr>
                            <m:t>.</m:t>
                          </m:r>
                          <m:r>
                            <a:rPr lang="en-US" sz="1733" b="1">
                              <a:latin typeface="Cambria Math" panose="02040503050406030204" pitchFamily="18" charset="0"/>
                            </a:rPr>
                            <m:t>𝟓</m:t>
                          </m:r>
                        </m:e>
                      </m:nary>
                    </m:oMath>
                  </m:oMathPara>
                </a14:m>
                <a:endParaRPr lang="en-US" sz="1560" b="1" dirty="0">
                  <a:latin typeface="Arial Black" panose="020B0A04020102020204" pitchFamily="34" charset="0"/>
                </a:endParaRPr>
              </a:p>
            </p:txBody>
          </p:sp>
        </mc:Choice>
        <mc:Fallback>
          <p:sp>
            <p:nvSpPr>
              <p:cNvPr id="10" name="TextBox 9"/>
              <p:cNvSpPr txBox="1">
                <a:spLocks noRot="1" noChangeAspect="1" noMove="1" noResize="1" noEditPoints="1" noAdjustHandles="1" noChangeArrowheads="1" noChangeShapeType="1" noTextEdit="1"/>
              </p:cNvSpPr>
              <p:nvPr/>
            </p:nvSpPr>
            <p:spPr>
              <a:xfrm>
                <a:off x="549742" y="3282671"/>
                <a:ext cx="1508555" cy="606063"/>
              </a:xfrm>
              <a:prstGeom prst="rect">
                <a:avLst/>
              </a:prstGeom>
              <a:blipFill>
                <a:blip r:embed="rId5"/>
                <a:stretch>
                  <a:fillRect/>
                </a:stretch>
              </a:blipFill>
              <a:ln>
                <a:solidFill>
                  <a:schemeClr val="accent1"/>
                </a:solidFill>
              </a:ln>
            </p:spPr>
            <p:txBody>
              <a:bodyPr/>
              <a:lstStyle/>
              <a:p>
                <a:r>
                  <a:rPr lang="en-IN">
                    <a:noFill/>
                  </a:rPr>
                  <a:t> </a:t>
                </a:r>
              </a:p>
            </p:txBody>
          </p:sp>
        </mc:Fallback>
      </mc:AlternateContent>
      <p:sp>
        <p:nvSpPr>
          <p:cNvPr id="3" name="TextBox 2"/>
          <p:cNvSpPr txBox="1"/>
          <p:nvPr/>
        </p:nvSpPr>
        <p:spPr>
          <a:xfrm>
            <a:off x="938256" y="2948876"/>
            <a:ext cx="731524" cy="332399"/>
          </a:xfrm>
          <a:prstGeom prst="rect">
            <a:avLst/>
          </a:prstGeom>
          <a:noFill/>
          <a:ln>
            <a:solidFill>
              <a:schemeClr val="accent1"/>
            </a:solidFill>
          </a:ln>
        </p:spPr>
        <p:txBody>
          <a:bodyPr wrap="square" rtlCol="0">
            <a:spAutoFit/>
          </a:bodyPr>
          <a:lstStyle/>
          <a:p>
            <a:r>
              <a:rPr lang="en-US" sz="1560" dirty="0"/>
              <a:t>f(x) = x</a:t>
            </a:r>
          </a:p>
        </p:txBody>
      </p:sp>
      <p:sp>
        <p:nvSpPr>
          <p:cNvPr id="14" name="Title 1"/>
          <p:cNvSpPr>
            <a:spLocks noGrp="1"/>
          </p:cNvSpPr>
          <p:nvPr>
            <p:ph type="title"/>
          </p:nvPr>
        </p:nvSpPr>
        <p:spPr>
          <a:xfrm>
            <a:off x="0" y="457202"/>
            <a:ext cx="9144000" cy="647698"/>
          </a:xfrm>
          <a:solidFill>
            <a:schemeClr val="accent1">
              <a:lumMod val="40000"/>
              <a:lumOff val="60000"/>
            </a:schemeClr>
          </a:solidFill>
        </p:spPr>
        <p:txBody>
          <a:bodyPr>
            <a:normAutofit/>
          </a:bodyPr>
          <a:lstStyle/>
          <a:p>
            <a:r>
              <a:rPr lang="en-US" sz="3200" b="1" dirty="0"/>
              <a:t>       Monte Carlo</a:t>
            </a:r>
            <a:endParaRPr lang="en-US" sz="2000" b="1" dirty="0">
              <a:solidFill>
                <a:schemeClr val="bg1">
                  <a:lumMod val="65000"/>
                </a:schemeClr>
              </a:solidFill>
            </a:endParaRPr>
          </a:p>
        </p:txBody>
      </p:sp>
    </p:spTree>
    <p:extLst>
      <p:ext uri="{BB962C8B-B14F-4D97-AF65-F5344CB8AC3E}">
        <p14:creationId xmlns:p14="http://schemas.microsoft.com/office/powerpoint/2010/main" val="240702940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Chevron 3"/>
          <p:cNvSpPr/>
          <p:nvPr/>
        </p:nvSpPr>
        <p:spPr>
          <a:xfrm>
            <a:off x="2212623" y="655442"/>
            <a:ext cx="4617155" cy="322828"/>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Simulate all particles</a:t>
            </a:r>
          </a:p>
        </p:txBody>
      </p:sp>
      <p:sp>
        <p:nvSpPr>
          <p:cNvPr id="5" name="Chevron 4"/>
          <p:cNvSpPr/>
          <p:nvPr/>
        </p:nvSpPr>
        <p:spPr>
          <a:xfrm>
            <a:off x="6791326" y="655442"/>
            <a:ext cx="2343149" cy="321064"/>
          </a:xfrm>
          <a:prstGeom prst="chevron">
            <a:avLst/>
          </a:prstGeom>
          <a:solidFill>
            <a:schemeClr val="accent1">
              <a:lumMod val="75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output</a:t>
            </a:r>
          </a:p>
        </p:txBody>
      </p:sp>
      <p:sp>
        <p:nvSpPr>
          <p:cNvPr id="6" name="Title 1"/>
          <p:cNvSpPr txBox="1">
            <a:spLocks/>
          </p:cNvSpPr>
          <p:nvPr/>
        </p:nvSpPr>
        <p:spPr>
          <a:xfrm>
            <a:off x="0" y="457201"/>
            <a:ext cx="9144000" cy="186953"/>
          </a:xfrm>
          <a:prstGeom prst="rect">
            <a:avLst/>
          </a:prstGeom>
          <a:solidFill>
            <a:schemeClr val="accent1">
              <a:lumMod val="40000"/>
              <a:lumOff val="60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8" name="TextBox 7"/>
          <p:cNvSpPr txBox="1"/>
          <p:nvPr/>
        </p:nvSpPr>
        <p:spPr>
          <a:xfrm>
            <a:off x="703439" y="1621226"/>
            <a:ext cx="3492500" cy="2031325"/>
          </a:xfrm>
          <a:prstGeom prst="rect">
            <a:avLst/>
          </a:prstGeom>
          <a:noFill/>
        </p:spPr>
        <p:txBody>
          <a:bodyPr wrap="square" rtlCol="0">
            <a:spAutoFit/>
          </a:bodyPr>
          <a:lstStyle/>
          <a:p>
            <a:r>
              <a:rPr lang="en-US" dirty="0"/>
              <a:t>Keff estimators</a:t>
            </a:r>
          </a:p>
          <a:p>
            <a:endParaRPr lang="en-US" dirty="0"/>
          </a:p>
          <a:p>
            <a:r>
              <a:rPr lang="en-US" dirty="0"/>
              <a:t>K(collision)            ----- tracking</a:t>
            </a:r>
          </a:p>
          <a:p>
            <a:endParaRPr lang="en-US" dirty="0"/>
          </a:p>
          <a:p>
            <a:r>
              <a:rPr lang="en-US" dirty="0"/>
              <a:t>K(track length)     ------ tracking</a:t>
            </a:r>
          </a:p>
          <a:p>
            <a:endParaRPr lang="en-US" dirty="0"/>
          </a:p>
          <a:p>
            <a:r>
              <a:rPr lang="en-US" dirty="0"/>
              <a:t>K(absorption)      ------- physics</a:t>
            </a:r>
          </a:p>
        </p:txBody>
      </p:sp>
      <p:pic>
        <p:nvPicPr>
          <p:cNvPr id="3" name="Picture 2"/>
          <p:cNvPicPr>
            <a:picLocks noChangeAspect="1"/>
          </p:cNvPicPr>
          <p:nvPr/>
        </p:nvPicPr>
        <p:blipFill>
          <a:blip r:embed="rId2"/>
          <a:stretch>
            <a:fillRect/>
          </a:stretch>
        </p:blipFill>
        <p:spPr>
          <a:xfrm>
            <a:off x="703439" y="2009458"/>
            <a:ext cx="6286500" cy="4114800"/>
          </a:xfrm>
          <a:prstGeom prst="rect">
            <a:avLst/>
          </a:prstGeom>
        </p:spPr>
      </p:pic>
      <p:sp>
        <p:nvSpPr>
          <p:cNvPr id="10" name="Chevron 9"/>
          <p:cNvSpPr/>
          <p:nvPr/>
        </p:nvSpPr>
        <p:spPr>
          <a:xfrm>
            <a:off x="9526" y="655442"/>
            <a:ext cx="2248253" cy="322912"/>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Tree>
    <p:extLst>
      <p:ext uri="{BB962C8B-B14F-4D97-AF65-F5344CB8AC3E}">
        <p14:creationId xmlns:p14="http://schemas.microsoft.com/office/powerpoint/2010/main" val="3547637383"/>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1526146" y="1726127"/>
            <a:ext cx="6091708" cy="4442052"/>
          </a:xfrm>
          <a:prstGeom prst="rect">
            <a:avLst/>
          </a:prstGeom>
        </p:spPr>
      </p:pic>
      <p:sp>
        <p:nvSpPr>
          <p:cNvPr id="21" name="Chevron 20"/>
          <p:cNvSpPr/>
          <p:nvPr/>
        </p:nvSpPr>
        <p:spPr>
          <a:xfrm>
            <a:off x="2212623" y="655442"/>
            <a:ext cx="4617155" cy="322828"/>
          </a:xfrm>
          <a:prstGeom prst="chevron">
            <a:avLst/>
          </a:prstGeom>
          <a:solidFill>
            <a:schemeClr val="accent1">
              <a:lumMod val="75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Simulate all particles</a:t>
            </a:r>
          </a:p>
        </p:txBody>
      </p:sp>
      <p:sp>
        <p:nvSpPr>
          <p:cNvPr id="22" name="Chevron 21"/>
          <p:cNvSpPr/>
          <p:nvPr/>
        </p:nvSpPr>
        <p:spPr>
          <a:xfrm>
            <a:off x="6791326" y="655442"/>
            <a:ext cx="2343149" cy="321064"/>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3"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24" name="Chevron 23"/>
          <p:cNvSpPr/>
          <p:nvPr/>
        </p:nvSpPr>
        <p:spPr>
          <a:xfrm>
            <a:off x="9526" y="655442"/>
            <a:ext cx="2248253" cy="322912"/>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9" name="TextBox 8"/>
          <p:cNvSpPr txBox="1"/>
          <p:nvPr/>
        </p:nvSpPr>
        <p:spPr>
          <a:xfrm>
            <a:off x="132879" y="1106116"/>
            <a:ext cx="3433586" cy="400110"/>
          </a:xfrm>
          <a:prstGeom prst="rect">
            <a:avLst/>
          </a:prstGeom>
          <a:solidFill>
            <a:schemeClr val="accent2">
              <a:lumMod val="20000"/>
              <a:lumOff val="80000"/>
            </a:schemeClr>
          </a:solidFill>
        </p:spPr>
        <p:txBody>
          <a:bodyPr wrap="square" rtlCol="0">
            <a:spAutoFit/>
          </a:bodyPr>
          <a:lstStyle/>
          <a:p>
            <a:r>
              <a:rPr lang="en-US" sz="2000" dirty="0">
                <a:effectLst>
                  <a:outerShdw blurRad="38100" dist="38100" dir="2700000" algn="tl">
                    <a:srgbClr val="000000">
                      <a:alpha val="43137"/>
                    </a:srgbClr>
                  </a:outerShdw>
                </a:effectLst>
              </a:rPr>
              <a:t>1. Random number generation</a:t>
            </a:r>
          </a:p>
        </p:txBody>
      </p:sp>
    </p:spTree>
    <p:extLst>
      <p:ext uri="{BB962C8B-B14F-4D97-AF65-F5344CB8AC3E}">
        <p14:creationId xmlns:p14="http://schemas.microsoft.com/office/powerpoint/2010/main" val="1350328680"/>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2"/>
          <a:stretch>
            <a:fillRect/>
          </a:stretch>
        </p:blipFill>
        <p:spPr>
          <a:xfrm>
            <a:off x="2112303" y="2088717"/>
            <a:ext cx="4481800" cy="3857681"/>
          </a:xfrm>
          <a:prstGeom prst="rect">
            <a:avLst/>
          </a:prstGeom>
        </p:spPr>
      </p:pic>
      <p:sp>
        <p:nvSpPr>
          <p:cNvPr id="5" name="Rectangle 4"/>
          <p:cNvSpPr/>
          <p:nvPr/>
        </p:nvSpPr>
        <p:spPr>
          <a:xfrm>
            <a:off x="859346" y="2295398"/>
            <a:ext cx="2212624" cy="3528215"/>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spcBef>
                <a:spcPts val="600"/>
              </a:spcBef>
            </a:pPr>
            <a:r>
              <a:rPr lang="en-US" sz="1400" b="1" dirty="0">
                <a:solidFill>
                  <a:schemeClr val="tx1">
                    <a:lumMod val="75000"/>
                    <a:lumOff val="25000"/>
                  </a:schemeClr>
                </a:solidFill>
              </a:rPr>
              <a:t>1. r4_random ( s1, s2, s3 ).</a:t>
            </a:r>
          </a:p>
          <a:p>
            <a:pPr>
              <a:spcBef>
                <a:spcPts val="600"/>
              </a:spcBef>
            </a:pPr>
            <a:r>
              <a:rPr lang="en-US" sz="1400" b="1" dirty="0">
                <a:solidFill>
                  <a:schemeClr val="tx1">
                    <a:lumMod val="75000"/>
                    <a:lumOff val="25000"/>
                  </a:schemeClr>
                </a:solidFill>
              </a:rPr>
              <a:t>2. r4_uni ( s1, s2 ).</a:t>
            </a:r>
          </a:p>
          <a:p>
            <a:pPr>
              <a:spcBef>
                <a:spcPts val="600"/>
              </a:spcBef>
            </a:pPr>
            <a:r>
              <a:rPr lang="en-US" sz="1400" b="1" dirty="0">
                <a:solidFill>
                  <a:schemeClr val="tx1">
                    <a:lumMod val="75000"/>
                    <a:lumOff val="25000"/>
                  </a:schemeClr>
                </a:solidFill>
              </a:rPr>
              <a:t>3. r8_random ( s1, s2, s3 ).</a:t>
            </a:r>
          </a:p>
          <a:p>
            <a:pPr>
              <a:spcBef>
                <a:spcPts val="600"/>
              </a:spcBef>
            </a:pPr>
            <a:r>
              <a:rPr lang="en-US" sz="1400" b="1" dirty="0">
                <a:solidFill>
                  <a:schemeClr val="tx1">
                    <a:lumMod val="75000"/>
                    <a:lumOff val="25000"/>
                  </a:schemeClr>
                </a:solidFill>
              </a:rPr>
              <a:t>4. r8_uni ( s1, s2 ).</a:t>
            </a:r>
          </a:p>
          <a:p>
            <a:pPr>
              <a:spcBef>
                <a:spcPts val="600"/>
              </a:spcBef>
            </a:pPr>
            <a:r>
              <a:rPr lang="en-US" sz="1400" b="1" dirty="0">
                <a:solidFill>
                  <a:schemeClr val="tx1">
                    <a:lumMod val="75000"/>
                    <a:lumOff val="25000"/>
                  </a:schemeClr>
                </a:solidFill>
              </a:rPr>
              <a:t>5. r4_uniform_01 ( seed2 ).</a:t>
            </a:r>
          </a:p>
          <a:p>
            <a:pPr>
              <a:spcBef>
                <a:spcPts val="600"/>
              </a:spcBef>
            </a:pPr>
            <a:r>
              <a:rPr lang="en-US" sz="1400" b="1" dirty="0">
                <a:solidFill>
                  <a:schemeClr val="tx1">
                    <a:lumMod val="75000"/>
                    <a:lumOff val="25000"/>
                  </a:schemeClr>
                </a:solidFill>
              </a:rPr>
              <a:t>6. r8_uniform_01 ( seed3 ). </a:t>
            </a:r>
          </a:p>
          <a:p>
            <a:pPr>
              <a:spcBef>
                <a:spcPts val="600"/>
              </a:spcBef>
            </a:pPr>
            <a:r>
              <a:rPr lang="en-US" sz="1400" b="1" dirty="0">
                <a:solidFill>
                  <a:schemeClr val="tx1">
                    <a:lumMod val="75000"/>
                    <a:lumOff val="25000"/>
                  </a:schemeClr>
                </a:solidFill>
              </a:rPr>
              <a:t>7. r8_uniform_02 ( seed1 ).</a:t>
            </a:r>
          </a:p>
          <a:p>
            <a:pPr>
              <a:spcBef>
                <a:spcPts val="600"/>
              </a:spcBef>
            </a:pPr>
            <a:r>
              <a:rPr lang="en-US" sz="1400" b="1" dirty="0">
                <a:solidFill>
                  <a:schemeClr val="tx1">
                    <a:lumMod val="75000"/>
                    <a:lumOff val="25000"/>
                  </a:schemeClr>
                </a:solidFill>
              </a:rPr>
              <a:t>8. ranC( idumC ).</a:t>
            </a:r>
          </a:p>
          <a:p>
            <a:pPr>
              <a:spcBef>
                <a:spcPts val="600"/>
              </a:spcBef>
            </a:pPr>
            <a:r>
              <a:rPr lang="en-US" sz="1400" b="1" dirty="0">
                <a:solidFill>
                  <a:schemeClr val="tx1">
                    <a:lumMod val="75000"/>
                    <a:lumOff val="25000"/>
                  </a:schemeClr>
                </a:solidFill>
              </a:rPr>
              <a:t>9. ranE( idumE ) </a:t>
            </a:r>
          </a:p>
          <a:p>
            <a:pPr>
              <a:spcBef>
                <a:spcPts val="600"/>
              </a:spcBef>
            </a:pPr>
            <a:r>
              <a:rPr lang="en-US" sz="1400" b="1" dirty="0">
                <a:solidFill>
                  <a:schemeClr val="tx1">
                    <a:lumMod val="75000"/>
                    <a:lumOff val="25000"/>
                  </a:schemeClr>
                </a:solidFill>
              </a:rPr>
              <a:t>10. prn()</a:t>
            </a:r>
          </a:p>
        </p:txBody>
      </p:sp>
      <p:sp>
        <p:nvSpPr>
          <p:cNvPr id="6" name="TextBox 5"/>
          <p:cNvSpPr txBox="1"/>
          <p:nvPr/>
        </p:nvSpPr>
        <p:spPr>
          <a:xfrm>
            <a:off x="6366571" y="2915124"/>
            <a:ext cx="2290958" cy="1477328"/>
          </a:xfrm>
          <a:prstGeom prst="rect">
            <a:avLst/>
          </a:prstGeom>
          <a:noFill/>
        </p:spPr>
        <p:txBody>
          <a:bodyPr wrap="square" rtlCol="0">
            <a:spAutoFit/>
          </a:bodyPr>
          <a:lstStyle/>
          <a:p>
            <a:r>
              <a:rPr lang="en-US" b="1" dirty="0">
                <a:solidFill>
                  <a:schemeClr val="accent2">
                    <a:lumMod val="75000"/>
                  </a:schemeClr>
                </a:solidFill>
              </a:rPr>
              <a:t>MODULE random_lcg</a:t>
            </a:r>
          </a:p>
          <a:p>
            <a:endParaRPr lang="en-US" b="1" dirty="0">
              <a:solidFill>
                <a:schemeClr val="accent2">
                  <a:lumMod val="75000"/>
                </a:schemeClr>
              </a:solidFill>
            </a:endParaRPr>
          </a:p>
          <a:p>
            <a:r>
              <a:rPr lang="en-US" dirty="0">
                <a:solidFill>
                  <a:schemeClr val="accent2">
                    <a:lumMod val="75000"/>
                  </a:schemeClr>
                </a:solidFill>
              </a:rPr>
              <a:t>Gives huge quantity of random numbers with all required properties</a:t>
            </a:r>
          </a:p>
        </p:txBody>
      </p:sp>
      <p:sp>
        <p:nvSpPr>
          <p:cNvPr id="12" name="Chevron 11"/>
          <p:cNvSpPr/>
          <p:nvPr/>
        </p:nvSpPr>
        <p:spPr>
          <a:xfrm>
            <a:off x="2212623" y="655442"/>
            <a:ext cx="4617155" cy="322828"/>
          </a:xfrm>
          <a:prstGeom prst="chevron">
            <a:avLst/>
          </a:prstGeom>
          <a:solidFill>
            <a:schemeClr val="accent1">
              <a:lumMod val="75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Simulate all particles</a:t>
            </a:r>
          </a:p>
        </p:txBody>
      </p:sp>
      <p:sp>
        <p:nvSpPr>
          <p:cNvPr id="13" name="Chevron 12"/>
          <p:cNvSpPr/>
          <p:nvPr/>
        </p:nvSpPr>
        <p:spPr>
          <a:xfrm>
            <a:off x="6791326" y="655442"/>
            <a:ext cx="2343149" cy="321064"/>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14"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1" name="Chevron 10"/>
          <p:cNvSpPr/>
          <p:nvPr/>
        </p:nvSpPr>
        <p:spPr>
          <a:xfrm>
            <a:off x="9526" y="655442"/>
            <a:ext cx="2248253" cy="322912"/>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15" name="TextBox 14"/>
          <p:cNvSpPr txBox="1"/>
          <p:nvPr/>
        </p:nvSpPr>
        <p:spPr>
          <a:xfrm>
            <a:off x="121004" y="1104880"/>
            <a:ext cx="3433586" cy="400110"/>
          </a:xfrm>
          <a:prstGeom prst="rect">
            <a:avLst/>
          </a:prstGeom>
          <a:solidFill>
            <a:schemeClr val="accent2">
              <a:lumMod val="20000"/>
              <a:lumOff val="80000"/>
            </a:schemeClr>
          </a:solidFill>
        </p:spPr>
        <p:txBody>
          <a:bodyPr wrap="square" rtlCol="0">
            <a:spAutoFit/>
          </a:bodyPr>
          <a:lstStyle/>
          <a:p>
            <a:r>
              <a:rPr lang="en-US" sz="2000" dirty="0">
                <a:effectLst>
                  <a:outerShdw blurRad="38100" dist="38100" dir="2700000" algn="tl">
                    <a:srgbClr val="000000">
                      <a:alpha val="43137"/>
                    </a:srgbClr>
                  </a:outerShdw>
                </a:effectLst>
              </a:rPr>
              <a:t>1. Random number generation</a:t>
            </a:r>
          </a:p>
        </p:txBody>
      </p:sp>
    </p:spTree>
    <p:extLst>
      <p:ext uri="{BB962C8B-B14F-4D97-AF65-F5344CB8AC3E}">
        <p14:creationId xmlns:p14="http://schemas.microsoft.com/office/powerpoint/2010/main" val="12097203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p:cNvSpPr txBox="1"/>
          <p:nvPr/>
        </p:nvSpPr>
        <p:spPr>
          <a:xfrm>
            <a:off x="4019251" y="4315908"/>
            <a:ext cx="1521699" cy="369332"/>
          </a:xfrm>
          <a:prstGeom prst="rect">
            <a:avLst/>
          </a:prstGeom>
          <a:noFill/>
        </p:spPr>
        <p:txBody>
          <a:bodyPr wrap="square" rtlCol="0">
            <a:spAutoFit/>
          </a:bodyPr>
          <a:lstStyle/>
          <a:p>
            <a:r>
              <a:rPr lang="en-US" dirty="0"/>
              <a:t>Positive sense</a:t>
            </a:r>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470498" y="1991121"/>
            <a:ext cx="2502605" cy="2340799"/>
          </a:xfrm>
          <a:prstGeom prst="rect">
            <a:avLst/>
          </a:prstGeom>
        </p:spPr>
      </p:pic>
      <p:sp>
        <p:nvSpPr>
          <p:cNvPr id="6" name="TextBox 5"/>
          <p:cNvSpPr txBox="1"/>
          <p:nvPr/>
        </p:nvSpPr>
        <p:spPr>
          <a:xfrm>
            <a:off x="3902649" y="2473318"/>
            <a:ext cx="1638300" cy="369332"/>
          </a:xfrm>
          <a:prstGeom prst="rect">
            <a:avLst/>
          </a:prstGeom>
          <a:noFill/>
        </p:spPr>
        <p:txBody>
          <a:bodyPr wrap="square" rtlCol="0">
            <a:spAutoFit/>
          </a:bodyPr>
          <a:lstStyle/>
          <a:p>
            <a:r>
              <a:rPr lang="en-US" dirty="0"/>
              <a:t>Negative sense</a:t>
            </a:r>
          </a:p>
        </p:txBody>
      </p:sp>
      <p:sp>
        <p:nvSpPr>
          <p:cNvPr id="7" name="TextBox 6"/>
          <p:cNvSpPr txBox="1"/>
          <p:nvPr/>
        </p:nvSpPr>
        <p:spPr>
          <a:xfrm>
            <a:off x="1601380" y="5251886"/>
            <a:ext cx="5941241" cy="369332"/>
          </a:xfrm>
          <a:prstGeom prst="rect">
            <a:avLst/>
          </a:prstGeom>
          <a:solidFill>
            <a:schemeClr val="accent1">
              <a:lumMod val="40000"/>
              <a:lumOff val="60000"/>
            </a:schemeClr>
          </a:solidFill>
        </p:spPr>
        <p:txBody>
          <a:bodyPr wrap="square" rtlCol="0">
            <a:spAutoFit/>
          </a:bodyPr>
          <a:lstStyle/>
          <a:p>
            <a:r>
              <a:rPr lang="en-US" dirty="0">
                <a:solidFill>
                  <a:sysClr val="windowText" lastClr="000000"/>
                </a:solidFill>
              </a:rPr>
              <a:t>1     so      8.741                             $ radius of the godiva sphere</a:t>
            </a:r>
          </a:p>
        </p:txBody>
      </p:sp>
      <p:cxnSp>
        <p:nvCxnSpPr>
          <p:cNvPr id="9" name="Straight Arrow Connector 8"/>
          <p:cNvCxnSpPr/>
          <p:nvPr/>
        </p:nvCxnSpPr>
        <p:spPr>
          <a:xfrm flipV="1">
            <a:off x="655288" y="2296284"/>
            <a:ext cx="0" cy="19812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1" name="Straight Arrow Connector 10"/>
          <p:cNvCxnSpPr/>
          <p:nvPr/>
        </p:nvCxnSpPr>
        <p:spPr>
          <a:xfrm>
            <a:off x="528112" y="4113973"/>
            <a:ext cx="2406650" cy="1270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cxnSp>
        <p:nvCxnSpPr>
          <p:cNvPr id="13" name="Straight Connector 12"/>
          <p:cNvCxnSpPr/>
          <p:nvPr/>
        </p:nvCxnSpPr>
        <p:spPr>
          <a:xfrm>
            <a:off x="1871314" y="2388882"/>
            <a:ext cx="2745" cy="1781537"/>
          </a:xfrm>
          <a:prstGeom prst="line">
            <a:avLst/>
          </a:prstGeom>
          <a:ln w="38100"/>
        </p:spPr>
        <p:style>
          <a:lnRef idx="1">
            <a:schemeClr val="accent1"/>
          </a:lnRef>
          <a:fillRef idx="0">
            <a:schemeClr val="accent1"/>
          </a:fillRef>
          <a:effectRef idx="0">
            <a:schemeClr val="accent1"/>
          </a:effectRef>
          <a:fontRef idx="minor">
            <a:schemeClr val="tx1"/>
          </a:fontRef>
        </p:style>
      </p:cxnSp>
      <p:sp>
        <p:nvSpPr>
          <p:cNvPr id="14" name="TextBox 13"/>
          <p:cNvSpPr txBox="1"/>
          <p:nvPr/>
        </p:nvSpPr>
        <p:spPr>
          <a:xfrm>
            <a:off x="1983412" y="2974472"/>
            <a:ext cx="951350" cy="646331"/>
          </a:xfrm>
          <a:prstGeom prst="rect">
            <a:avLst/>
          </a:prstGeom>
          <a:noFill/>
        </p:spPr>
        <p:txBody>
          <a:bodyPr wrap="square" rtlCol="0">
            <a:spAutoFit/>
          </a:bodyPr>
          <a:lstStyle/>
          <a:p>
            <a:r>
              <a:rPr lang="en-US" dirty="0"/>
              <a:t>Positive </a:t>
            </a:r>
          </a:p>
          <a:p>
            <a:r>
              <a:rPr lang="en-US" dirty="0"/>
              <a:t>sense</a:t>
            </a:r>
          </a:p>
        </p:txBody>
      </p:sp>
      <p:sp>
        <p:nvSpPr>
          <p:cNvPr id="15" name="TextBox 14"/>
          <p:cNvSpPr txBox="1"/>
          <p:nvPr/>
        </p:nvSpPr>
        <p:spPr>
          <a:xfrm>
            <a:off x="867001" y="2969387"/>
            <a:ext cx="1117600" cy="646331"/>
          </a:xfrm>
          <a:prstGeom prst="rect">
            <a:avLst/>
          </a:prstGeom>
          <a:noFill/>
        </p:spPr>
        <p:txBody>
          <a:bodyPr wrap="square" rtlCol="0">
            <a:spAutoFit/>
          </a:bodyPr>
          <a:lstStyle/>
          <a:p>
            <a:r>
              <a:rPr lang="en-US" dirty="0"/>
              <a:t>Negative </a:t>
            </a:r>
          </a:p>
          <a:p>
            <a:r>
              <a:rPr lang="en-US" dirty="0"/>
              <a:t>sense</a:t>
            </a:r>
          </a:p>
        </p:txBody>
      </p:sp>
      <p:sp>
        <p:nvSpPr>
          <p:cNvPr id="16" name="Can 15"/>
          <p:cNvSpPr/>
          <p:nvPr/>
        </p:nvSpPr>
        <p:spPr>
          <a:xfrm rot="10800000">
            <a:off x="6618192" y="1904081"/>
            <a:ext cx="1513659" cy="2751137"/>
          </a:xfrm>
          <a:prstGeom prst="can">
            <a:avLst>
              <a:gd name="adj" fmla="val 20525"/>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7" name="TextBox 16"/>
          <p:cNvSpPr txBox="1"/>
          <p:nvPr/>
        </p:nvSpPr>
        <p:spPr>
          <a:xfrm>
            <a:off x="6902450" y="2850461"/>
            <a:ext cx="1020927" cy="646331"/>
          </a:xfrm>
          <a:prstGeom prst="rect">
            <a:avLst/>
          </a:prstGeom>
          <a:noFill/>
        </p:spPr>
        <p:txBody>
          <a:bodyPr wrap="square" rtlCol="0">
            <a:spAutoFit/>
          </a:bodyPr>
          <a:lstStyle/>
          <a:p>
            <a:r>
              <a:rPr lang="en-US" dirty="0"/>
              <a:t>Negative</a:t>
            </a:r>
          </a:p>
          <a:p>
            <a:r>
              <a:rPr lang="en-US" dirty="0"/>
              <a:t> sense</a:t>
            </a:r>
          </a:p>
        </p:txBody>
      </p:sp>
      <p:sp>
        <p:nvSpPr>
          <p:cNvPr id="18" name="TextBox 17"/>
          <p:cNvSpPr txBox="1"/>
          <p:nvPr/>
        </p:nvSpPr>
        <p:spPr>
          <a:xfrm>
            <a:off x="8141893" y="2746789"/>
            <a:ext cx="1027507" cy="646331"/>
          </a:xfrm>
          <a:prstGeom prst="rect">
            <a:avLst/>
          </a:prstGeom>
          <a:noFill/>
        </p:spPr>
        <p:txBody>
          <a:bodyPr wrap="square" rtlCol="0">
            <a:spAutoFit/>
          </a:bodyPr>
          <a:lstStyle/>
          <a:p>
            <a:r>
              <a:rPr lang="en-US" dirty="0"/>
              <a:t>Positive </a:t>
            </a:r>
          </a:p>
          <a:p>
            <a:r>
              <a:rPr lang="en-US" dirty="0"/>
              <a:t>sense</a:t>
            </a:r>
          </a:p>
        </p:txBody>
      </p:sp>
      <p:sp>
        <p:nvSpPr>
          <p:cNvPr id="19" name="TextBox 18"/>
          <p:cNvSpPr txBox="1"/>
          <p:nvPr/>
        </p:nvSpPr>
        <p:spPr>
          <a:xfrm>
            <a:off x="363188" y="2424809"/>
            <a:ext cx="317500" cy="369332"/>
          </a:xfrm>
          <a:prstGeom prst="rect">
            <a:avLst/>
          </a:prstGeom>
          <a:noFill/>
        </p:spPr>
        <p:txBody>
          <a:bodyPr wrap="square" rtlCol="0">
            <a:spAutoFit/>
          </a:bodyPr>
          <a:lstStyle/>
          <a:p>
            <a:r>
              <a:rPr lang="en-US" dirty="0"/>
              <a:t>y</a:t>
            </a:r>
          </a:p>
        </p:txBody>
      </p:sp>
      <p:sp>
        <p:nvSpPr>
          <p:cNvPr id="20" name="TextBox 19"/>
          <p:cNvSpPr txBox="1"/>
          <p:nvPr/>
        </p:nvSpPr>
        <p:spPr>
          <a:xfrm>
            <a:off x="2459088" y="4078170"/>
            <a:ext cx="348851" cy="369332"/>
          </a:xfrm>
          <a:prstGeom prst="rect">
            <a:avLst/>
          </a:prstGeom>
          <a:noFill/>
        </p:spPr>
        <p:txBody>
          <a:bodyPr wrap="square" rtlCol="0">
            <a:spAutoFit/>
          </a:bodyPr>
          <a:lstStyle/>
          <a:p>
            <a:r>
              <a:rPr lang="en-US" dirty="0"/>
              <a:t>x</a:t>
            </a:r>
          </a:p>
        </p:txBody>
      </p:sp>
      <p:sp>
        <p:nvSpPr>
          <p:cNvPr id="8" name="TextBox 7"/>
          <p:cNvSpPr txBox="1"/>
          <p:nvPr/>
        </p:nvSpPr>
        <p:spPr>
          <a:xfrm>
            <a:off x="491912" y="1741942"/>
            <a:ext cx="1116411" cy="646331"/>
          </a:xfrm>
          <a:prstGeom prst="rect">
            <a:avLst/>
          </a:prstGeom>
          <a:noFill/>
        </p:spPr>
        <p:txBody>
          <a:bodyPr wrap="square" rtlCol="0">
            <a:spAutoFit/>
          </a:bodyPr>
          <a:lstStyle/>
          <a:p>
            <a:r>
              <a:rPr lang="en-US" b="1" i="1" u="sng" dirty="0"/>
              <a:t>Surfaces</a:t>
            </a:r>
          </a:p>
          <a:p>
            <a:endParaRPr lang="en-US" dirty="0"/>
          </a:p>
        </p:txBody>
      </p:sp>
      <p:sp>
        <p:nvSpPr>
          <p:cNvPr id="26" name="Chevron 25"/>
          <p:cNvSpPr/>
          <p:nvPr/>
        </p:nvSpPr>
        <p:spPr>
          <a:xfrm>
            <a:off x="2212623" y="655442"/>
            <a:ext cx="4617155" cy="322828"/>
          </a:xfrm>
          <a:prstGeom prst="chevron">
            <a:avLst/>
          </a:prstGeom>
          <a:solidFill>
            <a:schemeClr val="accent1">
              <a:lumMod val="75000"/>
            </a:schemeClr>
          </a:solidFill>
          <a:ln w="28575">
            <a:solidFill>
              <a:schemeClr val="accent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bg1"/>
                </a:solidFill>
              </a:rPr>
              <a:t>Simulate all particles</a:t>
            </a:r>
          </a:p>
        </p:txBody>
      </p:sp>
      <p:sp>
        <p:nvSpPr>
          <p:cNvPr id="27" name="Chevron 26"/>
          <p:cNvSpPr/>
          <p:nvPr/>
        </p:nvSpPr>
        <p:spPr>
          <a:xfrm>
            <a:off x="6791326" y="655442"/>
            <a:ext cx="2343149" cy="321064"/>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28" name="Title 1"/>
          <p:cNvSpPr txBox="1">
            <a:spLocks/>
          </p:cNvSpPr>
          <p:nvPr/>
        </p:nvSpPr>
        <p:spPr>
          <a:xfrm>
            <a:off x="0" y="457201"/>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0" name="TextBox 9"/>
          <p:cNvSpPr txBox="1"/>
          <p:nvPr/>
        </p:nvSpPr>
        <p:spPr>
          <a:xfrm>
            <a:off x="1874058" y="2083151"/>
            <a:ext cx="951350" cy="369332"/>
          </a:xfrm>
          <a:prstGeom prst="rect">
            <a:avLst/>
          </a:prstGeom>
          <a:noFill/>
        </p:spPr>
        <p:txBody>
          <a:bodyPr wrap="square" rtlCol="0">
            <a:spAutoFit/>
          </a:bodyPr>
          <a:lstStyle/>
          <a:p>
            <a:r>
              <a:rPr lang="en-US" dirty="0"/>
              <a:t>x-plane</a:t>
            </a:r>
          </a:p>
        </p:txBody>
      </p:sp>
      <p:sp>
        <p:nvSpPr>
          <p:cNvPr id="2" name="TextBox 1"/>
          <p:cNvSpPr txBox="1"/>
          <p:nvPr/>
        </p:nvSpPr>
        <p:spPr>
          <a:xfrm>
            <a:off x="1453323" y="4270844"/>
            <a:ext cx="830677" cy="369332"/>
          </a:xfrm>
          <a:prstGeom prst="rect">
            <a:avLst/>
          </a:prstGeom>
          <a:noFill/>
        </p:spPr>
        <p:txBody>
          <a:bodyPr wrap="none" rtlCol="0">
            <a:spAutoFit/>
          </a:bodyPr>
          <a:lstStyle/>
          <a:p>
            <a:r>
              <a:rPr lang="en-US" dirty="0"/>
              <a:t>X-5 = 0</a:t>
            </a:r>
          </a:p>
        </p:txBody>
      </p:sp>
      <p:sp>
        <p:nvSpPr>
          <p:cNvPr id="25" name="Chevron 24"/>
          <p:cNvSpPr/>
          <p:nvPr/>
        </p:nvSpPr>
        <p:spPr>
          <a:xfrm>
            <a:off x="9526" y="655442"/>
            <a:ext cx="2248253" cy="322912"/>
          </a:xfrm>
          <a:prstGeom prst="chevron">
            <a:avLst/>
          </a:prstGeom>
          <a:solidFill>
            <a:schemeClr val="accent5">
              <a:lumMod val="40000"/>
              <a:lumOff val="60000"/>
            </a:schemeClr>
          </a:solidFill>
          <a:ln w="28575">
            <a:solidFill>
              <a:schemeClr val="accent5">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Input</a:t>
            </a:r>
          </a:p>
        </p:txBody>
      </p:sp>
      <p:sp>
        <p:nvSpPr>
          <p:cNvPr id="29" name="TextBox 28"/>
          <p:cNvSpPr txBox="1"/>
          <p:nvPr/>
        </p:nvSpPr>
        <p:spPr>
          <a:xfrm>
            <a:off x="133704" y="1342837"/>
            <a:ext cx="3091472" cy="400110"/>
          </a:xfrm>
          <a:prstGeom prst="rect">
            <a:avLst/>
          </a:prstGeom>
          <a:solidFill>
            <a:schemeClr val="accent6">
              <a:lumMod val="40000"/>
              <a:lumOff val="60000"/>
            </a:schemeClr>
          </a:solidFill>
        </p:spPr>
        <p:txBody>
          <a:bodyPr wrap="square" rtlCol="0">
            <a:spAutoFit/>
          </a:bodyPr>
          <a:lstStyle/>
          <a:p>
            <a:r>
              <a:rPr lang="en-US" sz="2000" dirty="0">
                <a:effectLst>
                  <a:outerShdw blurRad="38100" dist="38100" dir="2700000" algn="tl">
                    <a:srgbClr val="000000">
                      <a:alpha val="43137"/>
                    </a:srgbClr>
                  </a:outerShdw>
                </a:effectLst>
              </a:rPr>
              <a:t>3. Computational Geometry</a:t>
            </a:r>
          </a:p>
        </p:txBody>
      </p:sp>
    </p:spTree>
    <p:extLst>
      <p:ext uri="{BB962C8B-B14F-4D97-AF65-F5344CB8AC3E}">
        <p14:creationId xmlns:p14="http://schemas.microsoft.com/office/powerpoint/2010/main" val="399755811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655387" y="3376316"/>
            <a:ext cx="3758422" cy="2517126"/>
          </a:xfrm>
        </p:spPr>
        <p:txBody>
          <a:bodyPr>
            <a:normAutofit fontScale="92500"/>
          </a:bodyPr>
          <a:lstStyle/>
          <a:p>
            <a:pPr marL="0" indent="0">
              <a:buNone/>
            </a:pPr>
            <a:r>
              <a:rPr lang="en-US" dirty="0"/>
              <a:t>Available in </a:t>
            </a:r>
            <a:r>
              <a:rPr lang="en-US" b="1" dirty="0">
                <a:solidFill>
                  <a:schemeClr val="accent1">
                    <a:lumMod val="75000"/>
                  </a:schemeClr>
                </a:solidFill>
              </a:rPr>
              <a:t>endf-6</a:t>
            </a:r>
            <a:r>
              <a:rPr lang="en-US" dirty="0"/>
              <a:t> format by </a:t>
            </a:r>
          </a:p>
          <a:p>
            <a:pPr marL="0" indent="0">
              <a:buNone/>
            </a:pPr>
            <a:r>
              <a:rPr lang="en-US" dirty="0"/>
              <a:t>ENDF, JEFF and JENDL etc</a:t>
            </a:r>
          </a:p>
          <a:p>
            <a:endParaRPr lang="en-US" dirty="0"/>
          </a:p>
          <a:p>
            <a:pPr marL="0" indent="0">
              <a:buNone/>
            </a:pPr>
            <a:r>
              <a:rPr lang="en-US" b="1" dirty="0">
                <a:solidFill>
                  <a:schemeClr val="accent1">
                    <a:lumMod val="75000"/>
                  </a:schemeClr>
                </a:solidFill>
              </a:rPr>
              <a:t>NJOY</a:t>
            </a:r>
            <a:r>
              <a:rPr lang="en-US" dirty="0">
                <a:solidFill>
                  <a:srgbClr val="C00000"/>
                </a:solidFill>
              </a:rPr>
              <a:t> </a:t>
            </a:r>
            <a:r>
              <a:rPr lang="en-US" dirty="0"/>
              <a:t>code [ available ]</a:t>
            </a:r>
          </a:p>
          <a:p>
            <a:pPr marL="0" indent="0">
              <a:buNone/>
            </a:pPr>
            <a:endParaRPr lang="en-US" dirty="0"/>
          </a:p>
        </p:txBody>
      </p:sp>
      <p:sp>
        <p:nvSpPr>
          <p:cNvPr id="11" name="Rectangle 10"/>
          <p:cNvSpPr/>
          <p:nvPr/>
        </p:nvSpPr>
        <p:spPr>
          <a:xfrm>
            <a:off x="345082" y="1260455"/>
            <a:ext cx="3561901" cy="372403"/>
          </a:xfrm>
          <a:prstGeom prst="rect">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ln w="0"/>
              <a:solidFill>
                <a:schemeClr val="tx1"/>
              </a:solidFill>
              <a:effectLst>
                <a:outerShdw blurRad="38100" dist="19050" dir="2700000" algn="tl" rotWithShape="0">
                  <a:schemeClr val="dk1">
                    <a:alpha val="40000"/>
                  </a:schemeClr>
                </a:outerShdw>
              </a:effectLst>
            </a:endParaRPr>
          </a:p>
        </p:txBody>
      </p:sp>
      <p:sp>
        <p:nvSpPr>
          <p:cNvPr id="13" name="Chevron 12"/>
          <p:cNvSpPr/>
          <p:nvPr/>
        </p:nvSpPr>
        <p:spPr>
          <a:xfrm>
            <a:off x="2212623" y="645667"/>
            <a:ext cx="4617155" cy="322828"/>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Simulate all particles</a:t>
            </a:r>
          </a:p>
        </p:txBody>
      </p:sp>
      <p:sp>
        <p:nvSpPr>
          <p:cNvPr id="14" name="Chevron 13"/>
          <p:cNvSpPr/>
          <p:nvPr/>
        </p:nvSpPr>
        <p:spPr>
          <a:xfrm>
            <a:off x="6791326" y="647114"/>
            <a:ext cx="2343149" cy="321064"/>
          </a:xfrm>
          <a:prstGeom prst="chevron">
            <a:avLst/>
          </a:prstGeom>
          <a:solidFill>
            <a:schemeClr val="bg1">
              <a:lumMod val="85000"/>
            </a:schemeClr>
          </a:solidFill>
          <a:ln w="12700">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dirty="0">
                <a:solidFill>
                  <a:schemeClr val="tx1"/>
                </a:solidFill>
              </a:rPr>
              <a:t>output</a:t>
            </a:r>
          </a:p>
        </p:txBody>
      </p:sp>
      <p:sp>
        <p:nvSpPr>
          <p:cNvPr id="16" name="Title 1"/>
          <p:cNvSpPr txBox="1">
            <a:spLocks/>
          </p:cNvSpPr>
          <p:nvPr/>
        </p:nvSpPr>
        <p:spPr>
          <a:xfrm>
            <a:off x="0" y="460748"/>
            <a:ext cx="9144000" cy="186953"/>
          </a:xfrm>
          <a:prstGeom prst="rect">
            <a:avLst/>
          </a:prstGeom>
          <a:solidFill>
            <a:schemeClr val="bg1">
              <a:lumMod val="85000"/>
            </a:schemeClr>
          </a:solidFill>
        </p:spPr>
        <p:txBody>
          <a:bodyPr vert="horz" lIns="91440" tIns="45720" rIns="91440" bIns="45720" rtlCol="0" anchor="ctr">
            <a:no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1200" b="1" dirty="0"/>
              <a:t>     Program flow</a:t>
            </a:r>
            <a:endParaRPr lang="en-US" sz="1200" b="1" baseline="-25000" dirty="0"/>
          </a:p>
        </p:txBody>
      </p:sp>
      <p:sp>
        <p:nvSpPr>
          <p:cNvPr id="17" name="Chevron 16"/>
          <p:cNvSpPr/>
          <p:nvPr/>
        </p:nvSpPr>
        <p:spPr>
          <a:xfrm>
            <a:off x="9526" y="658989"/>
            <a:ext cx="2248253" cy="322912"/>
          </a:xfrm>
          <a:prstGeom prst="chevron">
            <a:avLst/>
          </a:prstGeom>
          <a:solidFill>
            <a:schemeClr val="tx1"/>
          </a:solidFill>
          <a:ln w="28575">
            <a:solidFill>
              <a:schemeClr val="tx1">
                <a:lumMod val="95000"/>
                <a:lumOff val="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US" sz="2000" b="1" dirty="0">
                <a:solidFill>
                  <a:schemeClr val="bg1"/>
                </a:solidFill>
              </a:rPr>
              <a:t>Input</a:t>
            </a:r>
          </a:p>
        </p:txBody>
      </p:sp>
      <p:pic>
        <p:nvPicPr>
          <p:cNvPr id="18" name="Picture 17"/>
          <p:cNvPicPr>
            <a:picLocks noChangeAspect="1"/>
          </p:cNvPicPr>
          <p:nvPr/>
        </p:nvPicPr>
        <p:blipFill rotWithShape="1">
          <a:blip r:embed="rId2">
            <a:extLst>
              <a:ext uri="{28A0092B-C50C-407E-A947-70E740481C1C}">
                <a14:useLocalDpi xmlns:a14="http://schemas.microsoft.com/office/drawing/2010/main" val="0"/>
              </a:ext>
            </a:extLst>
          </a:blip>
          <a:srcRect l="16331" t="4647" r="15379" b="5668"/>
          <a:stretch/>
        </p:blipFill>
        <p:spPr>
          <a:xfrm>
            <a:off x="5573294" y="1746078"/>
            <a:ext cx="2018595" cy="1892058"/>
          </a:xfrm>
          <a:prstGeom prst="rect">
            <a:avLst/>
          </a:prstGeom>
        </p:spPr>
      </p:pic>
      <p:sp>
        <p:nvSpPr>
          <p:cNvPr id="19" name="TextBox 18"/>
          <p:cNvSpPr txBox="1"/>
          <p:nvPr/>
        </p:nvSpPr>
        <p:spPr>
          <a:xfrm>
            <a:off x="5820478" y="2251478"/>
            <a:ext cx="1524230" cy="276999"/>
          </a:xfrm>
          <a:prstGeom prst="rect">
            <a:avLst/>
          </a:prstGeom>
          <a:noFill/>
        </p:spPr>
        <p:txBody>
          <a:bodyPr wrap="square" rtlCol="0">
            <a:spAutoFit/>
          </a:bodyPr>
          <a:lstStyle/>
          <a:p>
            <a:r>
              <a:rPr lang="en-US" sz="1200" b="1" dirty="0">
                <a:solidFill>
                  <a:srgbClr val="0070C0"/>
                </a:solidFill>
              </a:rPr>
              <a:t>U-235, U-238  U-234</a:t>
            </a:r>
          </a:p>
        </p:txBody>
      </p:sp>
      <p:cxnSp>
        <p:nvCxnSpPr>
          <p:cNvPr id="21" name="Straight Arrow Connector 20"/>
          <p:cNvCxnSpPr/>
          <p:nvPr/>
        </p:nvCxnSpPr>
        <p:spPr>
          <a:xfrm>
            <a:off x="1133652" y="4157357"/>
            <a:ext cx="1" cy="421723"/>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3" name="Straight Arrow Connector 22"/>
          <p:cNvCxnSpPr/>
          <p:nvPr/>
        </p:nvCxnSpPr>
        <p:spPr>
          <a:xfrm>
            <a:off x="1140513" y="5006839"/>
            <a:ext cx="0" cy="372533"/>
          </a:xfrm>
          <a:prstGeom prst="straightConnector1">
            <a:avLst/>
          </a:prstGeom>
          <a:ln>
            <a:solidFill>
              <a:schemeClr val="tx1">
                <a:lumMod val="95000"/>
                <a:lumOff val="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5923083" y="2937372"/>
            <a:ext cx="1319015" cy="307777"/>
          </a:xfrm>
          <a:prstGeom prst="rect">
            <a:avLst/>
          </a:prstGeom>
          <a:noFill/>
        </p:spPr>
        <p:txBody>
          <a:bodyPr wrap="none" rtlCol="0">
            <a:spAutoFit/>
          </a:bodyPr>
          <a:lstStyle/>
          <a:p>
            <a:r>
              <a:rPr lang="en-US" sz="1400" b="1" u="sng" dirty="0"/>
              <a:t>Godiva Reactor</a:t>
            </a:r>
            <a:endParaRPr lang="en-US" sz="1400" dirty="0"/>
          </a:p>
        </p:txBody>
      </p:sp>
    </p:spTree>
    <p:extLst>
      <p:ext uri="{BB962C8B-B14F-4D97-AF65-F5344CB8AC3E}">
        <p14:creationId xmlns:p14="http://schemas.microsoft.com/office/powerpoint/2010/main" val="1618511226"/>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p:cNvSpPr/>
          <p:nvPr/>
        </p:nvSpPr>
        <p:spPr>
          <a:xfrm>
            <a:off x="285967" y="4369108"/>
            <a:ext cx="8572065" cy="1825141"/>
          </a:xfrm>
          <a:prstGeom prst="rect">
            <a:avLst/>
          </a:prstGeom>
          <a:solidFill>
            <a:schemeClr val="accent6">
              <a:lumMod val="40000"/>
              <a:lumOff val="60000"/>
            </a:schemeClr>
          </a:solidFill>
          <a:ln>
            <a:solidFill>
              <a:schemeClr val="accent2"/>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 name="TextBox 3"/>
          <p:cNvSpPr txBox="1"/>
          <p:nvPr/>
        </p:nvSpPr>
        <p:spPr>
          <a:xfrm>
            <a:off x="2876753" y="4398776"/>
            <a:ext cx="3390487" cy="369332"/>
          </a:xfrm>
          <a:prstGeom prst="rect">
            <a:avLst/>
          </a:prstGeom>
          <a:noFill/>
        </p:spPr>
        <p:txBody>
          <a:bodyPr wrap="square" rtlCol="0">
            <a:spAutoFit/>
          </a:bodyPr>
          <a:lstStyle/>
          <a:p>
            <a:pPr algn="ctr"/>
            <a:r>
              <a:rPr lang="en-US" dirty="0"/>
              <a:t>Over all batches (generations)</a:t>
            </a:r>
          </a:p>
        </p:txBody>
      </p:sp>
      <p:sp>
        <p:nvSpPr>
          <p:cNvPr id="5" name="Rectangle 4"/>
          <p:cNvSpPr/>
          <p:nvPr/>
        </p:nvSpPr>
        <p:spPr>
          <a:xfrm>
            <a:off x="677975" y="4742860"/>
            <a:ext cx="7788047" cy="1342153"/>
          </a:xfrm>
          <a:prstGeom prst="rect">
            <a:avLst/>
          </a:prstGeom>
          <a:solidFill>
            <a:schemeClr val="accent4">
              <a:lumMod val="40000"/>
              <a:lumOff val="60000"/>
            </a:schemeClr>
          </a:solidFill>
          <a:ln>
            <a:solidFill>
              <a:schemeClr val="tx1"/>
            </a:solidFill>
          </a:ln>
          <a:effectLst>
            <a:softEdge rad="6350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7" name="TextBox 6"/>
          <p:cNvSpPr txBox="1"/>
          <p:nvPr/>
        </p:nvSpPr>
        <p:spPr>
          <a:xfrm>
            <a:off x="3557768" y="4783527"/>
            <a:ext cx="1809170" cy="369332"/>
          </a:xfrm>
          <a:prstGeom prst="rect">
            <a:avLst/>
          </a:prstGeom>
          <a:noFill/>
        </p:spPr>
        <p:txBody>
          <a:bodyPr wrap="square" rtlCol="0">
            <a:spAutoFit/>
          </a:bodyPr>
          <a:lstStyle/>
          <a:p>
            <a:pPr algn="ctr"/>
            <a:r>
              <a:rPr lang="en-US" dirty="0"/>
              <a:t>Over all particles</a:t>
            </a:r>
          </a:p>
        </p:txBody>
      </p:sp>
      <p:sp>
        <p:nvSpPr>
          <p:cNvPr id="8" name="Rectangle 7"/>
          <p:cNvSpPr/>
          <p:nvPr/>
        </p:nvSpPr>
        <p:spPr>
          <a:xfrm>
            <a:off x="1104173" y="5112191"/>
            <a:ext cx="6935649" cy="799212"/>
          </a:xfrm>
          <a:prstGeom prst="rect">
            <a:avLst/>
          </a:prstGeom>
          <a:solidFill>
            <a:schemeClr val="bg2">
              <a:lumMod val="90000"/>
            </a:schemeClr>
          </a:solidFill>
          <a:ln>
            <a:solidFill>
              <a:schemeClr val="accent2">
                <a:lumMod val="75000"/>
              </a:schemeClr>
            </a:solid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10" name="TextBox 9"/>
          <p:cNvSpPr txBox="1"/>
          <p:nvPr/>
        </p:nvSpPr>
        <p:spPr>
          <a:xfrm>
            <a:off x="1174355" y="5156194"/>
            <a:ext cx="6795282" cy="677108"/>
          </a:xfrm>
          <a:prstGeom prst="rect">
            <a:avLst/>
          </a:prstGeom>
          <a:noFill/>
        </p:spPr>
        <p:txBody>
          <a:bodyPr wrap="square" rtlCol="0">
            <a:spAutoFit/>
          </a:bodyPr>
          <a:lstStyle/>
          <a:p>
            <a:pPr algn="ctr"/>
            <a:r>
              <a:rPr lang="en-US" dirty="0"/>
              <a:t>Simulate(transport) the behavior of each particle in </a:t>
            </a:r>
            <a:r>
              <a:rPr lang="en-US" b="1" dirty="0">
                <a:solidFill>
                  <a:schemeClr val="accent1">
                    <a:lumMod val="50000"/>
                  </a:schemeClr>
                </a:solidFill>
              </a:rPr>
              <a:t>user defined geometry</a:t>
            </a:r>
            <a:r>
              <a:rPr lang="en-US" b="1" dirty="0">
                <a:solidFill>
                  <a:srgbClr val="C00000"/>
                </a:solidFill>
              </a:rPr>
              <a:t> </a:t>
            </a:r>
            <a:r>
              <a:rPr lang="en-US" dirty="0"/>
              <a:t>and </a:t>
            </a:r>
            <a:r>
              <a:rPr lang="en-US" b="1" dirty="0">
                <a:solidFill>
                  <a:schemeClr val="accent1">
                    <a:lumMod val="50000"/>
                  </a:schemeClr>
                </a:solidFill>
              </a:rPr>
              <a:t>material specification. </a:t>
            </a:r>
            <a:r>
              <a:rPr lang="en-US" sz="2000" b="1" dirty="0"/>
              <a:t>(Monte Carlo)</a:t>
            </a:r>
          </a:p>
        </p:txBody>
      </p:sp>
      <p:pic>
        <p:nvPicPr>
          <p:cNvPr id="6" name="Picture 5"/>
          <p:cNvPicPr>
            <a:picLocks noChangeAspect="1"/>
          </p:cNvPicPr>
          <p:nvPr/>
        </p:nvPicPr>
        <p:blipFill>
          <a:blip r:embed="rId2"/>
          <a:stretch>
            <a:fillRect/>
          </a:stretch>
        </p:blipFill>
        <p:spPr>
          <a:xfrm>
            <a:off x="677975" y="1469306"/>
            <a:ext cx="3245581" cy="2456814"/>
          </a:xfrm>
          <a:prstGeom prst="rect">
            <a:avLst/>
          </a:prstGeom>
        </p:spPr>
      </p:pic>
      <p:sp>
        <p:nvSpPr>
          <p:cNvPr id="11" name="Title 1"/>
          <p:cNvSpPr txBox="1">
            <a:spLocks/>
          </p:cNvSpPr>
          <p:nvPr/>
        </p:nvSpPr>
        <p:spPr>
          <a:xfrm>
            <a:off x="0" y="457202"/>
            <a:ext cx="9144000" cy="634999"/>
          </a:xfrm>
          <a:prstGeom prst="rect">
            <a:avLst/>
          </a:prstGeom>
          <a:solidFill>
            <a:schemeClr val="bg1">
              <a:lumMod val="85000"/>
            </a:schemeClr>
          </a:solidFill>
        </p:spPr>
        <p:txBody>
          <a:bodyPr vert="horz" lIns="91440" tIns="45720" rIns="91440" bIns="45720" rtlCol="0" anchor="ctr">
            <a:normAutofit/>
          </a:bodyPr>
          <a:lstStyle>
            <a:lvl1pPr algn="l" defTabSz="685800" rtl="0" eaLnBrk="1" latinLnBrk="0" hangingPunct="1">
              <a:lnSpc>
                <a:spcPct val="90000"/>
              </a:lnSpc>
              <a:spcBef>
                <a:spcPct val="0"/>
              </a:spcBef>
              <a:buNone/>
              <a:defRPr sz="3300" kern="1200">
                <a:solidFill>
                  <a:schemeClr val="tx1"/>
                </a:solidFill>
                <a:latin typeface="+mj-lt"/>
                <a:ea typeface="+mj-ea"/>
                <a:cs typeface="+mj-cs"/>
              </a:defRPr>
            </a:lvl1pPr>
          </a:lstStyle>
          <a:p>
            <a:r>
              <a:rPr lang="en-US" sz="3200" b="1" dirty="0"/>
              <a:t>       Getting K</a:t>
            </a:r>
            <a:r>
              <a:rPr lang="en-US" sz="3200" b="1" baseline="-25000" dirty="0"/>
              <a:t>eff</a:t>
            </a:r>
            <a:r>
              <a:rPr lang="en-US" sz="3200" b="1" dirty="0"/>
              <a:t> with Monte Carlo method</a:t>
            </a:r>
            <a:endParaRPr lang="en-US" sz="3200" b="1" baseline="-25000" dirty="0">
              <a:solidFill>
                <a:schemeClr val="bg1">
                  <a:lumMod val="65000"/>
                </a:schemeClr>
              </a:solidFill>
            </a:endParaRPr>
          </a:p>
        </p:txBody>
      </p:sp>
      <p:pic>
        <p:nvPicPr>
          <p:cNvPr id="2" name="Picture 1"/>
          <p:cNvPicPr>
            <a:picLocks noChangeAspect="1"/>
          </p:cNvPicPr>
          <p:nvPr/>
        </p:nvPicPr>
        <p:blipFill>
          <a:blip r:embed="rId3"/>
          <a:stretch>
            <a:fillRect/>
          </a:stretch>
        </p:blipFill>
        <p:spPr>
          <a:xfrm>
            <a:off x="5009104" y="1411958"/>
            <a:ext cx="1657534" cy="2390105"/>
          </a:xfrm>
          <a:prstGeom prst="rect">
            <a:avLst/>
          </a:prstGeom>
        </p:spPr>
      </p:pic>
      <p:pic>
        <p:nvPicPr>
          <p:cNvPr id="9" name="Picture 8"/>
          <p:cNvPicPr>
            <a:picLocks noChangeAspect="1"/>
          </p:cNvPicPr>
          <p:nvPr/>
        </p:nvPicPr>
        <p:blipFill>
          <a:blip r:embed="rId4"/>
          <a:stretch>
            <a:fillRect/>
          </a:stretch>
        </p:blipFill>
        <p:spPr>
          <a:xfrm>
            <a:off x="6666639" y="1491471"/>
            <a:ext cx="2051693" cy="2231076"/>
          </a:xfrm>
          <a:prstGeom prst="rect">
            <a:avLst/>
          </a:prstGeom>
        </p:spPr>
      </p:pic>
    </p:spTree>
    <p:extLst>
      <p:ext uri="{BB962C8B-B14F-4D97-AF65-F5344CB8AC3E}">
        <p14:creationId xmlns:p14="http://schemas.microsoft.com/office/powerpoint/2010/main" val="404804554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Facet</Template>
  <TotalTime>6327</TotalTime>
  <Words>6326</Words>
  <Application>Microsoft Office PowerPoint</Application>
  <PresentationFormat>On-screen Show (4:3)</PresentationFormat>
  <Paragraphs>1605</Paragraphs>
  <Slides>66</Slides>
  <Notes>18</Notes>
  <HiddenSlides>0</HiddenSlides>
  <MMClips>0</MMClips>
  <ScaleCrop>false</ScaleCrop>
  <HeadingPairs>
    <vt:vector size="6" baseType="variant">
      <vt:variant>
        <vt:lpstr>Fonts Used</vt:lpstr>
      </vt:variant>
      <vt:variant>
        <vt:i4>12</vt:i4>
      </vt:variant>
      <vt:variant>
        <vt:lpstr>Theme</vt:lpstr>
      </vt:variant>
      <vt:variant>
        <vt:i4>2</vt:i4>
      </vt:variant>
      <vt:variant>
        <vt:lpstr>Slide Titles</vt:lpstr>
      </vt:variant>
      <vt:variant>
        <vt:i4>66</vt:i4>
      </vt:variant>
    </vt:vector>
  </HeadingPairs>
  <TitlesOfParts>
    <vt:vector size="80" baseType="lpstr">
      <vt:lpstr>Aharoni</vt:lpstr>
      <vt:lpstr>Arial</vt:lpstr>
      <vt:lpstr>Arial Black</vt:lpstr>
      <vt:lpstr>Brush Script MT</vt:lpstr>
      <vt:lpstr>Calibri</vt:lpstr>
      <vt:lpstr>Calibri Light</vt:lpstr>
      <vt:lpstr>Cambria Math</vt:lpstr>
      <vt:lpstr>Courier New</vt:lpstr>
      <vt:lpstr>DFKai-SB</vt:lpstr>
      <vt:lpstr>Symbol</vt:lpstr>
      <vt:lpstr>Times New Roman</vt:lpstr>
      <vt:lpstr>Wingdings</vt:lpstr>
      <vt:lpstr>Office Theme</vt:lpstr>
      <vt:lpstr>1_Office Theme</vt:lpstr>
      <vt:lpstr>Monte Carlo simulation: Optimization of computer time and memory</vt:lpstr>
      <vt:lpstr>Presentation Layout</vt:lpstr>
      <vt:lpstr>Monte-Carlo Method</vt:lpstr>
      <vt:lpstr>Monte-Carlo Method</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Searching Algorithm:</vt:lpstr>
      <vt:lpstr>Searching Algorithm:</vt:lpstr>
      <vt:lpstr>Searching Algorithm:</vt:lpstr>
      <vt:lpstr>Searching Algorithm:</vt:lpstr>
      <vt:lpstr>PowerPoint Presentation</vt:lpstr>
      <vt:lpstr>Conclusion </vt:lpstr>
      <vt:lpstr>Acknowledgements</vt:lpstr>
      <vt:lpstr>PowerPoint Presentation</vt:lpstr>
      <vt:lpstr>PowerPoint Presentation</vt:lpstr>
      <vt:lpstr>Development of Monte Carlo code for the estimation of Keff </vt:lpstr>
      <vt:lpstr>        Outline</vt:lpstr>
      <vt:lpstr>       Monte Carlo</vt:lpstr>
      <vt:lpstr>       Monte Carlo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Create cell with intersection of spaces</vt:lpstr>
      <vt:lpstr>Distance to boundary</vt:lpstr>
      <vt:lpstr>PowerPoint Presentation</vt:lpstr>
      <vt:lpstr>Simulate a particle (tracking)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       Monte Carlo</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Monte Carlo simulation: Optimization of computer time and memory</dc:title>
  <dc:creator>subbaiah</dc:creator>
  <cp:lastModifiedBy>Sachin Vasanta Shet [MAHE-MCNS]</cp:lastModifiedBy>
  <cp:revision>280</cp:revision>
  <dcterms:created xsi:type="dcterms:W3CDTF">2017-03-23T06:17:19Z</dcterms:created>
  <dcterms:modified xsi:type="dcterms:W3CDTF">2025-11-25T14:44:52Z</dcterms:modified>
</cp:coreProperties>
</file>